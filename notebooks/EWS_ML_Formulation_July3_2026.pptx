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0"/>
            <a:ext cx="4233673" cy="6858000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383280"/>
            <a:ext cx="7955279" cy="64008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18872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Patient Deterioration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A0C4E8"/>
                </a:solidFill>
              </a:rPr>
              <a:t>Mathematical ML Problem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56616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4E8"/>
                </a:solidFill>
              </a:rPr>
              <a:t>EWS Ward Monitor  |  Foqal CareOS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63440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0C4E8"/>
                </a:solidFill>
              </a:rPr>
              <a:t>Sabari Krishna   |   July 3,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NEWS2-based</a:t>
            </a:r>
          </a:p>
          <a:p>
            <a:pPr algn="ctr"/>
            <a:r>
              <a:rPr sz="2200" b="1" i="0">
                <a:solidFill>
                  <a:srgbClr val="FFFFFF"/>
                </a:solidFill>
              </a:rPr>
              <a:t>Stage Transition</a:t>
            </a:r>
          </a:p>
          <a:p>
            <a:pPr algn="ctr"/>
            <a:r>
              <a:rPr sz="2200" b="1" i="0">
                <a:solidFill>
                  <a:srgbClr val="FFFFFF"/>
                </a:solidFill>
              </a:rPr>
              <a:t>Prediction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ML?  The Gap NEWS2 Cannot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380744"/>
            <a:ext cx="4937760" cy="5157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- Current system: NEWS2 scores from live vitals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Threshold rule: score &gt;=7 = Critical alert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- Problems with rule-based approach: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No trend - rising HR looks same as stable HR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No vital interactions (HR + low BP = worse)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No probability - just red/amber/green labels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NEWS2 AUROC: 0.67 - 0.85 (published literature)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- ML learns what rules cannot: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Trend: HR rising 10 bpm/h is dangerous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  Output: P(deterioration in 6h) = 0.82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- Best-in-class:  eCARTv5  AUROC = 0.895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C1C2E"/>
                </a:solidFill>
              </a:rPr>
              <a:t>- Our target:     AUROC &gt;= 0.80</a:t>
            </a:r>
          </a:p>
        </p:txBody>
      </p:sp>
      <p:pic>
        <p:nvPicPr>
          <p:cNvPr id="6" name="Picture 5" descr="chart_1_patie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64922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Prediction Task  - 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80744"/>
            <a:ext cx="11548872" cy="123444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90472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2B4E"/>
                </a:solidFill>
              </a:rPr>
              <a:t>Given the last 6 hours of a CCU patient's vital signs,</a:t>
            </a:r>
          </a:p>
          <a:p>
            <a:pPr algn="ctr"/>
            <a:r>
              <a:rPr sz="2200" b="1" i="0">
                <a:solidFill>
                  <a:srgbClr val="0D2B4E"/>
                </a:solidFill>
              </a:rPr>
              <a:t>predict whether their clinical stage will worsen in the next 6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980944"/>
            <a:ext cx="3566160" cy="256032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633A"/>
                </a:solidFill>
              </a:rPr>
              <a:t>Binary 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7530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CHOSEN [primary]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41064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Output: P(deterioration) in [0,1]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Industry standard: eCARTv5, Epic DI,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  NHS CIRCEWS all use this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Clinicians want a single risk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2980944"/>
            <a:ext cx="3566160" cy="2560320"/>
          </a:xfrm>
          <a:prstGeom prst="rect">
            <a:avLst/>
          </a:prstGeom>
          <a:solidFill>
            <a:srgbClr val="F0F4F8"/>
          </a:solidFill>
          <a:ln w="6350">
            <a:solidFill>
              <a:srgbClr val="1C1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30906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1C2E"/>
                </a:solidFill>
              </a:rPr>
              <a:t>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57530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0392B"/>
                </a:solidFill>
              </a:rPr>
              <a:t>Not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3941064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Output: continuous NEWS2 value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Stage boundaries matter more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  than the exact score number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Rejected: less clinically useful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980944"/>
            <a:ext cx="3566160" cy="2560320"/>
          </a:xfrm>
          <a:prstGeom prst="rect">
            <a:avLst/>
          </a:prstGeom>
          <a:solidFill>
            <a:srgbClr val="F0F4F8"/>
          </a:solidFill>
          <a:ln w="6350">
            <a:solidFill>
              <a:srgbClr val="1C1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0906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1C2E"/>
                </a:solidFill>
              </a:rPr>
              <a:t>Survival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57530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0392B"/>
                </a:solidFill>
              </a:rPr>
              <a:t>Not 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941064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Output: time-to-event distribution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Dynamic-DeepHit / DeepSurv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Noisy MIMIC event timestamps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C2E"/>
                </a:solidFill>
              </a:rPr>
              <a:t>Clinicians want a score, not a 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815584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5A9E"/>
                </a:solidFill>
              </a:rPr>
              <a:t>H = 6 hours primary  |  Also test H = 24 hours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'Deterioration'?  The Label  -  NYHA Analogy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52728"/>
            <a:ext cx="3429000" cy="210312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441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Stage 0  -  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NEWS2 Score:  0 - 4</a:t>
            </a:r>
          </a:p>
          <a:p>
            <a:pPr algn="l"/>
            <a:r>
              <a:rPr sz="1400" b="0" i="0">
                <a:solidFill>
                  <a:srgbClr val="FFFFFF"/>
                </a:solidFill>
              </a:rPr>
              <a:t>Routine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87168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NYHA Class 1-2:</a:t>
            </a:r>
          </a:p>
          <a:p>
            <a:pPr algn="l"/>
            <a:r>
              <a:rPr sz="1200" b="0" i="1">
                <a:solidFill>
                  <a:srgbClr val="FFFFFF"/>
                </a:solidFill>
              </a:rPr>
              <a:t>no significant 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02996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8633A"/>
                </a:solidFill>
              </a:rP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252728"/>
            <a:ext cx="3429000" cy="21031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3441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Stage 1  -  Moderate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1847088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NEWS2 Score:  5 - 6</a:t>
            </a:r>
          </a:p>
          <a:p>
            <a:pPr algn="l"/>
            <a:r>
              <a:rPr sz="1400" b="0" i="0">
                <a:solidFill>
                  <a:srgbClr val="FFFFFF"/>
                </a:solidFill>
              </a:rPr>
              <a:t>Urgent review needed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2487168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NYHA Class 2-3:</a:t>
            </a:r>
          </a:p>
          <a:p>
            <a:pPr algn="l"/>
            <a:r>
              <a:rPr sz="1200" b="0" i="1">
                <a:solidFill>
                  <a:srgbClr val="FFFFFF"/>
                </a:solidFill>
              </a:rPr>
              <a:t>marked limitation on exertion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4656" y="202996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8633A"/>
                </a:solidFill>
              </a:rP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54696" y="1252728"/>
            <a:ext cx="3429000" cy="2103120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34416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Stage 2  -  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6" y="1847088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NEWS2 Score:  &gt;= 7</a:t>
            </a:r>
          </a:p>
          <a:p>
            <a:pPr algn="l"/>
            <a:r>
              <a:rPr sz="1400" b="0" i="0">
                <a:solidFill>
                  <a:srgbClr val="FFFFFF"/>
                </a:solidFill>
              </a:rPr>
              <a:t>Emergency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1856" y="2487168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NYHA Class 3-4:</a:t>
            </a:r>
          </a:p>
          <a:p>
            <a:pPr algn="l"/>
            <a:r>
              <a:rPr sz="1200" b="0" i="1">
                <a:solidFill>
                  <a:srgbClr val="FFFFFF"/>
                </a:solidFill>
              </a:rPr>
              <a:t>symptoms at 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30168"/>
            <a:ext cx="11548872" cy="114300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11091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4E"/>
                </a:solidFill>
              </a:rPr>
              <a:t>y_p(t) = 1    if    stage( NEWS2_p(t+6h) ) &gt; stage( NEWS2_p(t) 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42816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y_p(t) = 0    otherwise              (H = 6 hours primary  |  also test H = 24h)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910328"/>
            <a:ext cx="115488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45A9E"/>
                </a:solidFill>
              </a:rPr>
              <a:t>Stage-transition advantages: computable from vitals ALONE  (no external event records needed)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45A9E"/>
                </a:solidFill>
              </a:rPr>
              <a:t>Captures early warning BEFORE the crisis  |  directly matches deployed staging UI in EWS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Mathematical Formulation  -  The 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9304"/>
            <a:ext cx="4206240" cy="530352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26464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4E"/>
                </a:solidFill>
              </a:rPr>
              <a:t>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7944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37944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Patient  (identified by hadm_id)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Prediction time  (discrete, hourly)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25496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x_p(t)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825496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Feature vector at time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19272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X_p(t)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19272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Feature matrix over  [t - W, 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13048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W = 6h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13048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Lookback window  (how far back we look)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06824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H = 6h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306824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Prediction horizon  (how far ahead)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0060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y_p(t)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Binary label  -  did deterioration occur?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94376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f_theta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294376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ML model with parameters theta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88152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5A9E"/>
                </a:solidFill>
              </a:rPr>
              <a:t>yhat_p(t)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788152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Predicted probability  in  [0, 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1335024"/>
            <a:ext cx="7068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E"/>
                </a:solidFill>
              </a:rPr>
              <a:t>Prediction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1746504"/>
            <a:ext cx="7068312" cy="96012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1837944"/>
            <a:ext cx="67025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yhat_p(t)  =  f_theta( X_p(t) )   in   [0, 1]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295144"/>
            <a:ext cx="6702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0C4E8"/>
                </a:solidFill>
              </a:rPr>
              <a:t>~  P( deterioration in (t, t+H]  |  X_p(t) 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889504"/>
            <a:ext cx="7068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E"/>
                </a:solidFill>
              </a:rPr>
              <a:t>Label 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300984"/>
            <a:ext cx="7068312" cy="132588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83480" y="3392424"/>
            <a:ext cx="6702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C1C2E"/>
                </a:solidFill>
              </a:rPr>
              <a:t>y_p(t) = 1   if   stage( NEWS2_p(t+H) ) &gt; stage( NEWS2_p(t) 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895344"/>
            <a:ext cx="6702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</a:rPr>
              <a:t>y_p(t) = 0   otherwise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4279392"/>
            <a:ext cx="6702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45A9E"/>
                </a:solidFill>
              </a:rPr>
              <a:t>  stage: Normal (0-4)  &lt;  Moderate (5-6)  &lt;  Critical (&gt;=7)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855464"/>
            <a:ext cx="7068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4E"/>
                </a:solidFill>
              </a:rPr>
              <a:t>Focal Loss Function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266944"/>
            <a:ext cx="7068312" cy="86868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83480" y="5358384"/>
            <a:ext cx="6702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2E"/>
                </a:solidFill>
              </a:rPr>
              <a:t>L_focal  =  -(1/N) * sum_i [ alpha * (1 - yhat_i)^gamma * log(yhat_i) 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5861304"/>
            <a:ext cx="670255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45A9E"/>
                </a:solidFill>
              </a:rPr>
              <a:t>alpha = 0.75  (minority class weight)     gamma = 2.0  (focus on hard examples)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6318504"/>
            <a:ext cx="7068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92B"/>
                </a:solidFill>
              </a:rPr>
              <a:t>Why focal loss: event rate ~10-20%  |  SMOTE worsens calibration (JAMIA 2022, n=24 studies)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Construction  -  Sliding Window over MIMIC-IV</a:t>
            </a:r>
          </a:p>
        </p:txBody>
      </p:sp>
      <p:pic>
        <p:nvPicPr>
          <p:cNvPr id="5" name="Picture 4" descr="chart_2_slidin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43584"/>
            <a:ext cx="6858000" cy="3017520"/>
          </a:xfrm>
          <a:prstGeom prst="rect">
            <a:avLst/>
          </a:prstGeom>
        </p:spPr>
      </p:pic>
      <p:pic>
        <p:nvPicPr>
          <p:cNvPr id="6" name="Picture 5" descr="chart_3_stage_trans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243584"/>
            <a:ext cx="45720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4443984"/>
            <a:ext cx="11548872" cy="141732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53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A9E"/>
                </a:solidFill>
              </a:rPr>
              <a:t>MIMIC-IV CCU stays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194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E"/>
                </a:solidFill>
              </a:rPr>
              <a:t>~8,000 - 15,000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3784" y="4553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A9E"/>
                </a:solidFill>
              </a:rPr>
              <a:t>Training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3784" y="49194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E"/>
                </a:solidFill>
              </a:rPr>
              <a:t>~600K - 1.2M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4553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A9E"/>
                </a:solidFill>
              </a:rPr>
              <a:t>Event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49194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E"/>
                </a:solidFill>
              </a:rPr>
              <a:t>~10 - 20%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5512" y="4553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A9E"/>
                </a:solidFill>
              </a:rPr>
              <a:t>W = 6h  |  H = 6h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49194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E"/>
                </a:solidFill>
              </a:rPr>
              <a:t>Stride = 1h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6376" y="4553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A9E"/>
                </a:solidFill>
              </a:rPr>
              <a:t>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6376" y="49194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4E"/>
                </a:solidFill>
              </a:rPr>
              <a:t>70 / 15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998464"/>
            <a:ext cx="11548872" cy="45720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071616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CRITICAL:  Split by subject_id (patient), NOT by window - prevents data leakage and inflated 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  -  91 Features from a 6-Hour Vital Sign Window</a:t>
            </a:r>
          </a:p>
        </p:txBody>
      </p:sp>
      <p:pic>
        <p:nvPicPr>
          <p:cNvPr id="5" name="Picture 4" descr="chart_4_feature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97864"/>
            <a:ext cx="1154887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Architecture  -  XGBoost Primary, LSTM Secondary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35024"/>
            <a:ext cx="5120640" cy="530352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4E"/>
                </a:solidFill>
              </a:rPr>
              <a:t>Training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20824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066544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29968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MIMIC-IV chartevents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02996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Raw vitals: HR, SpO2, RR, SBP, Temp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679192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264261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Resample to 1-hour bins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4261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Forward-fill; max gap 4h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3291840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3255264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Extract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5526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Rolling stats x 3 windows = 91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58768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90448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3867912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Assign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86791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y_p(t) = stage transition in next 6h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71416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4517136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448056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Patient-level split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48056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70 / 15 / 15 by subject_id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84064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5129784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5093208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XGBoost training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09320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scale_pos_weight = N_neg / N_pos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696712"/>
            <a:ext cx="402336" cy="402336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5742432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70585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</a:rPr>
              <a:t>Evaluate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570585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1C2E"/>
                </a:solidFill>
              </a:rPr>
              <a:t>AUROC, AUPRC, Sensitivity@90Spec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1517904"/>
            <a:ext cx="6291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4E"/>
                </a:solidFill>
              </a:rPr>
              <a:t>Why XGBoost  (Primary)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1929384"/>
            <a:ext cx="6291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eCARTv5 (AUROC 0.895, SOTA) uses gradient boosted trees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MIMIC-IV 2024 benchmark: XGBoost matches LSTM on tabular data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Built-in missing value handling (critical for EHR data)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SHAP feature importance - interpretable to clinicians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895344"/>
            <a:ext cx="6291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4E"/>
                </a:solidFill>
              </a:rPr>
              <a:t>Why LSTM  (Secondary)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4306824"/>
            <a:ext cx="62910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Captures temporal dependencies beyond rolling stats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Input: X_p(t) in R^{6 x 20}  (timesteps x features)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2-layer LSTM (128 units) -&gt; Dense(64, ReLU) -&gt; sigmoid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C2E"/>
                </a:solidFill>
              </a:rPr>
              <a:t>Slower - establish XGBoost baseline first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6135624"/>
            <a:ext cx="6291072" cy="50292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15000" y="6208776"/>
            <a:ext cx="6016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Class imbalance ~10-20%  -&gt;  focal loss  (alpha=0.75, gamma=2.0)  |  NOT SMOTE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Evaluation Framework  -  How We Measure Success</a:t>
            </a:r>
          </a:p>
        </p:txBody>
      </p:sp>
      <p:pic>
        <p:nvPicPr>
          <p:cNvPr id="5" name="Picture 4" descr="chart_5_auroc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43584"/>
            <a:ext cx="557784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151790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4E"/>
                </a:solidFill>
              </a:rPr>
              <a:t>Metrics We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75104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04825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Overall discrimination  (primary, literature-comparable)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633472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706624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AUPRC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70662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Precision-recall area  (better for rare events &lt;10%)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91840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64992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Sensitivity@90%Spec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6499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Catch X% of deteriorations at 10% false alarm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950208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023360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Time-to-Detection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0233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Hours before event that model first fires alarm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08576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Calibration (ECE)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681728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P=0.7 should mean 70% actually deteriorate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66944"/>
            <a:ext cx="2423160" cy="521207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340096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Alert burden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534009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</a:rPr>
              <a:t>Alerts / patient / day  (alarm fatigue metric)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044184"/>
            <a:ext cx="6035040" cy="457200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1264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Target:  Beat NEWS2 baseline (AUROC 0.67-0.85)  |  Aim for AUROC &gt;= 0.80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11548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Next Steps  -  5-Phase Roadmap to Production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26464"/>
            <a:ext cx="1371600" cy="749808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14996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85623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Now (Jul 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09344"/>
            <a:ext cx="9902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Formulation complete. Slack post today. Professor review Thursday.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176272"/>
            <a:ext cx="274320" cy="22860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404872"/>
            <a:ext cx="1371600" cy="749808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47802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83464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Week 2 (Jul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87752"/>
            <a:ext cx="9902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MIMIC-IV cohort extraction. Sliding window dataset. Label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154680"/>
            <a:ext cx="274320" cy="228600"/>
          </a:xfrm>
          <a:prstGeom prst="rect">
            <a:avLst/>
          </a:prstGeom>
          <a:solidFill>
            <a:srgbClr val="145A9E"/>
          </a:solidFill>
          <a:ln>
            <a:solidFill>
              <a:srgbClr val="14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383280"/>
            <a:ext cx="1371600" cy="749808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345643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3813048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Week 3 (Jul 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566160"/>
            <a:ext cx="9902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XGBoost baseline. SHAP feature importance. First AUROC on held-out set.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133088"/>
            <a:ext cx="274320" cy="22860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4361688"/>
            <a:ext cx="1371600" cy="749808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443484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" y="479145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Week 4 (Jul 21)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544568"/>
            <a:ext cx="9902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LSTM secondary model. Ablation study. Live dashboard ml_risk integration.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111496"/>
            <a:ext cx="274320" cy="228600"/>
          </a:xfrm>
          <a:prstGeom prst="rect">
            <a:avLst/>
          </a:prstGeom>
          <a:solidFill>
            <a:srgbClr val="E8633A"/>
          </a:solidFill>
          <a:ln>
            <a:solidFill>
              <a:srgbClr val="E86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5340096"/>
            <a:ext cx="1371600" cy="749808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541324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" y="5769864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Week 5 (Jul 28)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22976"/>
            <a:ext cx="9902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</a:rPr>
              <a:t>Gautam final review. Demo on live EWS. Comparison to eCARTv5 benchmark.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364224"/>
            <a:ext cx="11548872" cy="438912"/>
          </a:xfrm>
          <a:prstGeom prst="rect">
            <a:avLst/>
          </a:prstGeom>
          <a:solidFill>
            <a:srgbClr val="0D2B4E"/>
          </a:solidFill>
          <a:ln>
            <a:solidFill>
              <a:srgbClr val="0D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Integration: ml_risk field exists in main.py:742  -  ML model will replace the placeholder probability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