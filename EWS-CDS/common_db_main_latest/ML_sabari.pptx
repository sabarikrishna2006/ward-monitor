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Lead with the headline: we have a working, validated ML pipeline built on real patient data, it already beats the current rule-based approach, and there is a concrete, staged path to real hospital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content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content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content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content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content is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Reserved for architecture / data-flow diagram or open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0"/>
        </a:solidFill>
        <a:effectLst/>
      </p:bgPr>
    </p:bg>
    <p:spTree>
      <p:nvGrpSpPr>
        <p:cNvPr id="1" name=""/>
        <p:cNvGrpSpPr/>
        <p:nvPr/>
      </p:nvGrpSpPr>
      <p:grpSpPr/>
      <p:sp>
        <p:nvSpPr>
          <p:cNvPr id="2" name="Rectangle 1"/>
          <p:cNvSpPr/>
          <p:nvPr/>
        </p:nvSpPr>
        <p:spPr>
          <a:xfrm>
            <a:off x="0" y="2331720"/>
            <a:ext cx="12191695" cy="31750"/>
          </a:xfrm>
          <a:prstGeom prst="rect">
            <a:avLst/>
          </a:prstGeom>
          <a:solidFill>
            <a:srgbClr val="5AA6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17320"/>
            <a:ext cx="10515600" cy="365760"/>
          </a:xfrm>
          <a:prstGeom prst="rect">
            <a:avLst/>
          </a:prstGeom>
          <a:noFill/>
        </p:spPr>
        <p:txBody>
          <a:bodyPr wrap="square">
            <a:noAutofit/>
          </a:bodyPr>
          <a:lstStyle/>
          <a:p>
            <a:pPr algn="l">
              <a:lnSpc>
                <a:spcPct val="100000"/>
              </a:lnSpc>
            </a:pPr>
            <a:r>
              <a:rPr sz="1300" b="1" i="0">
                <a:solidFill>
                  <a:srgbClr val="5AA6AE"/>
                </a:solidFill>
                <a:latin typeface="Calibri"/>
              </a:rPr>
              <a:t>EARLY WARNING SYSTEM · ML UPDATE</a:t>
            </a:r>
          </a:p>
        </p:txBody>
      </p:sp>
      <p:sp>
        <p:nvSpPr>
          <p:cNvPr id="4" name="TextBox 3"/>
          <p:cNvSpPr txBox="1"/>
          <p:nvPr/>
        </p:nvSpPr>
        <p:spPr>
          <a:xfrm>
            <a:off x="548640" y="1783080"/>
            <a:ext cx="10972800" cy="1554480"/>
          </a:xfrm>
          <a:prstGeom prst="rect">
            <a:avLst/>
          </a:prstGeom>
          <a:noFill/>
        </p:spPr>
        <p:txBody>
          <a:bodyPr wrap="square">
            <a:noAutofit/>
          </a:bodyPr>
          <a:lstStyle/>
          <a:p>
            <a:pPr algn="l">
              <a:lnSpc>
                <a:spcPct val="105000"/>
              </a:lnSpc>
            </a:pPr>
            <a:r>
              <a:rPr sz="3600" b="1" i="0">
                <a:solidFill>
                  <a:srgbClr val="FFFFFF"/>
                </a:solidFill>
                <a:latin typeface="Calibri"/>
              </a:rPr>
              <a:t>Predicting Patient Deterioration</a:t>
            </a:r>
          </a:p>
          <a:p>
            <a:pPr algn="l">
              <a:lnSpc>
                <a:spcPct val="105000"/>
              </a:lnSpc>
            </a:pPr>
            <a:r>
              <a:rPr sz="3600" b="1" i="0">
                <a:solidFill>
                  <a:srgbClr val="FFFFFF"/>
                </a:solidFill>
                <a:latin typeface="Calibri"/>
              </a:rPr>
              <a:t>Before It Happens</a:t>
            </a:r>
          </a:p>
        </p:txBody>
      </p:sp>
      <p:sp>
        <p:nvSpPr>
          <p:cNvPr id="5" name="TextBox 4"/>
          <p:cNvSpPr txBox="1"/>
          <p:nvPr/>
        </p:nvSpPr>
        <p:spPr>
          <a:xfrm>
            <a:off x="548640" y="2880360"/>
            <a:ext cx="10058400" cy="457200"/>
          </a:xfrm>
          <a:prstGeom prst="rect">
            <a:avLst/>
          </a:prstGeom>
          <a:noFill/>
        </p:spPr>
        <p:txBody>
          <a:bodyPr wrap="square">
            <a:noAutofit/>
          </a:bodyPr>
          <a:lstStyle/>
          <a:p>
            <a:pPr algn="l">
              <a:lnSpc>
                <a:spcPct val="100000"/>
              </a:lnSpc>
            </a:pPr>
            <a:r>
              <a:rPr sz="1600" b="0" i="0">
                <a:solidFill>
                  <a:srgbClr val="C7D6D8"/>
                </a:solidFill>
                <a:latin typeface="Calibri"/>
              </a:rPr>
              <a:t>Coronary Care Unit pilot — current model, path to production</a:t>
            </a:r>
          </a:p>
        </p:txBody>
      </p:sp>
      <p:sp>
        <p:nvSpPr>
          <p:cNvPr id="6" name="Rectangle 5"/>
          <p:cNvSpPr/>
          <p:nvPr/>
        </p:nvSpPr>
        <p:spPr>
          <a:xfrm>
            <a:off x="548640" y="4160520"/>
            <a:ext cx="3291840" cy="1737360"/>
          </a:xfrm>
          <a:prstGeom prst="rect">
            <a:avLst/>
          </a:prstGeom>
          <a:solidFill>
            <a:srgbClr val="243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160520"/>
            <a:ext cx="3291840" cy="38100"/>
          </a:xfrm>
          <a:prstGeom prst="rect">
            <a:avLst/>
          </a:prstGeom>
          <a:solidFill>
            <a:srgbClr val="5AA6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343400"/>
            <a:ext cx="2834640" cy="640080"/>
          </a:xfrm>
          <a:prstGeom prst="rect">
            <a:avLst/>
          </a:prstGeom>
          <a:noFill/>
        </p:spPr>
        <p:txBody>
          <a:bodyPr wrap="square">
            <a:noAutofit/>
          </a:bodyPr>
          <a:lstStyle/>
          <a:p>
            <a:pPr algn="l">
              <a:lnSpc>
                <a:spcPct val="100000"/>
              </a:lnSpc>
            </a:pPr>
            <a:r>
              <a:rPr sz="3000" b="1" i="0">
                <a:solidFill>
                  <a:srgbClr val="FFFFFF"/>
                </a:solidFill>
                <a:latin typeface="Calibri"/>
              </a:rPr>
              <a:t>10,775</a:t>
            </a:r>
          </a:p>
        </p:txBody>
      </p:sp>
      <p:sp>
        <p:nvSpPr>
          <p:cNvPr id="9" name="TextBox 8"/>
          <p:cNvSpPr txBox="1"/>
          <p:nvPr/>
        </p:nvSpPr>
        <p:spPr>
          <a:xfrm>
            <a:off x="777240" y="4983480"/>
            <a:ext cx="2834640" cy="822960"/>
          </a:xfrm>
          <a:prstGeom prst="rect">
            <a:avLst/>
          </a:prstGeom>
          <a:noFill/>
        </p:spPr>
        <p:txBody>
          <a:bodyPr wrap="square">
            <a:noAutofit/>
          </a:bodyPr>
          <a:lstStyle/>
          <a:p>
            <a:pPr algn="l">
              <a:lnSpc>
                <a:spcPct val="115000"/>
              </a:lnSpc>
            </a:pPr>
            <a:r>
              <a:rPr sz="1250" b="0" i="0">
                <a:solidFill>
                  <a:srgbClr val="B0C2C4"/>
                </a:solidFill>
                <a:latin typeface="Calibri"/>
              </a:rPr>
              <a:t>real patient stays</a:t>
            </a:r>
          </a:p>
          <a:p>
            <a:pPr algn="l">
              <a:lnSpc>
                <a:spcPct val="115000"/>
              </a:lnSpc>
            </a:pPr>
            <a:r>
              <a:rPr sz="1250" b="0" i="0">
                <a:solidFill>
                  <a:srgbClr val="B0C2C4"/>
                </a:solidFill>
                <a:latin typeface="Calibri"/>
              </a:rPr>
              <a:t>used to build &amp; test the model</a:t>
            </a:r>
          </a:p>
        </p:txBody>
      </p:sp>
      <p:sp>
        <p:nvSpPr>
          <p:cNvPr id="10" name="Rectangle 9"/>
          <p:cNvSpPr/>
          <p:nvPr/>
        </p:nvSpPr>
        <p:spPr>
          <a:xfrm>
            <a:off x="4206240" y="4160520"/>
            <a:ext cx="3291840" cy="1737360"/>
          </a:xfrm>
          <a:prstGeom prst="rect">
            <a:avLst/>
          </a:prstGeom>
          <a:solidFill>
            <a:srgbClr val="243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4160520"/>
            <a:ext cx="3291840" cy="38100"/>
          </a:xfrm>
          <a:prstGeom prst="rect">
            <a:avLst/>
          </a:prstGeom>
          <a:solidFill>
            <a:srgbClr val="5AA6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4343400"/>
            <a:ext cx="2834640" cy="640080"/>
          </a:xfrm>
          <a:prstGeom prst="rect">
            <a:avLst/>
          </a:prstGeom>
          <a:noFill/>
        </p:spPr>
        <p:txBody>
          <a:bodyPr wrap="square">
            <a:noAutofit/>
          </a:bodyPr>
          <a:lstStyle/>
          <a:p>
            <a:pPr algn="l">
              <a:lnSpc>
                <a:spcPct val="100000"/>
              </a:lnSpc>
            </a:pPr>
            <a:r>
              <a:rPr sz="3000" b="1" i="0">
                <a:solidFill>
                  <a:srgbClr val="FFFFFF"/>
                </a:solidFill>
                <a:latin typeface="Calibri"/>
              </a:rPr>
              <a:t>1.5–2×</a:t>
            </a:r>
          </a:p>
        </p:txBody>
      </p:sp>
      <p:sp>
        <p:nvSpPr>
          <p:cNvPr id="13" name="TextBox 12"/>
          <p:cNvSpPr txBox="1"/>
          <p:nvPr/>
        </p:nvSpPr>
        <p:spPr>
          <a:xfrm>
            <a:off x="4434840" y="4983480"/>
            <a:ext cx="2834640" cy="822960"/>
          </a:xfrm>
          <a:prstGeom prst="rect">
            <a:avLst/>
          </a:prstGeom>
          <a:noFill/>
        </p:spPr>
        <p:txBody>
          <a:bodyPr wrap="square">
            <a:noAutofit/>
          </a:bodyPr>
          <a:lstStyle/>
          <a:p>
            <a:pPr algn="l">
              <a:lnSpc>
                <a:spcPct val="115000"/>
              </a:lnSpc>
            </a:pPr>
            <a:r>
              <a:rPr sz="1250" b="0" i="0">
                <a:solidFill>
                  <a:srgbClr val="B0C2C4"/>
                </a:solidFill>
                <a:latin typeface="Calibri"/>
              </a:rPr>
              <a:t>better risk detection</a:t>
            </a:r>
          </a:p>
          <a:p>
            <a:pPr algn="l">
              <a:lnSpc>
                <a:spcPct val="115000"/>
              </a:lnSpc>
            </a:pPr>
            <a:r>
              <a:rPr sz="1250" b="0" i="0">
                <a:solidFill>
                  <a:srgbClr val="B0C2C4"/>
                </a:solidFill>
                <a:latin typeface="Calibri"/>
              </a:rPr>
              <a:t>than random alerting today</a:t>
            </a:r>
          </a:p>
        </p:txBody>
      </p:sp>
      <p:sp>
        <p:nvSpPr>
          <p:cNvPr id="14" name="Rectangle 13"/>
          <p:cNvSpPr/>
          <p:nvPr/>
        </p:nvSpPr>
        <p:spPr>
          <a:xfrm>
            <a:off x="7863840" y="4160520"/>
            <a:ext cx="3291840" cy="1737360"/>
          </a:xfrm>
          <a:prstGeom prst="rect">
            <a:avLst/>
          </a:prstGeom>
          <a:solidFill>
            <a:srgbClr val="2437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4160520"/>
            <a:ext cx="3291840" cy="38100"/>
          </a:xfrm>
          <a:prstGeom prst="rect">
            <a:avLst/>
          </a:prstGeom>
          <a:solidFill>
            <a:srgbClr val="5AA6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4343400"/>
            <a:ext cx="2834640" cy="640080"/>
          </a:xfrm>
          <a:prstGeom prst="rect">
            <a:avLst/>
          </a:prstGeom>
          <a:noFill/>
        </p:spPr>
        <p:txBody>
          <a:bodyPr wrap="square">
            <a:noAutofit/>
          </a:bodyPr>
          <a:lstStyle/>
          <a:p>
            <a:pPr algn="l">
              <a:lnSpc>
                <a:spcPct val="100000"/>
              </a:lnSpc>
            </a:pPr>
            <a:r>
              <a:rPr sz="3000" b="1" i="0">
                <a:solidFill>
                  <a:srgbClr val="FFFFFF"/>
                </a:solidFill>
                <a:latin typeface="Calibri"/>
              </a:rPr>
              <a:t>Staged</a:t>
            </a:r>
          </a:p>
        </p:txBody>
      </p:sp>
      <p:sp>
        <p:nvSpPr>
          <p:cNvPr id="17" name="TextBox 16"/>
          <p:cNvSpPr txBox="1"/>
          <p:nvPr/>
        </p:nvSpPr>
        <p:spPr>
          <a:xfrm>
            <a:off x="8092440" y="4983480"/>
            <a:ext cx="2834640" cy="822960"/>
          </a:xfrm>
          <a:prstGeom prst="rect">
            <a:avLst/>
          </a:prstGeom>
          <a:noFill/>
        </p:spPr>
        <p:txBody>
          <a:bodyPr wrap="square">
            <a:noAutofit/>
          </a:bodyPr>
          <a:lstStyle/>
          <a:p>
            <a:pPr algn="l">
              <a:lnSpc>
                <a:spcPct val="115000"/>
              </a:lnSpc>
            </a:pPr>
            <a:r>
              <a:rPr sz="1250" b="0" i="0">
                <a:solidFill>
                  <a:srgbClr val="B0C2C4"/>
                </a:solidFill>
                <a:latin typeface="Calibri"/>
              </a:rPr>
              <a:t>path defined for</a:t>
            </a:r>
          </a:p>
          <a:p>
            <a:pPr algn="l">
              <a:lnSpc>
                <a:spcPct val="115000"/>
              </a:lnSpc>
            </a:pPr>
            <a:r>
              <a:rPr sz="1250" b="0" i="0">
                <a:solidFill>
                  <a:srgbClr val="B0C2C4"/>
                </a:solidFill>
                <a:latin typeface="Calibri"/>
              </a:rPr>
              <a:t>real hospital deployment</a:t>
            </a:r>
          </a:p>
        </p:txBody>
      </p:sp>
      <p:sp>
        <p:nvSpPr>
          <p:cNvPr id="18" name="TextBox 17"/>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9" name="TextBox 18"/>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92608"/>
          </a:xfrm>
          <a:prstGeom prst="rect">
            <a:avLst/>
          </a:prstGeom>
          <a:noFill/>
        </p:spPr>
        <p:txBody>
          <a:bodyPr wrap="square">
            <a:noAutofit/>
          </a:bodyPr>
          <a:lstStyle/>
          <a:p>
            <a:pPr algn="l">
              <a:lnSpc>
                <a:spcPct val="100000"/>
              </a:lnSpc>
            </a:pPr>
            <a:r>
              <a:rPr sz="1200" b="1" i="0">
                <a:solidFill>
                  <a:srgbClr val="2A6F77"/>
                </a:solidFill>
                <a:latin typeface="Calibri"/>
              </a:rPr>
              <a:t>WHERE WE STAND</a:t>
            </a:r>
          </a:p>
        </p:txBody>
      </p:sp>
      <p:sp>
        <p:nvSpPr>
          <p:cNvPr id="3" name="TextBox 2"/>
          <p:cNvSpPr txBox="1"/>
          <p:nvPr/>
        </p:nvSpPr>
        <p:spPr>
          <a:xfrm>
            <a:off x="548640" y="658368"/>
            <a:ext cx="11094415" cy="685800"/>
          </a:xfrm>
          <a:prstGeom prst="rect">
            <a:avLst/>
          </a:prstGeom>
          <a:noFill/>
        </p:spPr>
        <p:txBody>
          <a:bodyPr wrap="square">
            <a:noAutofit/>
          </a:bodyPr>
          <a:lstStyle/>
          <a:p>
            <a:pPr algn="l">
              <a:lnSpc>
                <a:spcPct val="100000"/>
              </a:lnSpc>
            </a:pPr>
            <a:r>
              <a:rPr sz="2500" b="1" i="0">
                <a:solidFill>
                  <a:srgbClr val="1C2B30"/>
                </a:solidFill>
                <a:latin typeface="Calibri"/>
              </a:rPr>
              <a:t>A Working, End-to-End Prediction System</a:t>
            </a:r>
          </a:p>
        </p:txBody>
      </p:sp>
      <p:sp>
        <p:nvSpPr>
          <p:cNvPr id="4" name="Rectangle 3"/>
          <p:cNvSpPr/>
          <p:nvPr/>
        </p:nvSpPr>
        <p:spPr>
          <a:xfrm>
            <a:off x="548640" y="1298448"/>
            <a:ext cx="11094415" cy="127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1094415" cy="2710708"/>
          </a:xfrm>
          <a:prstGeom prst="rect">
            <a:avLst/>
          </a:prstGeom>
          <a:noFill/>
        </p:spPr>
        <p:txBody>
          <a:bodyPr wrap="square">
            <a:noAutofit/>
          </a:bodyPr>
          <a:lstStyle/>
          <a:p>
            <a:pPr>
              <a:lnSpc>
                <a:spcPct val="108000"/>
              </a:lnSpc>
              <a:spcAft>
                <a:spcPts val="1300"/>
              </a:spcAft>
            </a:pPr>
            <a:r>
              <a:rPr sz="1450" b="1">
                <a:solidFill>
                  <a:srgbClr val="2A6F77"/>
                </a:solidFill>
                <a:latin typeface="Calibri"/>
              </a:rPr>
              <a:t>●  </a:t>
            </a:r>
            <a:r>
              <a:rPr sz="1450">
                <a:solidFill>
                  <a:srgbClr val="1C2B30"/>
                </a:solidFill>
                <a:latin typeface="Calibri"/>
              </a:rPr>
              <a:t>We built a complete AI pipeline, not a proof-of-concept slide — real hospital-scale data (MIMIC-IV, 10,775 CCU patients, 256,000+ hourly patient readings) flows through data extraction, model training, and a full evaluation report, the same rigor a peer-reviewed clinical study would use.</a:t>
            </a:r>
          </a:p>
          <a:p>
            <a:pPr>
              <a:lnSpc>
                <a:spcPct val="108000"/>
              </a:lnSpc>
              <a:spcAft>
                <a:spcPts val="1300"/>
              </a:spcAft>
            </a:pPr>
            <a:r>
              <a:rPr sz="1450" b="1">
                <a:solidFill>
                  <a:srgbClr val="2A6F77"/>
                </a:solidFill>
                <a:latin typeface="Calibri"/>
              </a:rPr>
              <a:t>●  </a:t>
            </a:r>
            <a:r>
              <a:rPr sz="1450">
                <a:solidFill>
                  <a:srgbClr val="1C2B30"/>
                </a:solidFill>
                <a:latin typeface="Calibri"/>
              </a:rPr>
              <a:t>The model predicts WHEN, not just IF — using an AI technique called survival analysis (XGBoost AFT), it estimates the likely time window until a patient deteriorates, giving clinicians a head start rather than a same-moment alert.</a:t>
            </a:r>
          </a:p>
          <a:p>
            <a:pPr>
              <a:lnSpc>
                <a:spcPct val="108000"/>
              </a:lnSpc>
              <a:spcAft>
                <a:spcPts val="1300"/>
              </a:spcAft>
            </a:pPr>
            <a:r>
              <a:rPr sz="1450" b="1">
                <a:solidFill>
                  <a:srgbClr val="2A6F77"/>
                </a:solidFill>
                <a:latin typeface="Calibri"/>
              </a:rPr>
              <a:t>●  </a:t>
            </a:r>
            <a:r>
              <a:rPr sz="1450">
                <a:solidFill>
                  <a:srgbClr val="1C2B30"/>
                </a:solidFill>
                <a:latin typeface="Calibri"/>
              </a:rPr>
              <a:t>It already outperforms today's manual scoring system meaningfully — in blind testing, it ranks at-risk patients far better than simple rule-based tracking (a statistical ranking accuracy of 0.78 vs. 0.54 for the current method, where 0.50 is a coin flip and 1.0 is perfect).</a:t>
            </a:r>
          </a:p>
        </p:txBody>
      </p:sp>
      <p:sp>
        <p:nvSpPr>
          <p:cNvPr id="6" name="Rectangle 5"/>
          <p:cNvSpPr/>
          <p:nvPr/>
        </p:nvSpPr>
        <p:spPr>
          <a:xfrm>
            <a:off x="548640" y="4265188"/>
            <a:ext cx="11094415" cy="8686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265188"/>
            <a:ext cx="50800" cy="868680"/>
          </a:xfrm>
          <a:prstGeom prst="rect">
            <a:avLst/>
          </a:prstGeom>
          <a:solidFill>
            <a:srgbClr val="2A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356628"/>
            <a:ext cx="2286000" cy="274320"/>
          </a:xfrm>
          <a:prstGeom prst="rect">
            <a:avLst/>
          </a:prstGeom>
          <a:noFill/>
        </p:spPr>
        <p:txBody>
          <a:bodyPr wrap="square">
            <a:noAutofit/>
          </a:bodyPr>
          <a:lstStyle/>
          <a:p>
            <a:pPr algn="l">
              <a:lnSpc>
                <a:spcPct val="100000"/>
              </a:lnSpc>
            </a:pPr>
            <a:r>
              <a:rPr sz="1050" b="1" i="0">
                <a:solidFill>
                  <a:srgbClr val="215A61"/>
                </a:solidFill>
                <a:latin typeface="Calibri"/>
              </a:rPr>
              <a:t>BOTTOM LINE</a:t>
            </a:r>
          </a:p>
        </p:txBody>
      </p:sp>
      <p:sp>
        <p:nvSpPr>
          <p:cNvPr id="9" name="TextBox 8"/>
          <p:cNvSpPr txBox="1"/>
          <p:nvPr/>
        </p:nvSpPr>
        <p:spPr>
          <a:xfrm>
            <a:off x="777240" y="4594372"/>
            <a:ext cx="10637215" cy="502920"/>
          </a:xfrm>
          <a:prstGeom prst="rect">
            <a:avLst/>
          </a:prstGeom>
          <a:noFill/>
        </p:spPr>
        <p:txBody>
          <a:bodyPr wrap="square" anchor="t">
            <a:noAutofit/>
          </a:bodyPr>
          <a:lstStyle/>
          <a:p>
            <a:pPr algn="l">
              <a:lnSpc>
                <a:spcPct val="105000"/>
              </a:lnSpc>
            </a:pPr>
            <a:r>
              <a:rPr sz="1350" b="0" i="1">
                <a:solidFill>
                  <a:srgbClr val="1C2B30"/>
                </a:solidFill>
                <a:latin typeface="Calibri"/>
              </a:rPr>
              <a:t>The foundation is real, validated, and working — the next phase is sharpening precision before clinical rollout.</a:t>
            </a:r>
          </a:p>
        </p:txBody>
      </p:sp>
      <p:sp>
        <p:nvSpPr>
          <p:cNvPr id="10" name="TextBox 9"/>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1" name="TextBox 10"/>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92608"/>
          </a:xfrm>
          <a:prstGeom prst="rect">
            <a:avLst/>
          </a:prstGeom>
          <a:noFill/>
        </p:spPr>
        <p:txBody>
          <a:bodyPr wrap="square">
            <a:noAutofit/>
          </a:bodyPr>
          <a:lstStyle/>
          <a:p>
            <a:pPr algn="l">
              <a:lnSpc>
                <a:spcPct val="100000"/>
              </a:lnSpc>
            </a:pPr>
            <a:r>
              <a:rPr sz="1200" b="1" i="0">
                <a:solidFill>
                  <a:srgbClr val="2A6F77"/>
                </a:solidFill>
                <a:latin typeface="Calibri"/>
              </a:rPr>
              <a:t>CURRENT CHALLENGE</a:t>
            </a:r>
          </a:p>
        </p:txBody>
      </p:sp>
      <p:sp>
        <p:nvSpPr>
          <p:cNvPr id="3" name="TextBox 2"/>
          <p:cNvSpPr txBox="1"/>
          <p:nvPr/>
        </p:nvSpPr>
        <p:spPr>
          <a:xfrm>
            <a:off x="548640" y="658368"/>
            <a:ext cx="11094415" cy="685800"/>
          </a:xfrm>
          <a:prstGeom prst="rect">
            <a:avLst/>
          </a:prstGeom>
          <a:noFill/>
        </p:spPr>
        <p:txBody>
          <a:bodyPr wrap="square">
            <a:noAutofit/>
          </a:bodyPr>
          <a:lstStyle/>
          <a:p>
            <a:pPr algn="l">
              <a:lnSpc>
                <a:spcPct val="100000"/>
              </a:lnSpc>
            </a:pPr>
            <a:r>
              <a:rPr sz="2500" b="1" i="0">
                <a:solidFill>
                  <a:srgbClr val="1C2B30"/>
                </a:solidFill>
                <a:latin typeface="Calibri"/>
              </a:rPr>
              <a:t>The Model Finds Real Risk — But Over-Alerts</a:t>
            </a:r>
          </a:p>
        </p:txBody>
      </p:sp>
      <p:sp>
        <p:nvSpPr>
          <p:cNvPr id="4" name="Rectangle 3"/>
          <p:cNvSpPr/>
          <p:nvPr/>
        </p:nvSpPr>
        <p:spPr>
          <a:xfrm>
            <a:off x="548640" y="1298448"/>
            <a:ext cx="11094415" cy="127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1094415" cy="2468072"/>
          </a:xfrm>
          <a:prstGeom prst="rect">
            <a:avLst/>
          </a:prstGeom>
          <a:noFill/>
        </p:spPr>
        <p:txBody>
          <a:bodyPr wrap="square">
            <a:noAutofit/>
          </a:bodyPr>
          <a:lstStyle/>
          <a:p>
            <a:pPr>
              <a:lnSpc>
                <a:spcPct val="108000"/>
              </a:lnSpc>
              <a:spcAft>
                <a:spcPts val="1300"/>
              </a:spcAft>
            </a:pPr>
            <a:r>
              <a:rPr sz="1450" b="1">
                <a:solidFill>
                  <a:srgbClr val="2A6F77"/>
                </a:solidFill>
                <a:latin typeface="Calibri"/>
              </a:rPr>
              <a:t>●  </a:t>
            </a:r>
            <a:r>
              <a:rPr sz="1450">
                <a:solidFill>
                  <a:srgbClr val="1C2B30"/>
                </a:solidFill>
                <a:latin typeface="Calibri"/>
              </a:rPr>
              <a:t>We benchmarked ourselves against 6 published hospital AI systems (including tools used at real US hospital networks and a Nature Medicine-published model) — not just our own internal numbers — and our current alert precision falls short of that bar.</a:t>
            </a:r>
          </a:p>
          <a:p>
            <a:pPr>
              <a:lnSpc>
                <a:spcPct val="108000"/>
              </a:lnSpc>
              <a:spcAft>
                <a:spcPts val="1300"/>
              </a:spcAft>
            </a:pPr>
            <a:r>
              <a:rPr sz="1450" b="1">
                <a:solidFill>
                  <a:srgbClr val="2A6F77"/>
                </a:solidFill>
                <a:latin typeface="Calibri"/>
              </a:rPr>
              <a:t>●  </a:t>
            </a:r>
            <a:r>
              <a:rPr sz="1450">
                <a:solidFill>
                  <a:srgbClr val="1C2B30"/>
                </a:solidFill>
                <a:latin typeface="Calibri"/>
              </a:rPr>
              <a:t>The model does add real value today — patients it flags are 1.5–2× more likely to actually deteriorate than a random patient — but that's below where it needs to be for a clinician to trust every alert.</a:t>
            </a:r>
          </a:p>
          <a:p>
            <a:pPr>
              <a:lnSpc>
                <a:spcPct val="108000"/>
              </a:lnSpc>
              <a:spcAft>
                <a:spcPts val="1300"/>
              </a:spcAft>
            </a:pPr>
            <a:r>
              <a:rPr sz="1450" b="1">
                <a:solidFill>
                  <a:srgbClr val="2A6F77"/>
                </a:solidFill>
                <a:latin typeface="Calibri"/>
              </a:rPr>
              <a:t>●  </a:t>
            </a:r>
            <a:r>
              <a:rPr sz="1450">
                <a:solidFill>
                  <a:srgbClr val="1C2B30"/>
                </a:solidFill>
                <a:latin typeface="Calibri"/>
              </a:rPr>
              <a:t>We know precisely why, and it's fixable — this isn't a mystery; it's a known, well-documented pattern in early-warning systems, and we have a concrete, staged plan (next slides) to close the gap.</a:t>
            </a:r>
          </a:p>
        </p:txBody>
      </p:sp>
      <p:sp>
        <p:nvSpPr>
          <p:cNvPr id="6" name="Rectangle 5"/>
          <p:cNvSpPr/>
          <p:nvPr/>
        </p:nvSpPr>
        <p:spPr>
          <a:xfrm>
            <a:off x="548640" y="4022552"/>
            <a:ext cx="11094415" cy="8686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022552"/>
            <a:ext cx="50800" cy="868680"/>
          </a:xfrm>
          <a:prstGeom prst="rect">
            <a:avLst/>
          </a:prstGeom>
          <a:solidFill>
            <a:srgbClr val="2A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113992"/>
            <a:ext cx="2286000" cy="274320"/>
          </a:xfrm>
          <a:prstGeom prst="rect">
            <a:avLst/>
          </a:prstGeom>
          <a:noFill/>
        </p:spPr>
        <p:txBody>
          <a:bodyPr wrap="square">
            <a:noAutofit/>
          </a:bodyPr>
          <a:lstStyle/>
          <a:p>
            <a:pPr algn="l">
              <a:lnSpc>
                <a:spcPct val="100000"/>
              </a:lnSpc>
            </a:pPr>
            <a:r>
              <a:rPr sz="1050" b="1" i="0">
                <a:solidFill>
                  <a:srgbClr val="215A61"/>
                </a:solidFill>
                <a:latin typeface="Calibri"/>
              </a:rPr>
              <a:t>BOTTOM LINE</a:t>
            </a:r>
          </a:p>
        </p:txBody>
      </p:sp>
      <p:sp>
        <p:nvSpPr>
          <p:cNvPr id="9" name="TextBox 8"/>
          <p:cNvSpPr txBox="1"/>
          <p:nvPr/>
        </p:nvSpPr>
        <p:spPr>
          <a:xfrm>
            <a:off x="777240" y="4351736"/>
            <a:ext cx="10637215" cy="502920"/>
          </a:xfrm>
          <a:prstGeom prst="rect">
            <a:avLst/>
          </a:prstGeom>
          <a:noFill/>
        </p:spPr>
        <p:txBody>
          <a:bodyPr wrap="square" anchor="t">
            <a:noAutofit/>
          </a:bodyPr>
          <a:lstStyle/>
          <a:p>
            <a:pPr algn="l">
              <a:lnSpc>
                <a:spcPct val="105000"/>
              </a:lnSpc>
            </a:pPr>
            <a:r>
              <a:rPr sz="1350" b="0" i="1">
                <a:solidFill>
                  <a:srgbClr val="1C2B30"/>
                </a:solidFill>
                <a:latin typeface="Calibri"/>
              </a:rPr>
              <a:t>This is a precision problem, not a fundamental flaw — and we've already benchmarked exactly how far we need to move.</a:t>
            </a:r>
          </a:p>
        </p:txBody>
      </p:sp>
      <p:sp>
        <p:nvSpPr>
          <p:cNvPr id="10" name="TextBox 9"/>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1" name="TextBox 10"/>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92608"/>
          </a:xfrm>
          <a:prstGeom prst="rect">
            <a:avLst/>
          </a:prstGeom>
          <a:noFill/>
        </p:spPr>
        <p:txBody>
          <a:bodyPr wrap="square">
            <a:noAutofit/>
          </a:bodyPr>
          <a:lstStyle/>
          <a:p>
            <a:pPr algn="l">
              <a:lnSpc>
                <a:spcPct val="100000"/>
              </a:lnSpc>
            </a:pPr>
            <a:r>
              <a:rPr sz="1200" b="1" i="0">
                <a:solidFill>
                  <a:srgbClr val="2A6F77"/>
                </a:solidFill>
                <a:latin typeface="Calibri"/>
              </a:rPr>
              <a:t>NEXT STEPS</a:t>
            </a:r>
          </a:p>
        </p:txBody>
      </p:sp>
      <p:sp>
        <p:nvSpPr>
          <p:cNvPr id="3" name="TextBox 2"/>
          <p:cNvSpPr txBox="1"/>
          <p:nvPr/>
        </p:nvSpPr>
        <p:spPr>
          <a:xfrm>
            <a:off x="548640" y="658368"/>
            <a:ext cx="11094415" cy="685800"/>
          </a:xfrm>
          <a:prstGeom prst="rect">
            <a:avLst/>
          </a:prstGeom>
          <a:noFill/>
        </p:spPr>
        <p:txBody>
          <a:bodyPr wrap="square">
            <a:noAutofit/>
          </a:bodyPr>
          <a:lstStyle/>
          <a:p>
            <a:pPr algn="l">
              <a:lnSpc>
                <a:spcPct val="100000"/>
              </a:lnSpc>
            </a:pPr>
            <a:r>
              <a:rPr sz="2500" b="1" i="0">
                <a:solidFill>
                  <a:srgbClr val="1C2B30"/>
                </a:solidFill>
                <a:latin typeface="Calibri"/>
              </a:rPr>
              <a:t>Sharpening the Algorithm</a:t>
            </a:r>
          </a:p>
        </p:txBody>
      </p:sp>
      <p:sp>
        <p:nvSpPr>
          <p:cNvPr id="4" name="Rectangle 3"/>
          <p:cNvSpPr/>
          <p:nvPr/>
        </p:nvSpPr>
        <p:spPr>
          <a:xfrm>
            <a:off x="548640" y="1298448"/>
            <a:ext cx="11094415" cy="127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1094415" cy="2710708"/>
          </a:xfrm>
          <a:prstGeom prst="rect">
            <a:avLst/>
          </a:prstGeom>
          <a:noFill/>
        </p:spPr>
        <p:txBody>
          <a:bodyPr wrap="square">
            <a:noAutofit/>
          </a:bodyPr>
          <a:lstStyle/>
          <a:p>
            <a:pPr>
              <a:lnSpc>
                <a:spcPct val="108000"/>
              </a:lnSpc>
              <a:spcAft>
                <a:spcPts val="1300"/>
              </a:spcAft>
            </a:pPr>
            <a:r>
              <a:rPr sz="1450" b="1">
                <a:solidFill>
                  <a:srgbClr val="2A6F77"/>
                </a:solidFill>
                <a:latin typeface="Calibri"/>
              </a:rPr>
              <a:t>●  </a:t>
            </a:r>
            <a:r>
              <a:rPr sz="1450">
                <a:solidFill>
                  <a:srgbClr val="1C2B30"/>
                </a:solidFill>
                <a:latin typeface="Calibri"/>
              </a:rPr>
              <a:t>Evaluated ordinal regression — confirmed the core idea is right: predicting risk in time-bands (“within 2 hours,” “within 12 hours,” etc.) rather than one blunt number. Testing showed its standard form assumes every patient's outcome is already known — but many patients are still actively being monitored when we need to make a call, so their true outcome isn't settled yet.</a:t>
            </a:r>
          </a:p>
          <a:p>
            <a:pPr>
              <a:lnSpc>
                <a:spcPct val="108000"/>
              </a:lnSpc>
              <a:spcAft>
                <a:spcPts val="1300"/>
              </a:spcAft>
            </a:pPr>
            <a:r>
              <a:rPr sz="1450" b="1">
                <a:solidFill>
                  <a:srgbClr val="2A6F77"/>
                </a:solidFill>
                <a:latin typeface="Calibri"/>
              </a:rPr>
              <a:t>●  </a:t>
            </a:r>
            <a:r>
              <a:rPr sz="1450">
                <a:solidFill>
                  <a:srgbClr val="1C2B30"/>
                </a:solidFill>
                <a:latin typeface="Calibri"/>
              </a:rPr>
              <a:t>Adopting discrete-time interval classification — the technically precise version of that same time-banded idea, purpose-built to handle patients still under active observation correctly, instead of guessing or discarding them.</a:t>
            </a:r>
          </a:p>
          <a:p>
            <a:pPr>
              <a:lnSpc>
                <a:spcPct val="108000"/>
              </a:lnSpc>
              <a:spcAft>
                <a:spcPts val="1300"/>
              </a:spcAft>
            </a:pPr>
            <a:r>
              <a:rPr sz="1450" b="1">
                <a:solidFill>
                  <a:srgbClr val="2A6F77"/>
                </a:solidFill>
                <a:latin typeface="Calibri"/>
              </a:rPr>
              <a:t>●  </a:t>
            </a:r>
            <a:r>
              <a:rPr sz="1450">
                <a:solidFill>
                  <a:srgbClr val="1C2B30"/>
                </a:solidFill>
                <a:latin typeface="Calibri"/>
              </a:rPr>
              <a:t>Benchmarking against Cox regression — the decades-long industry-standard method in medical statistics — added as a comparison, so leadership and reviewers can see we tested against the field's gold standard, not just our own approach.</a:t>
            </a:r>
          </a:p>
        </p:txBody>
      </p:sp>
      <p:sp>
        <p:nvSpPr>
          <p:cNvPr id="6" name="Rectangle 5"/>
          <p:cNvSpPr/>
          <p:nvPr/>
        </p:nvSpPr>
        <p:spPr>
          <a:xfrm>
            <a:off x="548640" y="4265188"/>
            <a:ext cx="11094415" cy="8686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265188"/>
            <a:ext cx="50800" cy="868680"/>
          </a:xfrm>
          <a:prstGeom prst="rect">
            <a:avLst/>
          </a:prstGeom>
          <a:solidFill>
            <a:srgbClr val="2A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356628"/>
            <a:ext cx="2286000" cy="274320"/>
          </a:xfrm>
          <a:prstGeom prst="rect">
            <a:avLst/>
          </a:prstGeom>
          <a:noFill/>
        </p:spPr>
        <p:txBody>
          <a:bodyPr wrap="square">
            <a:noAutofit/>
          </a:bodyPr>
          <a:lstStyle/>
          <a:p>
            <a:pPr algn="l">
              <a:lnSpc>
                <a:spcPct val="100000"/>
              </a:lnSpc>
            </a:pPr>
            <a:r>
              <a:rPr sz="1050" b="1" i="0">
                <a:solidFill>
                  <a:srgbClr val="215A61"/>
                </a:solidFill>
                <a:latin typeface="Calibri"/>
              </a:rPr>
              <a:t>BOTTOM LINE</a:t>
            </a:r>
          </a:p>
        </p:txBody>
      </p:sp>
      <p:sp>
        <p:nvSpPr>
          <p:cNvPr id="9" name="TextBox 8"/>
          <p:cNvSpPr txBox="1"/>
          <p:nvPr/>
        </p:nvSpPr>
        <p:spPr>
          <a:xfrm>
            <a:off x="777240" y="4594372"/>
            <a:ext cx="10637215" cy="502920"/>
          </a:xfrm>
          <a:prstGeom prst="rect">
            <a:avLst/>
          </a:prstGeom>
          <a:noFill/>
        </p:spPr>
        <p:txBody>
          <a:bodyPr wrap="square" anchor="t">
            <a:noAutofit/>
          </a:bodyPr>
          <a:lstStyle/>
          <a:p>
            <a:pPr algn="l">
              <a:lnSpc>
                <a:spcPct val="105000"/>
              </a:lnSpc>
            </a:pPr>
            <a:r>
              <a:rPr sz="1350" b="0" i="1">
                <a:solidFill>
                  <a:srgbClr val="1C2B30"/>
                </a:solidFill>
                <a:latin typeface="Calibri"/>
              </a:rPr>
              <a:t>We didn't just implement a suggestion — we stress-tested it against real data and are building the version that actually holds up.</a:t>
            </a:r>
          </a:p>
        </p:txBody>
      </p:sp>
      <p:sp>
        <p:nvSpPr>
          <p:cNvPr id="10" name="TextBox 9"/>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1" name="TextBox 10"/>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92608"/>
          </a:xfrm>
          <a:prstGeom prst="rect">
            <a:avLst/>
          </a:prstGeom>
          <a:noFill/>
        </p:spPr>
        <p:txBody>
          <a:bodyPr wrap="square">
            <a:noAutofit/>
          </a:bodyPr>
          <a:lstStyle/>
          <a:p>
            <a:pPr algn="l">
              <a:lnSpc>
                <a:spcPct val="100000"/>
              </a:lnSpc>
            </a:pPr>
            <a:r>
              <a:rPr sz="1200" b="1" i="0">
                <a:solidFill>
                  <a:srgbClr val="2A6F77"/>
                </a:solidFill>
                <a:latin typeface="Calibri"/>
              </a:rPr>
              <a:t>REAL-DATA INTEGRATION</a:t>
            </a:r>
          </a:p>
        </p:txBody>
      </p:sp>
      <p:sp>
        <p:nvSpPr>
          <p:cNvPr id="3" name="TextBox 2"/>
          <p:cNvSpPr txBox="1"/>
          <p:nvPr/>
        </p:nvSpPr>
        <p:spPr>
          <a:xfrm>
            <a:off x="548640" y="658368"/>
            <a:ext cx="11094415" cy="685800"/>
          </a:xfrm>
          <a:prstGeom prst="rect">
            <a:avLst/>
          </a:prstGeom>
          <a:noFill/>
        </p:spPr>
        <p:txBody>
          <a:bodyPr wrap="square">
            <a:noAutofit/>
          </a:bodyPr>
          <a:lstStyle/>
          <a:p>
            <a:pPr algn="l">
              <a:lnSpc>
                <a:spcPct val="100000"/>
              </a:lnSpc>
            </a:pPr>
            <a:r>
              <a:rPr sz="2500" b="1" i="0">
                <a:solidFill>
                  <a:srgbClr val="1C2B30"/>
                </a:solidFill>
                <a:latin typeface="Calibri"/>
              </a:rPr>
              <a:t>From Research Data to a Hospital's Own Data</a:t>
            </a:r>
          </a:p>
        </p:txBody>
      </p:sp>
      <p:sp>
        <p:nvSpPr>
          <p:cNvPr id="4" name="Rectangle 3"/>
          <p:cNvSpPr/>
          <p:nvPr/>
        </p:nvSpPr>
        <p:spPr>
          <a:xfrm>
            <a:off x="548640" y="1298448"/>
            <a:ext cx="11094415" cy="127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1094415" cy="3788084"/>
          </a:xfrm>
          <a:prstGeom prst="rect">
            <a:avLst/>
          </a:prstGeom>
          <a:noFill/>
        </p:spPr>
        <p:txBody>
          <a:bodyPr wrap="square">
            <a:noAutofit/>
          </a:bodyPr>
          <a:lstStyle/>
          <a:p>
            <a:pPr>
              <a:lnSpc>
                <a:spcPct val="108000"/>
              </a:lnSpc>
              <a:spcAft>
                <a:spcPts val="900"/>
              </a:spcAft>
            </a:pPr>
            <a:r>
              <a:rPr sz="1300" b="1">
                <a:solidFill>
                  <a:srgbClr val="2A6F77"/>
                </a:solidFill>
                <a:latin typeface="Calibri"/>
              </a:rPr>
              <a:t>●  </a:t>
            </a:r>
            <a:r>
              <a:rPr sz="1300">
                <a:solidFill>
                  <a:srgbClr val="1C2B30"/>
                </a:solidFill>
                <a:latin typeface="Calibri"/>
              </a:rPr>
              <a:t>Foundation already proven — built and validated on MIMIC-IV, a research-grade dataset used industry-wide to develop this class of clinical AI before it ever touches a real patient — the standard, responsible starting point.</a:t>
            </a:r>
          </a:p>
          <a:p>
            <a:pPr>
              <a:lnSpc>
                <a:spcPct val="108000"/>
              </a:lnSpc>
              <a:spcAft>
                <a:spcPts val="900"/>
              </a:spcAft>
            </a:pPr>
            <a:r>
              <a:rPr sz="1300" b="1">
                <a:solidFill>
                  <a:srgbClr val="2A6F77"/>
                </a:solidFill>
                <a:latin typeface="Calibri"/>
              </a:rPr>
              <a:t>●  </a:t>
            </a:r>
            <a:r>
              <a:rPr sz="1300">
                <a:solidFill>
                  <a:srgbClr val="1C2B30"/>
                </a:solidFill>
                <a:latin typeface="Calibri"/>
              </a:rPr>
              <a:t>Data connectivity — once a hospital's system is connected as the single source of truth, the model's inputs are mapped to that hospital's own vital-sign and monitoring data formats — a defined technical integration step.</a:t>
            </a:r>
          </a:p>
          <a:p>
            <a:pPr>
              <a:lnSpc>
                <a:spcPct val="108000"/>
              </a:lnSpc>
              <a:spcAft>
                <a:spcPts val="900"/>
              </a:spcAft>
            </a:pPr>
            <a:r>
              <a:rPr sz="1300" b="1">
                <a:solidFill>
                  <a:srgbClr val="2A6F77"/>
                </a:solidFill>
                <a:latin typeface="Calibri"/>
              </a:rPr>
              <a:t>●  </a:t>
            </a:r>
            <a:r>
              <a:rPr sz="1300">
                <a:solidFill>
                  <a:srgbClr val="1C2B30"/>
                </a:solidFill>
                <a:latin typeface="Calibri"/>
              </a:rPr>
              <a:t>Local recalibration — the model is recalibrated (not rebuilt from scratch) on the receiving hospital's own patient population before any live use, since patient mix and charting patterns vary by institution — standard practice when deploying clinical AI across hospitals.</a:t>
            </a:r>
          </a:p>
          <a:p>
            <a:pPr>
              <a:lnSpc>
                <a:spcPct val="108000"/>
              </a:lnSpc>
              <a:spcAft>
                <a:spcPts val="900"/>
              </a:spcAft>
            </a:pPr>
            <a:r>
              <a:rPr sz="1300" b="1">
                <a:solidFill>
                  <a:srgbClr val="2A6F77"/>
                </a:solidFill>
                <a:latin typeface="Calibri"/>
              </a:rPr>
              <a:t>●  </a:t>
            </a:r>
            <a:r>
              <a:rPr sz="1300">
                <a:solidFill>
                  <a:srgbClr val="1C2B30"/>
                </a:solidFill>
                <a:latin typeface="Calibri"/>
              </a:rPr>
              <a:t>Shadow-mode validation — the model runs silently alongside existing clinical workflows, comparing predictions to real outcomes without influencing any clinical decision — the safe, industry-standard way to prove real-world performance before go-live.</a:t>
            </a:r>
          </a:p>
          <a:p>
            <a:pPr>
              <a:lnSpc>
                <a:spcPct val="108000"/>
              </a:lnSpc>
              <a:spcAft>
                <a:spcPts val="900"/>
              </a:spcAft>
            </a:pPr>
            <a:r>
              <a:rPr sz="1300" b="1">
                <a:solidFill>
                  <a:srgbClr val="2A6F77"/>
                </a:solidFill>
                <a:latin typeface="Calibri"/>
              </a:rPr>
              <a:t>●  </a:t>
            </a:r>
            <a:r>
              <a:rPr sz="1300">
                <a:solidFill>
                  <a:srgbClr val="1C2B30"/>
                </a:solidFill>
                <a:latin typeface="Calibri"/>
              </a:rPr>
              <a:t>Independent validation — performance confirmed on a second, separate patient population before any production claim — the same bar regulatory bodies and leading hospital networks hold clinical AI tools to.</a:t>
            </a:r>
          </a:p>
          <a:p>
            <a:pPr>
              <a:lnSpc>
                <a:spcPct val="108000"/>
              </a:lnSpc>
              <a:spcAft>
                <a:spcPts val="900"/>
              </a:spcAft>
            </a:pPr>
            <a:r>
              <a:rPr sz="1300" b="1">
                <a:solidFill>
                  <a:srgbClr val="2A6F77"/>
                </a:solidFill>
                <a:latin typeface="Calibri"/>
              </a:rPr>
              <a:t>●  </a:t>
            </a:r>
            <a:r>
              <a:rPr sz="1300">
                <a:solidFill>
                  <a:srgbClr val="1C2B30"/>
                </a:solidFill>
                <a:latin typeface="Calibri"/>
              </a:rPr>
              <a:t>Staged clinical rollout — only after the above, the system moves to advisory use, then wider clinical integration — gradual, monitored, and reversible at every stage.</a:t>
            </a:r>
          </a:p>
        </p:txBody>
      </p:sp>
      <p:sp>
        <p:nvSpPr>
          <p:cNvPr id="6" name="Rectangle 5"/>
          <p:cNvSpPr/>
          <p:nvPr/>
        </p:nvSpPr>
        <p:spPr>
          <a:xfrm>
            <a:off x="548640" y="5342564"/>
            <a:ext cx="11094415" cy="8686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342564"/>
            <a:ext cx="50800" cy="868680"/>
          </a:xfrm>
          <a:prstGeom prst="rect">
            <a:avLst/>
          </a:prstGeom>
          <a:solidFill>
            <a:srgbClr val="2A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434004"/>
            <a:ext cx="2286000" cy="274320"/>
          </a:xfrm>
          <a:prstGeom prst="rect">
            <a:avLst/>
          </a:prstGeom>
          <a:noFill/>
        </p:spPr>
        <p:txBody>
          <a:bodyPr wrap="square">
            <a:noAutofit/>
          </a:bodyPr>
          <a:lstStyle/>
          <a:p>
            <a:pPr algn="l">
              <a:lnSpc>
                <a:spcPct val="100000"/>
              </a:lnSpc>
            </a:pPr>
            <a:r>
              <a:rPr sz="1050" b="1" i="0">
                <a:solidFill>
                  <a:srgbClr val="215A61"/>
                </a:solidFill>
                <a:latin typeface="Calibri"/>
              </a:rPr>
              <a:t>BOTTOM LINE</a:t>
            </a:r>
          </a:p>
        </p:txBody>
      </p:sp>
      <p:sp>
        <p:nvSpPr>
          <p:cNvPr id="9" name="TextBox 8"/>
          <p:cNvSpPr txBox="1"/>
          <p:nvPr/>
        </p:nvSpPr>
        <p:spPr>
          <a:xfrm>
            <a:off x="777240" y="5671748"/>
            <a:ext cx="10637215" cy="502920"/>
          </a:xfrm>
          <a:prstGeom prst="rect">
            <a:avLst/>
          </a:prstGeom>
          <a:noFill/>
        </p:spPr>
        <p:txBody>
          <a:bodyPr wrap="square" anchor="t">
            <a:noAutofit/>
          </a:bodyPr>
          <a:lstStyle/>
          <a:p>
            <a:pPr algn="l">
              <a:lnSpc>
                <a:spcPct val="105000"/>
              </a:lnSpc>
            </a:pPr>
            <a:r>
              <a:rPr sz="1350" b="0" i="1">
                <a:solidFill>
                  <a:srgbClr val="1C2B30"/>
                </a:solidFill>
                <a:latin typeface="Calibri"/>
              </a:rPr>
              <a:t>Not a “plug in and go” — a responsible, staged path any hospital AI deployment would follow, ready to execute once real data access is in place.</a:t>
            </a:r>
          </a:p>
        </p:txBody>
      </p:sp>
      <p:sp>
        <p:nvSpPr>
          <p:cNvPr id="10" name="TextBox 9"/>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1" name="TextBox 10"/>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94415" cy="292608"/>
          </a:xfrm>
          <a:prstGeom prst="rect">
            <a:avLst/>
          </a:prstGeom>
          <a:noFill/>
        </p:spPr>
        <p:txBody>
          <a:bodyPr wrap="square">
            <a:noAutofit/>
          </a:bodyPr>
          <a:lstStyle/>
          <a:p>
            <a:pPr algn="l">
              <a:lnSpc>
                <a:spcPct val="100000"/>
              </a:lnSpc>
            </a:pPr>
            <a:r>
              <a:rPr sz="1200" b="1" i="0">
                <a:solidFill>
                  <a:srgbClr val="2A6F77"/>
                </a:solidFill>
                <a:latin typeface="Calibri"/>
              </a:rPr>
              <a:t>OPTIMIZATION</a:t>
            </a:r>
          </a:p>
        </p:txBody>
      </p:sp>
      <p:sp>
        <p:nvSpPr>
          <p:cNvPr id="3" name="TextBox 2"/>
          <p:cNvSpPr txBox="1"/>
          <p:nvPr/>
        </p:nvSpPr>
        <p:spPr>
          <a:xfrm>
            <a:off x="548640" y="658368"/>
            <a:ext cx="11094415" cy="685800"/>
          </a:xfrm>
          <a:prstGeom prst="rect">
            <a:avLst/>
          </a:prstGeom>
          <a:noFill/>
        </p:spPr>
        <p:txBody>
          <a:bodyPr wrap="square">
            <a:noAutofit/>
          </a:bodyPr>
          <a:lstStyle/>
          <a:p>
            <a:pPr algn="l">
              <a:lnSpc>
                <a:spcPct val="100000"/>
              </a:lnSpc>
            </a:pPr>
            <a:r>
              <a:rPr sz="2500" b="1" i="0">
                <a:solidFill>
                  <a:srgbClr val="1C2B30"/>
                </a:solidFill>
                <a:latin typeface="Calibri"/>
              </a:rPr>
              <a:t>Fast, Scalable, and Safe by Design</a:t>
            </a:r>
          </a:p>
        </p:txBody>
      </p:sp>
      <p:sp>
        <p:nvSpPr>
          <p:cNvPr id="4" name="Rectangle 3"/>
          <p:cNvSpPr/>
          <p:nvPr/>
        </p:nvSpPr>
        <p:spPr>
          <a:xfrm>
            <a:off x="548640" y="1298448"/>
            <a:ext cx="11094415" cy="127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1094415" cy="2874010"/>
          </a:xfrm>
          <a:prstGeom prst="rect">
            <a:avLst/>
          </a:prstGeom>
          <a:noFill/>
        </p:spPr>
        <p:txBody>
          <a:bodyPr wrap="square">
            <a:noAutofit/>
          </a:bodyPr>
          <a:lstStyle/>
          <a:p>
            <a:pPr>
              <a:lnSpc>
                <a:spcPct val="108000"/>
              </a:lnSpc>
              <a:spcAft>
                <a:spcPts val="800"/>
              </a:spcAft>
            </a:pPr>
            <a:r>
              <a:rPr sz="1250" b="1">
                <a:solidFill>
                  <a:srgbClr val="2A6F77"/>
                </a:solidFill>
                <a:latin typeface="Calibri"/>
              </a:rPr>
              <a:t>●  </a:t>
            </a:r>
            <a:r>
              <a:rPr sz="1250">
                <a:solidFill>
                  <a:srgbClr val="1C2B30"/>
                </a:solidFill>
                <a:latin typeface="Calibri"/>
              </a:rPr>
              <a:t>Cutting false alarms at the source — group repeat alerts for the same patient instead of re-counting every hour as a new alarm; this alone is expected to be the single biggest, cheapest reduction in alert volume, before any deeper model change.</a:t>
            </a:r>
          </a:p>
          <a:p>
            <a:pPr>
              <a:lnSpc>
                <a:spcPct val="108000"/>
              </a:lnSpc>
              <a:spcAft>
                <a:spcPts val="800"/>
              </a:spcAft>
            </a:pPr>
            <a:r>
              <a:rPr sz="1250" b="1">
                <a:solidFill>
                  <a:srgbClr val="2A6F77"/>
                </a:solidFill>
                <a:latin typeface="Calibri"/>
              </a:rPr>
              <a:t>●  </a:t>
            </a:r>
            <a:r>
              <a:rPr sz="1250">
                <a:solidFill>
                  <a:srgbClr val="1C2B30"/>
                </a:solidFill>
                <a:latin typeface="Calibri"/>
              </a:rPr>
              <a:t>Instant alerts, not delayed ones — moving the dashboard from polling to Server-Sent Events (SSE), where the server pushes a new risk score to the clinician's screen the instant it's ready.</a:t>
            </a:r>
          </a:p>
          <a:p>
            <a:pPr>
              <a:lnSpc>
                <a:spcPct val="108000"/>
              </a:lnSpc>
              <a:spcAft>
                <a:spcPts val="800"/>
              </a:spcAft>
            </a:pPr>
            <a:r>
              <a:rPr sz="1250" b="1">
                <a:solidFill>
                  <a:srgbClr val="2A6F77"/>
                </a:solidFill>
                <a:latin typeface="Calibri"/>
              </a:rPr>
              <a:t>●  </a:t>
            </a:r>
            <a:r>
              <a:rPr sz="1250">
                <a:solidFill>
                  <a:srgbClr val="1C2B30"/>
                </a:solidFill>
                <a:latin typeface="Calibri"/>
              </a:rPr>
              <a:t>Reliable, low-latency backend delivery — using webhooks so the alerting system is notified the moment a new risk score is computed, rather than repeatedly polling the database — this also reduces database load as more patients and hospitals come online.</a:t>
            </a:r>
          </a:p>
          <a:p>
            <a:pPr>
              <a:lnSpc>
                <a:spcPct val="108000"/>
              </a:lnSpc>
              <a:spcAft>
                <a:spcPts val="800"/>
              </a:spcAft>
            </a:pPr>
            <a:r>
              <a:rPr sz="1250" b="1">
                <a:solidFill>
                  <a:srgbClr val="2A6F77"/>
                </a:solidFill>
                <a:latin typeface="Calibri"/>
              </a:rPr>
              <a:t>●  </a:t>
            </a:r>
            <a:r>
              <a:rPr sz="1250">
                <a:solidFill>
                  <a:srgbClr val="1C2B30"/>
                </a:solidFill>
                <a:latin typeface="Calibri"/>
              </a:rPr>
              <a:t>Built to scale with patient volume — a stateless, queue-based scoring service so processing power scales independently as more patients are added, and safe, versioned model updates so we can improve the model in production without downtime or risk to the live system.</a:t>
            </a:r>
          </a:p>
          <a:p>
            <a:pPr>
              <a:lnSpc>
                <a:spcPct val="108000"/>
              </a:lnSpc>
              <a:spcAft>
                <a:spcPts val="800"/>
              </a:spcAft>
            </a:pPr>
            <a:r>
              <a:rPr sz="1250" b="1">
                <a:solidFill>
                  <a:srgbClr val="2A6F77"/>
                </a:solidFill>
                <a:latin typeface="Calibri"/>
              </a:rPr>
              <a:t>●  </a:t>
            </a:r>
            <a:r>
              <a:rPr sz="1250">
                <a:solidFill>
                  <a:srgbClr val="1C2B30"/>
                </a:solidFill>
                <a:latin typeface="Calibri"/>
              </a:rPr>
              <a:t>Medical safety comes first — the system is explicitly tuned to minimize missed deteriorations, even if that means tolerating a few more false alerts — the clinically correct trade-off, monitored continuously after launch, not just at demo time.</a:t>
            </a:r>
          </a:p>
        </p:txBody>
      </p:sp>
      <p:sp>
        <p:nvSpPr>
          <p:cNvPr id="6" name="Rectangle 5"/>
          <p:cNvSpPr/>
          <p:nvPr/>
        </p:nvSpPr>
        <p:spPr>
          <a:xfrm>
            <a:off x="548640" y="4428490"/>
            <a:ext cx="11094415" cy="868680"/>
          </a:xfrm>
          <a:prstGeom prst="rect">
            <a:avLst/>
          </a:prstGeom>
          <a:solidFill>
            <a:srgbClr val="EA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4428490"/>
            <a:ext cx="50800" cy="868680"/>
          </a:xfrm>
          <a:prstGeom prst="rect">
            <a:avLst/>
          </a:prstGeom>
          <a:solidFill>
            <a:srgbClr val="2A6F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519930"/>
            <a:ext cx="2286000" cy="274320"/>
          </a:xfrm>
          <a:prstGeom prst="rect">
            <a:avLst/>
          </a:prstGeom>
          <a:noFill/>
        </p:spPr>
        <p:txBody>
          <a:bodyPr wrap="square">
            <a:noAutofit/>
          </a:bodyPr>
          <a:lstStyle/>
          <a:p>
            <a:pPr algn="l">
              <a:lnSpc>
                <a:spcPct val="100000"/>
              </a:lnSpc>
            </a:pPr>
            <a:r>
              <a:rPr sz="1050" b="1" i="0">
                <a:solidFill>
                  <a:srgbClr val="215A61"/>
                </a:solidFill>
                <a:latin typeface="Calibri"/>
              </a:rPr>
              <a:t>BOTTOM LINE</a:t>
            </a:r>
          </a:p>
        </p:txBody>
      </p:sp>
      <p:sp>
        <p:nvSpPr>
          <p:cNvPr id="9" name="TextBox 8"/>
          <p:cNvSpPr txBox="1"/>
          <p:nvPr/>
        </p:nvSpPr>
        <p:spPr>
          <a:xfrm>
            <a:off x="777240" y="4757674"/>
            <a:ext cx="10637215" cy="502920"/>
          </a:xfrm>
          <a:prstGeom prst="rect">
            <a:avLst/>
          </a:prstGeom>
          <a:noFill/>
        </p:spPr>
        <p:txBody>
          <a:bodyPr wrap="square" anchor="t">
            <a:noAutofit/>
          </a:bodyPr>
          <a:lstStyle/>
          <a:p>
            <a:pPr algn="l">
              <a:lnSpc>
                <a:spcPct val="105000"/>
              </a:lnSpc>
            </a:pPr>
            <a:r>
              <a:rPr sz="1350" b="0" i="1">
                <a:solidFill>
                  <a:srgbClr val="1C2B30"/>
                </a:solidFill>
                <a:latin typeface="Calibri"/>
              </a:rPr>
              <a:t>Not just a smarter model — a system engineered to be fast, scalable, and safe by design.</a:t>
            </a:r>
          </a:p>
        </p:txBody>
      </p:sp>
      <p:sp>
        <p:nvSpPr>
          <p:cNvPr id="10" name="TextBox 9"/>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11" name="TextBox 10"/>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9"/>
        </a:solidFill>
        <a:effectLst/>
      </p:bgPr>
    </p:bg>
    <p:spTree>
      <p:nvGrpSpPr>
        <p:cNvPr id="1" name=""/>
        <p:cNvGrpSpPr/>
        <p:nvPr/>
      </p:nvGrpSpPr>
      <p:grpSpPr/>
      <p:sp>
        <p:nvSpPr>
          <p:cNvPr id="2" name="Rectangle 1"/>
          <p:cNvSpPr/>
          <p:nvPr/>
        </p:nvSpPr>
        <p:spPr>
          <a:xfrm>
            <a:off x="0" y="3246120"/>
            <a:ext cx="12191695" cy="25400"/>
          </a:xfrm>
          <a:prstGeom prst="rect">
            <a:avLst/>
          </a:prstGeom>
          <a:solidFill>
            <a:srgbClr val="DD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88920"/>
            <a:ext cx="11094415" cy="548640"/>
          </a:xfrm>
          <a:prstGeom prst="rect">
            <a:avLst/>
          </a:prstGeom>
          <a:noFill/>
        </p:spPr>
        <p:txBody>
          <a:bodyPr wrap="square">
            <a:noAutofit/>
          </a:bodyPr>
          <a:lstStyle/>
          <a:p>
            <a:pPr algn="ctr">
              <a:lnSpc>
                <a:spcPct val="100000"/>
              </a:lnSpc>
            </a:pPr>
            <a:r>
              <a:rPr sz="2000" b="1" i="0">
                <a:solidFill>
                  <a:srgbClr val="8A99A0"/>
                </a:solidFill>
                <a:latin typeface="Calibri"/>
              </a:rPr>
              <a:t>Architecture &amp; Integration Overview</a:t>
            </a:r>
          </a:p>
        </p:txBody>
      </p:sp>
      <p:sp>
        <p:nvSpPr>
          <p:cNvPr id="4" name="TextBox 3"/>
          <p:cNvSpPr txBox="1"/>
          <p:nvPr/>
        </p:nvSpPr>
        <p:spPr>
          <a:xfrm>
            <a:off x="548640" y="6473952"/>
            <a:ext cx="4572000" cy="274320"/>
          </a:xfrm>
          <a:prstGeom prst="rect">
            <a:avLst/>
          </a:prstGeom>
          <a:noFill/>
        </p:spPr>
        <p:txBody>
          <a:bodyPr wrap="square">
            <a:noAutofit/>
          </a:bodyPr>
          <a:lstStyle/>
          <a:p>
            <a:pPr algn="l">
              <a:lnSpc>
                <a:spcPct val="100000"/>
              </a:lnSpc>
            </a:pPr>
            <a:r>
              <a:rPr sz="900" b="0" i="0">
                <a:solidFill>
                  <a:srgbClr val="8A99A0"/>
                </a:solidFill>
                <a:latin typeface="Calibri"/>
              </a:rPr>
              <a:t>Early Warning System · ML Update</a:t>
            </a:r>
          </a:p>
        </p:txBody>
      </p:sp>
      <p:sp>
        <p:nvSpPr>
          <p:cNvPr id="5" name="TextBox 4"/>
          <p:cNvSpPr txBox="1"/>
          <p:nvPr/>
        </p:nvSpPr>
        <p:spPr>
          <a:xfrm>
            <a:off x="11368735" y="6473952"/>
            <a:ext cx="457200" cy="274320"/>
          </a:xfrm>
          <a:prstGeom prst="rect">
            <a:avLst/>
          </a:prstGeom>
          <a:noFill/>
        </p:spPr>
        <p:txBody>
          <a:bodyPr wrap="square">
            <a:noAutofit/>
          </a:bodyPr>
          <a:lstStyle/>
          <a:p>
            <a:pPr algn="r">
              <a:lnSpc>
                <a:spcPct val="100000"/>
              </a:lnSpc>
            </a:pPr>
            <a:r>
              <a:rPr sz="900" b="0" i="0">
                <a:solidFill>
                  <a:srgbClr val="8A99A0"/>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