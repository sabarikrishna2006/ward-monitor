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threshold method appears on this slide deliberately, so the operating point is never mistaken for a result. 80% sensitivity is a CHOSEN point; the evidence is what precision, lift and recall do at that 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1188720"/>
            <a:ext cx="10332720" cy="448056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1783080"/>
            <a:ext cx="9235440" cy="3566160"/>
          </a:xfrm>
          <a:prstGeom prst="rect">
            <a:avLst/>
          </a:prstGeom>
          <a:noFill/>
        </p:spPr>
        <p:txBody>
          <a:bodyPr wrap="square">
            <a:spAutoFit/>
          </a:bodyPr>
          <a:lstStyle/>
          <a:p>
            <a:pPr>
              <a:defRPr sz="1200" b="1">
                <a:solidFill>
                  <a:srgbClr val="38BDF8"/>
                </a:solidFill>
                <a:latin typeface="Calibri"/>
              </a:defRPr>
            </a:pPr>
            <a:r>
              <a:t>IN-UNIT CLINICAL DETERIORATION EARLY WARNING SYSTEM</a:t>
            </a:r>
          </a:p>
          <a:p>
            <a:pPr>
              <a:defRPr sz="3000" b="1">
                <a:solidFill>
                  <a:srgbClr val="FFFFFF"/>
                </a:solidFill>
                <a:latin typeface="Calibri"/>
              </a:defRPr>
            </a:pPr>
            <a:r>
              <a:t>Reducing False Alarms in a Coronary Care Unit</a:t>
            </a:r>
          </a:p>
          <a:p>
            <a:pPr>
              <a:defRPr sz="1700" b="0">
                <a:solidFill>
                  <a:srgbClr val="94A3B8"/>
                </a:solidFill>
                <a:latin typeface="Calibri"/>
              </a:defRPr>
            </a:pPr>
            <a:r>
              <a:t>Measurement discipline, alerting behaviour, and target design</a:t>
            </a:r>
          </a:p>
          <a:p>
            <a:br/>
            <a:pPr>
              <a:defRPr sz="1200" b="0">
                <a:solidFill>
                  <a:srgbClr val="FBBF24"/>
                </a:solidFill>
                <a:latin typeface="Calibri"/>
              </a:defRPr>
            </a:pPr>
            <a:r>
              <a:t>MIMIC-IV Coronary Care Unit  •  7,860 admissions  •  298,679 hourly predictions  •  patient-level data split</a:t>
            </a:r>
          </a:p>
          <a:p>
            <a:pPr>
              <a:defRPr sz="1200" b="0">
                <a:solidFill>
                  <a:srgbClr val="94A3B8"/>
                </a:solidFill>
                <a:latin typeface="Calibri"/>
              </a:defRPr>
            </a:pPr>
            <a:r>
              <a:t>Discrete-time hazard survival model  •  seven prediction horizons  •  isotonic-calibrated probabilities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Executive Summary</a:t>
            </a:r>
          </a:p>
        </p:txBody>
      </p:sp>
      <p:sp>
        <p:nvSpPr>
          <p:cNvPr id="3" name="Rounded Rectangle 2"/>
          <p:cNvSpPr/>
          <p:nvPr/>
        </p:nvSpPr>
        <p:spPr>
          <a:xfrm>
            <a:off x="548640" y="1188720"/>
            <a:ext cx="11109960" cy="141732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25880"/>
            <a:ext cx="10607040" cy="1234440"/>
          </a:xfrm>
          <a:prstGeom prst="rect">
            <a:avLst/>
          </a:prstGeom>
          <a:noFill/>
        </p:spPr>
        <p:txBody>
          <a:bodyPr wrap="square">
            <a:spAutoFit/>
          </a:bodyPr>
          <a:lstStyle/>
          <a:p>
            <a:pPr>
              <a:defRPr sz="1100" b="1">
                <a:solidFill>
                  <a:srgbClr val="38BDF8"/>
                </a:solidFill>
                <a:latin typeface="Calibri"/>
              </a:defRPr>
            </a:pPr>
            <a:r>
              <a:t>WHAT THE MODEL PREDICTS</a:t>
            </a:r>
          </a:p>
          <a:p>
            <a:pPr>
              <a:defRPr sz="1400" b="0">
                <a:solidFill>
                  <a:srgbClr val="F8FAFC"/>
                </a:solidFill>
                <a:latin typeface="Calibri"/>
              </a:defRPr>
            </a:pPr>
            <a:r>
              <a:t>For every patient, every hour: the calibrated probability of crossing NEWS2 ≥ 7 sustained for at least two consecutive hours, within the next 2 / 4 / 6 / 9 / 12 / 18 / 24 hours.</a:t>
            </a:r>
          </a:p>
          <a:p>
            <a:pPr>
              <a:defRPr sz="1100" b="0">
                <a:solidFill>
                  <a:srgbClr val="94A3B8"/>
                </a:solidFill>
                <a:latin typeface="Calibri"/>
              </a:defRPr>
            </a:pPr>
            <a:r>
              <a:t>How the alert threshold is set:  on a held-out calibration split, take the score below which only 20% of true events fall — capturing 80% of them — then freeze that value and apply it unchanged to the test split. The resulting out-of-sample sensitivity is 81.1%.</a:t>
            </a:r>
          </a:p>
        </p:txBody>
      </p:sp>
      <p:sp>
        <p:nvSpPr>
          <p:cNvPr id="5" name="Rounded Rectangle 4"/>
          <p:cNvSpPr/>
          <p:nvPr/>
        </p:nvSpPr>
        <p:spPr>
          <a:xfrm>
            <a:off x="548640" y="2788920"/>
            <a:ext cx="2651760" cy="352044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07792"/>
            <a:ext cx="2286000" cy="3291840"/>
          </a:xfrm>
          <a:prstGeom prst="rect">
            <a:avLst/>
          </a:prstGeom>
          <a:noFill/>
        </p:spPr>
        <p:txBody>
          <a:bodyPr wrap="square">
            <a:spAutoFit/>
          </a:bodyPr>
          <a:lstStyle/>
          <a:p>
            <a:pPr>
              <a:defRPr sz="1000" b="1">
                <a:solidFill>
                  <a:srgbClr val="34D399"/>
                </a:solidFill>
                <a:latin typeface="Calibri"/>
              </a:defRPr>
            </a:pPr>
            <a:r>
              <a:t>DETECTION</a:t>
            </a:r>
          </a:p>
          <a:p>
            <a:pPr>
              <a:defRPr sz="3000" b="1">
                <a:solidFill>
                  <a:srgbClr val="34D399"/>
                </a:solidFill>
                <a:latin typeface="Calibri"/>
              </a:defRPr>
            </a:pPr>
            <a:r>
              <a:t>96.7%</a:t>
            </a:r>
          </a:p>
          <a:p>
            <a:pPr>
              <a:defRPr sz="1250" b="1">
                <a:solidFill>
                  <a:srgbClr val="F8FAFC"/>
                </a:solidFill>
                <a:latin typeface="Calibri"/>
              </a:defRPr>
            </a:pPr>
            <a:r>
              <a:t>Patient recall</a:t>
            </a:r>
          </a:p>
          <a:p>
            <a:br/>
            <a:pPr>
              <a:defRPr sz="1000" b="0">
                <a:solidFill>
                  <a:srgbClr val="94A3B8"/>
                </a:solidFill>
                <a:latin typeface="Calibri"/>
              </a:defRPr>
            </a:pPr>
            <a:r>
              <a:t>967 of every 1,000 deteriorating patients are flagged at least once before their event.</a:t>
            </a:r>
          </a:p>
          <a:p>
            <a:br/>
            <a:pPr>
              <a:defRPr sz="1100" b="1">
                <a:solidFill>
                  <a:srgbClr val="F8FAFC"/>
                </a:solidFill>
                <a:latin typeface="Calibri"/>
              </a:defRPr>
            </a:pPr>
            <a:r>
              <a:t>AUROC        0.812</a:t>
            </a:r>
          </a:p>
          <a:p>
            <a:pPr>
              <a:defRPr sz="1100" b="1">
                <a:solidFill>
                  <a:srgbClr val="F8FAFC"/>
                </a:solidFill>
                <a:latin typeface="Calibri"/>
              </a:defRPr>
            </a:pPr>
            <a:r>
              <a:t>AUPRC        0.398</a:t>
            </a:r>
          </a:p>
          <a:p>
            <a:pPr>
              <a:defRPr sz="950" b="0">
                <a:solidFill>
                  <a:srgbClr val="94A3B8"/>
                </a:solidFill>
                <a:latin typeface="Calibri"/>
              </a:defRPr>
            </a:pPr>
            <a:r>
              <a:t>    no-skill floor 0.120  →  3.31×</a:t>
            </a:r>
          </a:p>
          <a:p>
            <a:pPr>
              <a:defRPr sz="1100" b="1">
                <a:solidFill>
                  <a:srgbClr val="F8FAFC"/>
                </a:solidFill>
                <a:latin typeface="Calibri"/>
              </a:defRPr>
            </a:pPr>
            <a:r>
              <a:t>C-index      0.786</a:t>
            </a:r>
          </a:p>
          <a:p>
            <a:pPr>
              <a:defRPr sz="950" b="0">
                <a:solidFill>
                  <a:srgbClr val="94A3B8"/>
                </a:solidFill>
                <a:latin typeface="Calibri"/>
              </a:defRPr>
            </a:pPr>
            <a:r>
              <a:t>    95% CI  [0.767 – 0.806]</a:t>
            </a:r>
          </a:p>
          <a:p>
            <a:pPr>
              <a:defRPr sz="1100" b="0">
                <a:solidFill>
                  <a:srgbClr val="94A3B8"/>
                </a:solidFill>
                <a:latin typeface="Calibri"/>
              </a:defRPr>
            </a:pPr>
            <a:r>
              <a:t>Brier score  0.088</a:t>
            </a:r>
          </a:p>
        </p:txBody>
      </p:sp>
      <p:sp>
        <p:nvSpPr>
          <p:cNvPr id="7" name="Rounded Rectangle 6"/>
          <p:cNvSpPr/>
          <p:nvPr/>
        </p:nvSpPr>
        <p:spPr>
          <a:xfrm>
            <a:off x="3346704" y="2788920"/>
            <a:ext cx="2651760" cy="352044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9584" y="2907792"/>
            <a:ext cx="2286000" cy="3291840"/>
          </a:xfrm>
          <a:prstGeom prst="rect">
            <a:avLst/>
          </a:prstGeom>
          <a:noFill/>
        </p:spPr>
        <p:txBody>
          <a:bodyPr wrap="square">
            <a:spAutoFit/>
          </a:bodyPr>
          <a:lstStyle/>
          <a:p>
            <a:pPr>
              <a:defRPr sz="1000" b="1">
                <a:solidFill>
                  <a:srgbClr val="FBBF24"/>
                </a:solidFill>
                <a:latin typeface="Calibri"/>
              </a:defRPr>
            </a:pPr>
            <a:r>
              <a:t>PRECISION</a:t>
            </a:r>
          </a:p>
          <a:p>
            <a:pPr>
              <a:defRPr sz="3000" b="1">
                <a:solidFill>
                  <a:srgbClr val="FBBF24"/>
                </a:solidFill>
                <a:latin typeface="Calibri"/>
              </a:defRPr>
            </a:pPr>
            <a:r>
              <a:t>0.331</a:t>
            </a:r>
          </a:p>
          <a:p>
            <a:pPr>
              <a:defRPr sz="1250" b="1">
                <a:solidFill>
                  <a:srgbClr val="F8FAFC"/>
                </a:solidFill>
                <a:latin typeface="Calibri"/>
              </a:defRPr>
            </a:pPr>
            <a:r>
              <a:t>Episode PPV at 12 hours</a:t>
            </a:r>
          </a:p>
          <a:p>
            <a:br/>
            <a:pPr>
              <a:defRPr sz="1000" b="0">
                <a:solidFill>
                  <a:srgbClr val="94A3B8"/>
                </a:solidFill>
                <a:latin typeface="Calibri"/>
              </a:defRPr>
            </a:pPr>
            <a:r>
              <a:t>Of every 100 alarms raised, 33 are followed by a real deterioration inside the horizon. Computed per ALARM, not per hour.</a:t>
            </a:r>
          </a:p>
          <a:p>
            <a:br/>
            <a:pPr>
              <a:defRPr sz="1000" b="0">
                <a:solidFill>
                  <a:srgbClr val="94A3B8"/>
                </a:solidFill>
                <a:latin typeface="Calibri"/>
              </a:defRPr>
            </a:pPr>
            <a:r>
              <a:t>After alarm consolidation and</a:t>
            </a:r>
          </a:p>
          <a:p>
            <a:pPr>
              <a:defRPr sz="1000" b="0">
                <a:solidFill>
                  <a:srgbClr val="94A3B8"/>
                </a:solidFill>
                <a:latin typeface="Calibri"/>
              </a:defRPr>
            </a:pPr>
            <a:r>
              <a:t>the hysteresis latch:</a:t>
            </a:r>
          </a:p>
          <a:p>
            <a:pPr>
              <a:defRPr sz="1500" b="1">
                <a:solidFill>
                  <a:srgbClr val="34D399"/>
                </a:solidFill>
                <a:latin typeface="Calibri"/>
              </a:defRPr>
            </a:pPr>
            <a:r>
              <a:t>0.410  at 12 hours</a:t>
            </a:r>
          </a:p>
          <a:p>
            <a:pPr>
              <a:defRPr sz="1500" b="1">
                <a:solidFill>
                  <a:srgbClr val="34D399"/>
                </a:solidFill>
                <a:latin typeface="Calibri"/>
              </a:defRPr>
            </a:pPr>
            <a:r>
              <a:t>0.500  at 24 hours</a:t>
            </a:r>
          </a:p>
          <a:p>
            <a:br/>
            <a:pPr>
              <a:defRPr sz="1100" b="1">
                <a:solidFill>
                  <a:srgbClr val="F8FAFC"/>
                </a:solidFill>
                <a:latin typeface="Calibri"/>
              </a:defRPr>
            </a:pPr>
            <a:r>
              <a:t>Lift  2.75×  →  3.41×</a:t>
            </a:r>
          </a:p>
        </p:txBody>
      </p:sp>
      <p:sp>
        <p:nvSpPr>
          <p:cNvPr id="9" name="Rounded Rectangle 8"/>
          <p:cNvSpPr/>
          <p:nvPr/>
        </p:nvSpPr>
        <p:spPr>
          <a:xfrm>
            <a:off x="6144768" y="2788920"/>
            <a:ext cx="2651760" cy="352044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7648" y="2907792"/>
            <a:ext cx="2286000" cy="3291840"/>
          </a:xfrm>
          <a:prstGeom prst="rect">
            <a:avLst/>
          </a:prstGeom>
          <a:noFill/>
        </p:spPr>
        <p:txBody>
          <a:bodyPr wrap="square">
            <a:spAutoFit/>
          </a:bodyPr>
          <a:lstStyle/>
          <a:p>
            <a:pPr>
              <a:defRPr sz="1000" b="1">
                <a:solidFill>
                  <a:srgbClr val="38BDF8"/>
                </a:solidFill>
                <a:latin typeface="Calibri"/>
              </a:defRPr>
            </a:pPr>
            <a:r>
              <a:t>ALARM LOAD</a:t>
            </a:r>
          </a:p>
          <a:p>
            <a:pPr>
              <a:defRPr sz="2100" b="1">
                <a:solidFill>
                  <a:srgbClr val="38BDF8"/>
                </a:solidFill>
                <a:latin typeface="Calibri"/>
              </a:defRPr>
            </a:pPr>
            <a:r>
              <a:t>2,069 → 1,551</a:t>
            </a:r>
          </a:p>
          <a:p>
            <a:pPr>
              <a:defRPr sz="1250" b="1">
                <a:solidFill>
                  <a:srgbClr val="F8FAFC"/>
                </a:solidFill>
                <a:latin typeface="Calibri"/>
              </a:defRPr>
            </a:pPr>
            <a:r>
              <a:t>Alert episodes</a:t>
            </a:r>
          </a:p>
          <a:p>
            <a:br/>
            <a:pPr>
              <a:defRPr sz="1000" b="0">
                <a:solidFill>
                  <a:srgbClr val="94A3B8"/>
                </a:solidFill>
                <a:latin typeface="Calibri"/>
              </a:defRPr>
            </a:pPr>
            <a:r>
              <a:t>A 25% reduction in the number of distinct alarms across the test population.</a:t>
            </a:r>
          </a:p>
          <a:p>
            <a:br/>
            <a:pPr>
              <a:defRPr sz="1000" b="0">
                <a:solidFill>
                  <a:srgbClr val="94A3B8"/>
                </a:solidFill>
                <a:latin typeface="Calibri"/>
              </a:defRPr>
            </a:pPr>
            <a:r>
              <a:t>Achieved with no loss of detection:</a:t>
            </a:r>
          </a:p>
          <a:p>
            <a:pPr>
              <a:defRPr sz="1200" b="1">
                <a:solidFill>
                  <a:srgbClr val="34D399"/>
                </a:solidFill>
                <a:latin typeface="Calibri"/>
              </a:defRPr>
            </a:pPr>
            <a:r>
              <a:t>recall 0.967 → 0.975</a:t>
            </a:r>
          </a:p>
          <a:p>
            <a:br/>
            <a:pPr>
              <a:defRPr sz="1000" b="0">
                <a:solidFill>
                  <a:srgbClr val="94A3B8"/>
                </a:solidFill>
                <a:latin typeface="Calibri"/>
              </a:defRPr>
            </a:pPr>
            <a:r>
              <a:t>Median warning time</a:t>
            </a:r>
          </a:p>
          <a:p>
            <a:pPr>
              <a:defRPr sz="1200" b="1">
                <a:solidFill>
                  <a:srgbClr val="34D399"/>
                </a:solidFill>
                <a:latin typeface="Calibri"/>
              </a:defRPr>
            </a:pPr>
            <a:r>
              <a:t>7.0 h → 8.0 h</a:t>
            </a:r>
          </a:p>
        </p:txBody>
      </p:sp>
      <p:sp>
        <p:nvSpPr>
          <p:cNvPr id="11" name="Rounded Rectangle 10"/>
          <p:cNvSpPr/>
          <p:nvPr/>
        </p:nvSpPr>
        <p:spPr>
          <a:xfrm>
            <a:off x="8942832" y="2788920"/>
            <a:ext cx="2651760" cy="352044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5712" y="2907792"/>
            <a:ext cx="2286000" cy="3291840"/>
          </a:xfrm>
          <a:prstGeom prst="rect">
            <a:avLst/>
          </a:prstGeom>
          <a:noFill/>
        </p:spPr>
        <p:txBody>
          <a:bodyPr wrap="square">
            <a:spAutoFit/>
          </a:bodyPr>
          <a:lstStyle/>
          <a:p>
            <a:pPr>
              <a:defRPr sz="1000" b="1">
                <a:solidFill>
                  <a:srgbClr val="A78BFA"/>
                </a:solidFill>
                <a:latin typeface="Calibri"/>
              </a:defRPr>
            </a:pPr>
            <a:r>
              <a:t>CALIBRATION</a:t>
            </a:r>
          </a:p>
          <a:p>
            <a:pPr>
              <a:defRPr sz="3000" b="1">
                <a:solidFill>
                  <a:srgbClr val="A78BFA"/>
                </a:solidFill>
                <a:latin typeface="Calibri"/>
              </a:defRPr>
            </a:pPr>
            <a:r>
              <a:t>1.007</a:t>
            </a:r>
          </a:p>
          <a:p>
            <a:pPr>
              <a:defRPr sz="1250" b="1">
                <a:solidFill>
                  <a:srgbClr val="F8FAFC"/>
                </a:solidFill>
                <a:latin typeface="Calibri"/>
              </a:defRPr>
            </a:pPr>
            <a:r>
              <a:t>Calibration slope</a:t>
            </a:r>
          </a:p>
          <a:p>
            <a:br/>
            <a:pPr>
              <a:defRPr sz="1000" b="0">
                <a:solidFill>
                  <a:srgbClr val="94A3B8"/>
                </a:solidFill>
                <a:latin typeface="Calibri"/>
              </a:defRPr>
            </a:pPr>
            <a:r>
              <a:t>A slope of 1.0 means a predicted risk of 30% corresponds to an observed event rate of 30% — the probabilities can be read at face value rather than only as a ranking.</a:t>
            </a:r>
          </a:p>
          <a:p>
            <a:br/>
            <a:pPr>
              <a:defRPr sz="1000" b="0">
                <a:solidFill>
                  <a:srgbClr val="94A3B8"/>
                </a:solidFill>
                <a:latin typeface="Calibri"/>
              </a:defRPr>
            </a:pPr>
            <a:r>
              <a:t>Expected calibration error</a:t>
            </a:r>
          </a:p>
          <a:p>
            <a:pPr>
              <a:defRPr sz="1500" b="1">
                <a:solidFill>
                  <a:srgbClr val="F8FAFC"/>
                </a:solidFill>
                <a:latin typeface="Calibri"/>
              </a:defRPr>
            </a:pPr>
            <a:r>
              <a:t>0.013</a:t>
            </a:r>
          </a:p>
          <a:p>
            <a:pPr>
              <a:defRPr sz="950" b="0">
                <a:solidFill>
                  <a:srgbClr val="94A3B8"/>
                </a:solidFill>
                <a:latin typeface="Calibri"/>
              </a:defRPr>
            </a:pPr>
            <a:r>
              <a:t>Mean absolute gap between predicted and observed frequency across probability deciles.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Model Formulation, Outputs, and Probability Calibration</a:t>
            </a:r>
          </a:p>
        </p:txBody>
      </p:sp>
      <p:sp>
        <p:nvSpPr>
          <p:cNvPr id="3" name="Rounded Rectangle 2"/>
          <p:cNvSpPr/>
          <p:nvPr/>
        </p:nvSpPr>
        <p:spPr>
          <a:xfrm>
            <a:off x="548640" y="1143000"/>
            <a:ext cx="612648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1280160"/>
            <a:ext cx="5623560" cy="4937760"/>
          </a:xfrm>
          <a:prstGeom prst="rect">
            <a:avLst/>
          </a:prstGeom>
          <a:noFill/>
        </p:spPr>
        <p:txBody>
          <a:bodyPr wrap="square">
            <a:spAutoFit/>
          </a:bodyPr>
          <a:lstStyle/>
          <a:p>
            <a:pPr>
              <a:defRPr sz="1200" b="1">
                <a:solidFill>
                  <a:srgbClr val="38BDF8"/>
                </a:solidFill>
                <a:latin typeface="Calibri"/>
              </a:defRPr>
            </a:pPr>
            <a:r>
              <a:t>DISCRETE-TIME HAZARD SURVIVAL MODEL</a:t>
            </a:r>
          </a:p>
          <a:p>
            <a:br/>
            <a:pPr>
              <a:defRPr sz="1050" b="0">
                <a:solidFill>
                  <a:srgbClr val="F8FAFC"/>
                </a:solidFill>
                <a:latin typeface="Calibri"/>
              </a:defRPr>
            </a:pPr>
            <a:r>
              <a:t>Time is divided into ordered intervals ending at 2, 4, 6, 9, 12, 18 and 24 hours. One gradient-boosted classifier per interval estimates the conditional hazard — the probability of the event occurring inside that interval, given the patient is still at risk when it begins:</a:t>
            </a:r>
          </a:p>
          <a:p>
            <a:br/>
            <a:pPr>
              <a:defRPr sz="1200" b="1">
                <a:solidFill>
                  <a:srgbClr val="FBBF24"/>
                </a:solidFill>
                <a:latin typeface="Calibri"/>
              </a:defRPr>
            </a:pPr>
            <a:r>
              <a:t>h_j  =  P( event in interval j  |  still at risk at its start )</a:t>
            </a:r>
          </a:p>
          <a:p>
            <a:br/>
            <a:pPr>
              <a:defRPr sz="1050" b="0">
                <a:solidFill>
                  <a:srgbClr val="F8FAFC"/>
                </a:solidFill>
                <a:latin typeface="Calibri"/>
              </a:defRPr>
            </a:pPr>
            <a:r>
              <a:t>The survival curve is the running product of the complements:</a:t>
            </a:r>
          </a:p>
          <a:p>
            <a:br/>
            <a:pPr>
              <a:defRPr sz="1200" b="1">
                <a:solidFill>
                  <a:srgbClr val="FBBF24"/>
                </a:solidFill>
                <a:latin typeface="Calibri"/>
              </a:defRPr>
            </a:pPr>
            <a:r>
              <a:t>S(c_j)  =  S(c_j−1) × (1 − h_j)            P(T ≤ c_j)  =  1 − S(c_j)</a:t>
            </a:r>
          </a:p>
          <a:p>
            <a:br/>
            <a:pPr>
              <a:defRPr sz="1000" b="0">
                <a:solidFill>
                  <a:srgbClr val="94A3B8"/>
                </a:solidFill>
                <a:latin typeface="Calibri"/>
              </a:defRPr>
            </a:pPr>
            <a:r>
              <a:t>Because every hazard lies between 0 and 1, the survival curve can only decrease. Monotonicity holds by construction and no correction is applied afterwards.</a:t>
            </a:r>
          </a:p>
          <a:p>
            <a:pPr>
              <a:defRPr sz="1000" b="0">
                <a:solidFill>
                  <a:srgbClr val="94A3B8"/>
                </a:solidFill>
                <a:latin typeface="Calibri"/>
              </a:defRPr>
            </a:pPr>
            <a:r>
              <a:t>Censoring is handled per interval: a patient discharged partway through an interval contributes no row for that interval or any later one, since their outcome there is unknowable. Stable patients contribute a negative row to every interval they survive, so they are used as training signal rather than discarded.</a:t>
            </a:r>
          </a:p>
          <a:p>
            <a:br/>
            <a:pPr>
              <a:defRPr sz="1200" b="1">
                <a:solidFill>
                  <a:srgbClr val="38BDF8"/>
                </a:solidFill>
                <a:latin typeface="Calibri"/>
              </a:defRPr>
            </a:pPr>
            <a:r>
              <a:t>THREE OUTPUTS PER PATIENT-HOUR</a:t>
            </a:r>
          </a:p>
          <a:p>
            <a:pPr>
              <a:defRPr sz="1050" b="0">
                <a:solidFill>
                  <a:srgbClr val="F8FAFC"/>
                </a:solidFill>
                <a:latin typeface="Calibri"/>
              </a:defRPr>
            </a:pPr>
            <a:r>
              <a:t>1.   Seven calibrated probabilities, one per horizon. This is the primary output and the quantity the alert threshold is applied to.</a:t>
            </a:r>
          </a:p>
          <a:p>
            <a:pPr>
              <a:defRPr sz="1050" b="0">
                <a:solidFill>
                  <a:srgbClr val="F8FAFC"/>
                </a:solidFill>
                <a:latin typeface="Calibri"/>
              </a:defRPr>
            </a:pPr>
            <a:r>
              <a:t>2.   A conditional expected time to the event, used to order the worklist by urgency.</a:t>
            </a:r>
          </a:p>
          <a:p>
            <a:pPr>
              <a:defRPr sz="1050" b="0">
                <a:solidFill>
                  <a:srgbClr val="F8FAFC"/>
                </a:solidFill>
                <a:latin typeface="Calibri"/>
              </a:defRPr>
            </a:pPr>
            <a:r>
              <a:t>3.   The shape of the hazard curve across intervals, used as an additional severity signal — described on a later slide.</a:t>
            </a:r>
          </a:p>
        </p:txBody>
      </p:sp>
      <p:sp>
        <p:nvSpPr>
          <p:cNvPr id="5" name="Rounded Rectangle 4"/>
          <p:cNvSpPr/>
          <p:nvPr/>
        </p:nvSpPr>
        <p:spPr>
          <a:xfrm>
            <a:off x="6949440" y="1143000"/>
            <a:ext cx="470916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78040" y="1280160"/>
            <a:ext cx="4251960" cy="685800"/>
          </a:xfrm>
          <a:prstGeom prst="rect">
            <a:avLst/>
          </a:prstGeom>
          <a:noFill/>
        </p:spPr>
        <p:txBody>
          <a:bodyPr wrap="square">
            <a:spAutoFit/>
          </a:bodyPr>
          <a:lstStyle/>
          <a:p>
            <a:pPr>
              <a:defRPr sz="1200" b="1">
                <a:solidFill>
                  <a:srgbClr val="38BDF8"/>
                </a:solidFill>
                <a:latin typeface="Calibri"/>
              </a:defRPr>
            </a:pPr>
            <a:r>
              <a:t>PROBABILITY CALIBRATION</a:t>
            </a:r>
          </a:p>
          <a:p>
            <a:pPr>
              <a:defRPr sz="1000" b="0">
                <a:solidFill>
                  <a:srgbClr val="F8FAFC"/>
                </a:solidFill>
                <a:latin typeface="Calibri"/>
              </a:defRPr>
            </a:pPr>
            <a:r>
              <a:t>Each interval's raw score is mapped to a probability by an isotonic regression fitted on the calibration split.</a:t>
            </a:r>
          </a:p>
        </p:txBody>
      </p:sp>
      <p:pic>
        <p:nvPicPr>
          <p:cNvPr id="7" name="Picture 6" descr="calibration.png"/>
          <p:cNvPicPr>
            <a:picLocks noChangeAspect="1"/>
          </p:cNvPicPr>
          <p:nvPr/>
        </p:nvPicPr>
        <p:blipFill>
          <a:blip r:embed="rId2"/>
          <a:stretch>
            <a:fillRect/>
          </a:stretch>
        </p:blipFill>
        <p:spPr>
          <a:xfrm>
            <a:off x="7178040" y="2057400"/>
            <a:ext cx="4251960" cy="3311584"/>
          </a:xfrm>
          <a:prstGeom prst="rect">
            <a:avLst/>
          </a:prstGeom>
        </p:spPr>
      </p:pic>
      <p:sp>
        <p:nvSpPr>
          <p:cNvPr id="8" name="TextBox 7"/>
          <p:cNvSpPr txBox="1"/>
          <p:nvPr/>
        </p:nvSpPr>
        <p:spPr>
          <a:xfrm>
            <a:off x="7178040" y="5074920"/>
            <a:ext cx="4251960" cy="1188720"/>
          </a:xfrm>
          <a:prstGeom prst="rect">
            <a:avLst/>
          </a:prstGeom>
          <a:noFill/>
        </p:spPr>
        <p:txBody>
          <a:bodyPr wrap="square">
            <a:spAutoFit/>
          </a:bodyPr>
          <a:lstStyle/>
          <a:p>
            <a:pPr>
              <a:defRPr sz="1000" b="0">
                <a:solidFill>
                  <a:srgbClr val="F8FAFC"/>
                </a:solidFill>
                <a:latin typeface="Calibri"/>
              </a:defRPr>
            </a:pPr>
            <a:r>
              <a:t>Isotonic regression fits a monotone step function minimising squared error against the observed outcome. Being non-parametric it corrects any shape of miscalibration; being monotone it cannot reverse the ordering of patients, so discrimination — and therefore AUROC — is preserved exactly while the numbers become interpretable as probabilities.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How an Alarm Is Defined, and How Precision Is Computed</a:t>
            </a:r>
          </a:p>
        </p:txBody>
      </p:sp>
      <p:sp>
        <p:nvSpPr>
          <p:cNvPr id="3" name="Rounded Rectangle 2"/>
          <p:cNvSpPr/>
          <p:nvPr/>
        </p:nvSpPr>
        <p:spPr>
          <a:xfrm>
            <a:off x="548640" y="1143000"/>
            <a:ext cx="562356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1280160"/>
            <a:ext cx="5120640" cy="4937760"/>
          </a:xfrm>
          <a:prstGeom prst="rect">
            <a:avLst/>
          </a:prstGeom>
          <a:noFill/>
        </p:spPr>
        <p:txBody>
          <a:bodyPr wrap="square">
            <a:spAutoFit/>
          </a:bodyPr>
          <a:lstStyle/>
          <a:p>
            <a:pPr>
              <a:defRPr sz="1200" b="1">
                <a:solidFill>
                  <a:srgbClr val="38BDF8"/>
                </a:solidFill>
                <a:latin typeface="Calibri"/>
              </a:defRPr>
            </a:pPr>
            <a:r>
              <a:t>THE ALARM EPISODE</a:t>
            </a:r>
          </a:p>
          <a:p>
            <a:br/>
            <a:pPr>
              <a:defRPr sz="1050" b="0">
                <a:solidFill>
                  <a:srgbClr val="F8FAFC"/>
                </a:solidFill>
                <a:latin typeface="Calibri"/>
              </a:defRPr>
            </a:pPr>
            <a:r>
              <a:t>A patient whose risk remains above threshold for five consecutive hours produces one alarm that a clinician responds to, not five. The unit of evaluation is therefore the alarm EPISODE: a maximal run of consecutive alerting hours for a single patient.</a:t>
            </a:r>
          </a:p>
          <a:p>
            <a:br/>
            <a:pPr>
              <a:defRPr sz="1050" b="0">
                <a:solidFill>
                  <a:srgbClr val="F8FAFC"/>
                </a:solidFill>
                <a:latin typeface="Calibri"/>
              </a:defRPr>
            </a:pPr>
            <a:r>
              <a:t>Successive alerting hours belong to the same episode when they are no more than two hours apart. The comparison is made on timestamps, so a gap in charting cannot split one clinical episode into two.</a:t>
            </a:r>
          </a:p>
          <a:p>
            <a:br/>
            <a:pPr>
              <a:defRPr sz="1200" b="1">
                <a:solidFill>
                  <a:srgbClr val="38BDF8"/>
                </a:solidFill>
                <a:latin typeface="Calibri"/>
              </a:defRPr>
            </a:pPr>
            <a:r>
              <a:t>HOW EPISODE PRECISION IS COMPUTED</a:t>
            </a:r>
          </a:p>
          <a:p>
            <a:pPr>
              <a:defRPr sz="1050" b="0">
                <a:solidFill>
                  <a:srgbClr val="F8FAFC"/>
                </a:solidFill>
                <a:latin typeface="Calibri"/>
              </a:defRPr>
            </a:pPr>
            <a:r>
              <a:t>An episode counts as TRUE when the patient's deterioration occurs within the prediction horizon of any hour inside that episode.</a:t>
            </a:r>
          </a:p>
          <a:p>
            <a:br/>
            <a:pPr>
              <a:defRPr sz="1250" b="1">
                <a:solidFill>
                  <a:srgbClr val="FBBF24"/>
                </a:solidFill>
                <a:latin typeface="Calibri"/>
              </a:defRPr>
            </a:pPr>
            <a:r>
              <a:t>Episode PPV   =   true episodes  ÷  all episodes</a:t>
            </a:r>
          </a:p>
          <a:p>
            <a:pPr>
              <a:defRPr sz="1250" b="1">
                <a:solidFill>
                  <a:srgbClr val="34D399"/>
                </a:solidFill>
                <a:latin typeface="Calibri"/>
              </a:defRPr>
            </a:pPr>
            <a:r>
              <a:t>At the 12-hour horizon:   685  ÷  2,069   =   0.331</a:t>
            </a:r>
          </a:p>
          <a:p>
            <a:br/>
            <a:pPr>
              <a:defRPr sz="1200" b="1">
                <a:solidFill>
                  <a:srgbClr val="38BDF8"/>
                </a:solidFill>
                <a:latin typeface="Calibri"/>
              </a:defRPr>
            </a:pPr>
            <a:r>
              <a:t>HOW DETECTION IS COMPUTED</a:t>
            </a:r>
          </a:p>
          <a:p>
            <a:pPr>
              <a:defRPr sz="1050" b="0">
                <a:solidFill>
                  <a:srgbClr val="F8FAFC"/>
                </a:solidFill>
                <a:latin typeface="Calibri"/>
              </a:defRPr>
            </a:pPr>
            <a:r>
              <a:t>Patient recall  =  deteriorating patients with at least one alerting hour inside the horizon before their event  ÷  all deteriorating patients</a:t>
            </a:r>
          </a:p>
          <a:p>
            <a:pPr>
              <a:defRPr sz="1250" b="1">
                <a:solidFill>
                  <a:srgbClr val="34D399"/>
                </a:solidFill>
                <a:latin typeface="Calibri"/>
              </a:defRPr>
            </a:pPr>
            <a:r>
              <a:t>At the 12-hour horizon:   621  ÷  642   =   0.967</a:t>
            </a:r>
          </a:p>
          <a:p>
            <a:br/>
            <a:pPr>
              <a:defRPr sz="1200" b="1">
                <a:solidFill>
                  <a:srgbClr val="38BDF8"/>
                </a:solidFill>
                <a:latin typeface="Calibri"/>
              </a:defRPr>
            </a:pPr>
            <a:r>
              <a:t>HOW LIFT IS COMPUTED</a:t>
            </a:r>
          </a:p>
          <a:p>
            <a:pPr>
              <a:defRPr sz="1050" b="0">
                <a:solidFill>
                  <a:srgbClr val="F8FAFC"/>
                </a:solidFill>
                <a:latin typeface="Calibri"/>
              </a:defRPr>
            </a:pPr>
            <a:r>
              <a:t>Lift  =  episode PPV  ÷  base rate.  A value of 1.0 means an alarm carries no more information than selecting a patient at random. At 12 hours: 0.331 ÷ 0.120 = 2.75×.</a:t>
            </a:r>
          </a:p>
        </p:txBody>
      </p:sp>
      <p:sp>
        <p:nvSpPr>
          <p:cNvPr id="5" name="Rounded Rectangle 4"/>
          <p:cNvSpPr/>
          <p:nvPr/>
        </p:nvSpPr>
        <p:spPr>
          <a:xfrm>
            <a:off x="6446520" y="1143000"/>
            <a:ext cx="521208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93408" y="1280160"/>
            <a:ext cx="4709160" cy="4937760"/>
          </a:xfrm>
          <a:prstGeom prst="rect">
            <a:avLst/>
          </a:prstGeom>
          <a:noFill/>
        </p:spPr>
        <p:txBody>
          <a:bodyPr wrap="square">
            <a:spAutoFit/>
          </a:bodyPr>
          <a:lstStyle/>
          <a:p>
            <a:pPr>
              <a:defRPr sz="1200" b="1">
                <a:solidFill>
                  <a:srgbClr val="38BDF8"/>
                </a:solidFill>
                <a:latin typeface="Calibri"/>
              </a:defRPr>
            </a:pPr>
            <a:r>
              <a:t>THREE UNITS OF EVALUATION, AND WHAT EACH ANSWERS</a:t>
            </a:r>
          </a:p>
          <a:p>
            <a:br/>
            <a:pPr>
              <a:defRPr sz="1150" b="1">
                <a:solidFill>
                  <a:srgbClr val="F8FAFC"/>
                </a:solidFill>
                <a:latin typeface="Calibri"/>
              </a:defRPr>
            </a:pPr>
            <a:r>
              <a:t>Prediction row   —   39,046 in the test set</a:t>
            </a:r>
          </a:p>
          <a:p>
            <a:pPr>
              <a:defRPr sz="1050" b="0">
                <a:solidFill>
                  <a:srgbClr val="94A3B8"/>
                </a:solidFill>
                <a:latin typeface="Calibri"/>
              </a:defRPr>
            </a:pPr>
            <a:r>
              <a:t>One patient at one hour. This is the unit the model scores, and the unit over which AUROC, AUPRC and calibration are computed. It answers: how well does the model rank risk?</a:t>
            </a:r>
          </a:p>
          <a:p>
            <a:br/>
            <a:pPr>
              <a:defRPr sz="1150" b="1">
                <a:solidFill>
                  <a:srgbClr val="FBBF24"/>
                </a:solidFill>
                <a:latin typeface="Calibri"/>
              </a:defRPr>
            </a:pPr>
            <a:r>
              <a:t>Alarm episode   —   2,069 in the test set</a:t>
            </a:r>
          </a:p>
          <a:p>
            <a:pPr>
              <a:defRPr sz="1050" b="0">
                <a:solidFill>
                  <a:srgbClr val="94A3B8"/>
                </a:solidFill>
                <a:latin typeface="Calibri"/>
              </a:defRPr>
            </a:pPr>
            <a:r>
              <a:t>One continuous run of alerting. This is the unit a clinician actually experiences, and the unit precision is reported in. It answers: when the system raises an alarm, how often is it right?</a:t>
            </a:r>
          </a:p>
          <a:p>
            <a:br/>
            <a:pPr>
              <a:defRPr sz="1150" b="1">
                <a:solidFill>
                  <a:srgbClr val="34D399"/>
                </a:solidFill>
                <a:latin typeface="Calibri"/>
              </a:defRPr>
            </a:pPr>
            <a:r>
              <a:t>Patient   —   1,236 admissions in the test set</a:t>
            </a:r>
          </a:p>
          <a:p>
            <a:pPr>
              <a:defRPr sz="1050" b="0">
                <a:solidFill>
                  <a:srgbClr val="94A3B8"/>
                </a:solidFill>
                <a:latin typeface="Calibri"/>
              </a:defRPr>
            </a:pPr>
            <a:r>
              <a:t>One coronary care admission. This is the unit detection is reported in. It answers: was this deteriorating patient warned about at all?</a:t>
            </a:r>
          </a:p>
          <a:p>
            <a:br/>
            <a:pPr>
              <a:defRPr sz="1200" b="1">
                <a:solidFill>
                  <a:srgbClr val="38BDF8"/>
                </a:solidFill>
                <a:latin typeface="Calibri"/>
              </a:defRPr>
            </a:pPr>
            <a:r>
              <a:t>WHY THE DISTINCTION IS ENFORCED</a:t>
            </a:r>
          </a:p>
          <a:p>
            <a:pPr>
              <a:defRPr sz="1050" b="0">
                <a:solidFill>
                  <a:srgbClr val="F8FAFC"/>
                </a:solidFill>
                <a:latin typeface="Calibri"/>
              </a:defRPr>
            </a:pPr>
            <a:r>
              <a:t>The three units have different denominators, so a ratio formed from two of them has no interpretation. Throughout this work every precision figure is episode-level, every detection figure is patient-level, and the two are never combined into a single ratio.</a:t>
            </a:r>
          </a:p>
          <a:p>
            <a:br/>
            <a:pPr>
              <a:defRPr sz="1050" b="0">
                <a:solidFill>
                  <a:srgbClr val="94A3B8"/>
                </a:solidFill>
                <a:latin typeface="Calibri"/>
              </a:defRPr>
            </a:pPr>
            <a:r>
              <a:t>Reporting precision per prediction row would make a stable patient with 60 charted hours weigh 60 times as heavily as a patient who deteriorates after three — which is why the episode is used instead.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Composition of the False Alarms, and the Refined Event Definition</a:t>
            </a:r>
          </a:p>
        </p:txBody>
      </p:sp>
      <p:sp>
        <p:nvSpPr>
          <p:cNvPr id="3" name="Rounded Rectangle 2"/>
          <p:cNvSpPr/>
          <p:nvPr/>
        </p:nvSpPr>
        <p:spPr>
          <a:xfrm>
            <a:off x="548640" y="1143000"/>
            <a:ext cx="562356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1280160"/>
            <a:ext cx="5120640" cy="457200"/>
          </a:xfrm>
          <a:prstGeom prst="rect">
            <a:avLst/>
          </a:prstGeom>
          <a:noFill/>
        </p:spPr>
        <p:txBody>
          <a:bodyPr wrap="square">
            <a:spAutoFit/>
          </a:bodyPr>
          <a:lstStyle/>
          <a:p>
            <a:pPr>
              <a:defRPr sz="1150" b="1">
                <a:solidFill>
                  <a:srgbClr val="38BDF8"/>
                </a:solidFill>
                <a:latin typeface="Calibri"/>
              </a:defRPr>
            </a:pPr>
            <a:r>
              <a:t>WHAT THE 1,384 FALSE EPISODES AT 12 HOURS ACTUALLY ARE</a:t>
            </a:r>
          </a:p>
        </p:txBody>
      </p:sp>
      <p:graphicFrame>
        <p:nvGraphicFramePr>
          <p:cNvPr id="5" name="Table 4"/>
          <p:cNvGraphicFramePr>
            <a:graphicFrameLocks noGrp="1"/>
          </p:cNvGraphicFramePr>
          <p:nvPr/>
        </p:nvGraphicFramePr>
        <p:xfrm>
          <a:off x="804672" y="1783080"/>
          <a:ext cx="5120640" cy="1280160"/>
        </p:xfrm>
        <a:graphic>
          <a:graphicData uri="http://schemas.openxmlformats.org/drawingml/2006/table">
            <a:tbl>
              <a:tblPr firstRow="1" bandRow="1">
                <a:tableStyleId>{5C22544A-7EE6-4342-B048-85BDC9FD1C3A}</a:tableStyleId>
              </a:tblPr>
              <a:tblGrid>
                <a:gridCol w="3200400"/>
                <a:gridCol w="960120"/>
                <a:gridCol w="960120"/>
              </a:tblGrid>
              <a:tr h="320040">
                <a:tc>
                  <a:txBody>
                    <a:bodyPr/>
                    <a:lstStyle/>
                    <a:p>
                      <a:pPr>
                        <a:defRPr sz="950" b="1">
                          <a:solidFill>
                            <a:srgbClr val="FFFFFF"/>
                          </a:solidFill>
                        </a:defRPr>
                      </a:pPr>
                      <a:r>
                        <a:t>The patient's NEWS2 record</a:t>
                      </a:r>
                    </a:p>
                  </a:txBody>
                  <a:tcPr>
                    <a:solidFill>
                      <a:srgbClr val="1E3A8A"/>
                    </a:solidFill>
                  </a:tcPr>
                </a:tc>
                <a:tc>
                  <a:txBody>
                    <a:bodyPr/>
                    <a:lstStyle/>
                    <a:p>
                      <a:pPr>
                        <a:defRPr sz="950" b="1">
                          <a:solidFill>
                            <a:srgbClr val="FFFFFF"/>
                          </a:solidFill>
                        </a:defRPr>
                      </a:pPr>
                      <a:r>
                        <a:t>Episodes</a:t>
                      </a:r>
                    </a:p>
                  </a:txBody>
                  <a:tcPr>
                    <a:solidFill>
                      <a:srgbClr val="1E3A8A"/>
                    </a:solidFill>
                  </a:tcPr>
                </a:tc>
                <a:tc>
                  <a:txBody>
                    <a:bodyPr/>
                    <a:lstStyle/>
                    <a:p>
                      <a:pPr>
                        <a:defRPr sz="950" b="1">
                          <a:solidFill>
                            <a:srgbClr val="FFFFFF"/>
                          </a:solidFill>
                        </a:defRPr>
                      </a:pPr>
                      <a:r>
                        <a:t>Share</a:t>
                      </a:r>
                    </a:p>
                  </a:txBody>
                  <a:tcPr>
                    <a:solidFill>
                      <a:srgbClr val="1E3A8A"/>
                    </a:solidFill>
                  </a:tcPr>
                </a:tc>
              </a:tr>
              <a:tr h="320040">
                <a:tc>
                  <a:txBody>
                    <a:bodyPr/>
                    <a:lstStyle/>
                    <a:p>
                      <a:pPr>
                        <a:defRPr sz="950" b="1">
                          <a:solidFill>
                            <a:srgbClr val="FBBF24"/>
                          </a:solidFill>
                        </a:defRPr>
                      </a:pPr>
                      <a:r>
                        <a:t>Never reached NEWS2 ≥ 7 at any point in the stay</a:t>
                      </a:r>
                    </a:p>
                  </a:txBody>
                  <a:tcPr>
                    <a:solidFill>
                      <a:srgbClr val="142D46"/>
                    </a:solidFill>
                  </a:tcPr>
                </a:tc>
                <a:tc>
                  <a:txBody>
                    <a:bodyPr/>
                    <a:lstStyle/>
                    <a:p>
                      <a:pPr>
                        <a:defRPr sz="950" b="1">
                          <a:solidFill>
                            <a:srgbClr val="FBBF24"/>
                          </a:solidFill>
                        </a:defRPr>
                      </a:pPr>
                      <a:r>
                        <a:t>360</a:t>
                      </a:r>
                    </a:p>
                  </a:txBody>
                  <a:tcPr>
                    <a:solidFill>
                      <a:srgbClr val="142D46"/>
                    </a:solidFill>
                  </a:tcPr>
                </a:tc>
                <a:tc>
                  <a:txBody>
                    <a:bodyPr/>
                    <a:lstStyle/>
                    <a:p>
                      <a:pPr>
                        <a:defRPr sz="950" b="1">
                          <a:solidFill>
                            <a:srgbClr val="FBBF24"/>
                          </a:solidFill>
                        </a:defRPr>
                      </a:pPr>
                      <a:r>
                        <a:t>26.0%</a:t>
                      </a:r>
                    </a:p>
                  </a:txBody>
                  <a:tcPr>
                    <a:solidFill>
                      <a:srgbClr val="142D46"/>
                    </a:solidFill>
                  </a:tcPr>
                </a:tc>
              </a:tr>
              <a:tr h="320040">
                <a:tc>
                  <a:txBody>
                    <a:bodyPr/>
                    <a:lstStyle/>
                    <a:p>
                      <a:pPr>
                        <a:defRPr sz="950" b="0">
                          <a:solidFill>
                            <a:srgbClr val="F8FAFC"/>
                          </a:solidFill>
                        </a:defRPr>
                      </a:pPr>
                      <a:r>
                        <a:t>Reached NEWS2 ≥ 7, never for two consecutive hours</a:t>
                      </a:r>
                    </a:p>
                  </a:txBody>
                  <a:tcPr>
                    <a:solidFill>
                      <a:srgbClr val="1E293B"/>
                    </a:solidFill>
                  </a:tcPr>
                </a:tc>
                <a:tc>
                  <a:txBody>
                    <a:bodyPr/>
                    <a:lstStyle/>
                    <a:p>
                      <a:pPr>
                        <a:defRPr sz="950" b="0">
                          <a:solidFill>
                            <a:srgbClr val="F8FAFC"/>
                          </a:solidFill>
                        </a:defRPr>
                      </a:pPr>
                      <a:r>
                        <a:t>700</a:t>
                      </a:r>
                    </a:p>
                  </a:txBody>
                  <a:tcPr>
                    <a:solidFill>
                      <a:srgbClr val="1E293B"/>
                    </a:solidFill>
                  </a:tcPr>
                </a:tc>
                <a:tc>
                  <a:txBody>
                    <a:bodyPr/>
                    <a:lstStyle/>
                    <a:p>
                      <a:pPr>
                        <a:defRPr sz="950" b="0">
                          <a:solidFill>
                            <a:srgbClr val="F8FAFC"/>
                          </a:solidFill>
                        </a:defRPr>
                      </a:pPr>
                      <a:r>
                        <a:t>50.6%</a:t>
                      </a:r>
                    </a:p>
                  </a:txBody>
                  <a:tcPr>
                    <a:solidFill>
                      <a:srgbClr val="1E293B"/>
                    </a:solidFill>
                  </a:tcPr>
                </a:tc>
              </a:tr>
              <a:tr h="320040">
                <a:tc>
                  <a:txBody>
                    <a:bodyPr/>
                    <a:lstStyle/>
                    <a:p>
                      <a:pPr>
                        <a:defRPr sz="950" b="0">
                          <a:solidFill>
                            <a:srgbClr val="F8FAFC"/>
                          </a:solidFill>
                        </a:defRPr>
                      </a:pPr>
                      <a:r>
                        <a:t>Sustained NEWS2 ≥ 7, outside this horizon</a:t>
                      </a:r>
                    </a:p>
                  </a:txBody>
                  <a:tcPr>
                    <a:solidFill>
                      <a:srgbClr val="1E293B"/>
                    </a:solidFill>
                  </a:tcPr>
                </a:tc>
                <a:tc>
                  <a:txBody>
                    <a:bodyPr/>
                    <a:lstStyle/>
                    <a:p>
                      <a:pPr>
                        <a:defRPr sz="950" b="0">
                          <a:solidFill>
                            <a:srgbClr val="F8FAFC"/>
                          </a:solidFill>
                        </a:defRPr>
                      </a:pPr>
                      <a:r>
                        <a:t>324</a:t>
                      </a:r>
                    </a:p>
                  </a:txBody>
                  <a:tcPr>
                    <a:solidFill>
                      <a:srgbClr val="1E293B"/>
                    </a:solidFill>
                  </a:tcPr>
                </a:tc>
                <a:tc>
                  <a:txBody>
                    <a:bodyPr/>
                    <a:lstStyle/>
                    <a:p>
                      <a:pPr>
                        <a:defRPr sz="950" b="0">
                          <a:solidFill>
                            <a:srgbClr val="F8FAFC"/>
                          </a:solidFill>
                        </a:defRPr>
                      </a:pPr>
                      <a:r>
                        <a:t>23.4%</a:t>
                      </a:r>
                    </a:p>
                  </a:txBody>
                  <a:tcPr>
                    <a:solidFill>
                      <a:srgbClr val="1E293B"/>
                    </a:solidFill>
                  </a:tcPr>
                </a:tc>
              </a:tr>
            </a:tbl>
          </a:graphicData>
        </a:graphic>
      </p:graphicFrame>
      <p:sp>
        <p:nvSpPr>
          <p:cNvPr id="6" name="TextBox 5"/>
          <p:cNvSpPr txBox="1"/>
          <p:nvPr/>
        </p:nvSpPr>
        <p:spPr>
          <a:xfrm>
            <a:off x="804672" y="3337560"/>
            <a:ext cx="5120640" cy="2926080"/>
          </a:xfrm>
          <a:prstGeom prst="rect">
            <a:avLst/>
          </a:prstGeom>
          <a:noFill/>
        </p:spPr>
        <p:txBody>
          <a:bodyPr wrap="square">
            <a:spAutoFit/>
          </a:bodyPr>
          <a:lstStyle/>
          <a:p>
            <a:pPr>
              <a:defRPr sz="1200" b="1">
                <a:solidFill>
                  <a:srgbClr val="FBBF24"/>
                </a:solidFill>
                <a:latin typeface="Calibri"/>
              </a:defRPr>
            </a:pPr>
            <a:r>
              <a:t>Only 26% of alarms fire on a patient who shows no critical deterioration at any point during the admission.</a:t>
            </a:r>
          </a:p>
          <a:p>
            <a:br/>
            <a:pPr>
              <a:defRPr sz="1050" b="0">
                <a:solidFill>
                  <a:srgbClr val="F8FAFC"/>
                </a:solidFill>
                <a:latin typeface="Calibri"/>
              </a:defRPr>
            </a:pPr>
            <a:r>
              <a:t>Half fire on patients who did cross the critical threshold, but whose crossing was not sustained for two consecutive hours — so the original event definition recorded them as never having deteriorated.</a:t>
            </a:r>
          </a:p>
          <a:p>
            <a:br/>
            <a:pPr>
              <a:defRPr sz="1050" b="0">
                <a:solidFill>
                  <a:srgbClr val="94A3B8"/>
                </a:solidFill>
                <a:latin typeface="Calibri"/>
              </a:defRPr>
            </a:pPr>
            <a:r>
              <a:t>This locates a substantial share of the apparent false-alarm burden in the event definition rather than in the model, and motivates the refinement opposite.</a:t>
            </a:r>
          </a:p>
          <a:p>
            <a:br/>
            <a:pPr>
              <a:defRPr sz="1050" b="0">
                <a:solidFill>
                  <a:srgbClr val="94A3B8"/>
                </a:solidFill>
                <a:latin typeface="Calibri"/>
              </a:defRPr>
            </a:pPr>
            <a:r>
              <a:t>An alternating pattern such as 8, 6, 9, 6, 8 spends three hours in the critical band yet satisfies no two-consecutive-hour rule, because each hour below threshold resets the count.</a:t>
            </a:r>
          </a:p>
        </p:txBody>
      </p:sp>
      <p:sp>
        <p:nvSpPr>
          <p:cNvPr id="7" name="Rounded Rectangle 6"/>
          <p:cNvSpPr/>
          <p:nvPr/>
        </p:nvSpPr>
        <p:spPr>
          <a:xfrm>
            <a:off x="6446520" y="1143000"/>
            <a:ext cx="521208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3408" y="1280160"/>
            <a:ext cx="4709160" cy="4937760"/>
          </a:xfrm>
          <a:prstGeom prst="rect">
            <a:avLst/>
          </a:prstGeom>
          <a:noFill/>
        </p:spPr>
        <p:txBody>
          <a:bodyPr wrap="square">
            <a:spAutoFit/>
          </a:bodyPr>
          <a:lstStyle/>
          <a:p>
            <a:pPr>
              <a:defRPr sz="1200" b="1">
                <a:solidFill>
                  <a:srgbClr val="38BDF8"/>
                </a:solidFill>
                <a:latin typeface="Calibri"/>
              </a:defRPr>
            </a:pPr>
            <a:r>
              <a:t>REFINED EVENT DEFINITION</a:t>
            </a:r>
          </a:p>
          <a:p>
            <a:br/>
            <a:pPr>
              <a:defRPr sz="1100" b="1">
                <a:solidFill>
                  <a:srgbClr val="F8FAFC"/>
                </a:solidFill>
                <a:latin typeface="Calibri"/>
              </a:defRPr>
            </a:pPr>
            <a:r>
              <a:t>Original:   NEWS2 ≥ 7 for two CONSECUTIVE hours.</a:t>
            </a:r>
          </a:p>
          <a:p>
            <a:br/>
            <a:pPr>
              <a:defRPr sz="1100" b="1">
                <a:solidFill>
                  <a:srgbClr val="FBBF24"/>
                </a:solidFill>
                <a:latin typeface="Calibri"/>
              </a:defRPr>
            </a:pPr>
            <a:r>
              <a:t>Refined — the earliest time at which any of four rules is satisfied:</a:t>
            </a:r>
          </a:p>
          <a:p>
            <a:pPr>
              <a:defRPr sz="1050" b="0">
                <a:solidFill>
                  <a:srgbClr val="F8FAFC"/>
                </a:solidFill>
                <a:latin typeface="Calibri"/>
              </a:defRPr>
            </a:pPr>
            <a:r>
              <a:t>(a)   NEWS2 ≥ 7 for two consecutive hours, as before</a:t>
            </a:r>
            <a:br/>
            <a:r>
              <a:t>(b)   at least two hours at NEWS2 ≥ 7 within any four-hour window</a:t>
            </a:r>
            <a:br/>
            <a:r>
              <a:t>(c)   one hour at NEWS2 ≥ 7 followed by death within six hours</a:t>
            </a:r>
            <a:br/>
            <a:r>
              <a:t>(d)   one hour at NEWS2 ≥ 7 with the record ending under two hours later, so the two-hour rule could not physically be satisfied</a:t>
            </a:r>
          </a:p>
          <a:p>
            <a:br/>
            <a:pPr>
              <a:defRPr sz="1000" b="0">
                <a:solidFill>
                  <a:srgbClr val="94A3B8"/>
                </a:solidFill>
                <a:latin typeface="Calibri"/>
              </a:defRPr>
            </a:pPr>
            <a:r>
              <a:t>Rule (a) is retained as a candidate, so the refined definition is a strict superset of the original: it can only move an event earlier, and can never remove one.</a:t>
            </a:r>
          </a:p>
          <a:p>
            <a:br/>
            <a:pPr>
              <a:defRPr sz="1200" b="1">
                <a:solidFill>
                  <a:srgbClr val="38BDF8"/>
                </a:solidFill>
                <a:latin typeface="Calibri"/>
              </a:defRPr>
            </a:pPr>
            <a:r>
              <a:t>EFFECT ON THE FALSE-ALARM BURDEN</a:t>
            </a:r>
          </a:p>
          <a:p>
            <a:pPr>
              <a:defRPr sz="1050" b="0">
                <a:solidFill>
                  <a:srgbClr val="F8FAFC"/>
                </a:solidFill>
                <a:latin typeface="Calibri"/>
              </a:defRPr>
            </a:pPr>
            <a:r>
              <a:t>Rule (b) reclassifies 515 of the 2,019 transient patients as genuine events. Of those remaining, 1,008 recorded exactly one high hour in the entire admission — a pattern indistinguishable from a single artefactual reading, which is precisely what a two-reading requirement exists to filter. Recovering them would exchange one form of label noise for another.</a:t>
            </a:r>
          </a:p>
          <a:p>
            <a:br/>
            <a:pPr>
              <a:defRPr sz="1050" b="1">
                <a:solidFill>
                  <a:srgbClr val="F8FAFC"/>
                </a:solidFill>
                <a:latin typeface="Calibri"/>
              </a:defRPr>
            </a:pPr>
            <a:r>
              <a:t>Measured at 12 hours:</a:t>
            </a:r>
          </a:p>
          <a:p>
            <a:pPr>
              <a:defRPr sz="1100" b="1">
                <a:solidFill>
                  <a:srgbClr val="34D399"/>
                </a:solidFill>
                <a:latin typeface="Calibri"/>
              </a:defRPr>
            </a:pPr>
            <a:r>
              <a:t>Episode PPV                  0.331  →  0.345</a:t>
            </a:r>
            <a:br/>
            <a:r>
              <a:t>False episodes               1,384  →  1,209</a:t>
            </a:r>
            <a:br/>
            <a:r>
              <a:t>Episodes on transient patients  700  →  584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Validating the Refined Definition: Better Signal, or Harder Task?</a:t>
            </a:r>
          </a:p>
        </p:txBody>
      </p:sp>
      <p:sp>
        <p:nvSpPr>
          <p:cNvPr id="3" name="Rounded Rectangle 2"/>
          <p:cNvSpPr/>
          <p:nvPr/>
        </p:nvSpPr>
        <p:spPr>
          <a:xfrm>
            <a:off x="548640" y="1143000"/>
            <a:ext cx="1110996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298448"/>
            <a:ext cx="10515600" cy="1051560"/>
          </a:xfrm>
          <a:prstGeom prst="rect">
            <a:avLst/>
          </a:prstGeom>
          <a:noFill/>
        </p:spPr>
        <p:txBody>
          <a:bodyPr wrap="square">
            <a:spAutoFit/>
          </a:bodyPr>
          <a:lstStyle/>
          <a:p>
            <a:pPr>
              <a:defRPr sz="1200" b="1">
                <a:solidFill>
                  <a:srgbClr val="38BDF8"/>
                </a:solidFill>
                <a:latin typeface="Calibri"/>
              </a:defRPr>
            </a:pPr>
            <a:r>
              <a:t>THE AMBIGUITY THAT HAS TO BE RESOLVED</a:t>
            </a:r>
          </a:p>
          <a:p>
            <a:pPr>
              <a:defRPr sz="1150" b="0">
                <a:solidFill>
                  <a:srgbClr val="F8FAFC"/>
                </a:solidFill>
                <a:latin typeface="Calibri"/>
              </a:defRPr>
            </a:pPr>
            <a:r>
              <a:t>A broader event definition admits harder cases, so the prediction task itself becomes harder. Precision rises because prevalence rises, while lift falls because the added events are intrinsically less predictable. Neither movement on its own distinguishes a better training signal from a harder target.</a:t>
            </a:r>
          </a:p>
        </p:txBody>
      </p:sp>
      <p:sp>
        <p:nvSpPr>
          <p:cNvPr id="5" name="TextBox 4"/>
          <p:cNvSpPr txBox="1"/>
          <p:nvPr/>
        </p:nvSpPr>
        <p:spPr>
          <a:xfrm>
            <a:off x="868680" y="2468880"/>
            <a:ext cx="10515600" cy="411480"/>
          </a:xfrm>
          <a:prstGeom prst="rect">
            <a:avLst/>
          </a:prstGeom>
          <a:noFill/>
        </p:spPr>
        <p:txBody>
          <a:bodyPr wrap="square">
            <a:spAutoFit/>
          </a:bodyPr>
          <a:lstStyle/>
          <a:p>
            <a:pPr>
              <a:defRPr sz="1200" b="1">
                <a:solidFill>
                  <a:srgbClr val="FBBF24"/>
                </a:solidFill>
                <a:latin typeface="Calibri"/>
              </a:defRPr>
            </a:pPr>
            <a:r>
              <a:t>THE RESOLUTION — cross the TRAINING definition against the EVALUATION definition, on the same 261,436 prediction rows</a:t>
            </a:r>
          </a:p>
        </p:txBody>
      </p:sp>
      <p:graphicFrame>
        <p:nvGraphicFramePr>
          <p:cNvPr id="6" name="Table 5"/>
          <p:cNvGraphicFramePr>
            <a:graphicFrameLocks noGrp="1"/>
          </p:cNvGraphicFramePr>
          <p:nvPr/>
        </p:nvGraphicFramePr>
        <p:xfrm>
          <a:off x="868680" y="2926080"/>
          <a:ext cx="10515598" cy="1097280"/>
        </p:xfrm>
        <a:graphic>
          <a:graphicData uri="http://schemas.openxmlformats.org/drawingml/2006/table">
            <a:tbl>
              <a:tblPr firstRow="1" bandRow="1">
                <a:tableStyleId>{5C22544A-7EE6-4342-B048-85BDC9FD1C3A}</a:tableStyleId>
              </a:tblPr>
              <a:tblGrid>
                <a:gridCol w="3017520"/>
                <a:gridCol w="3749039"/>
                <a:gridCol w="3749039"/>
              </a:tblGrid>
              <a:tr h="365760">
                <a:tc>
                  <a:txBody>
                    <a:bodyPr/>
                    <a:lstStyle/>
                    <a:p>
                      <a:pPr>
                        <a:defRPr sz="1100" b="1">
                          <a:solidFill>
                            <a:srgbClr val="FFFFFF"/>
                          </a:solidFill>
                        </a:defRPr>
                      </a:pPr>
                    </a:p>
                  </a:txBody>
                  <a:tcPr>
                    <a:solidFill>
                      <a:srgbClr val="1E3A8A"/>
                    </a:solidFill>
                  </a:tcPr>
                </a:tc>
                <a:tc>
                  <a:txBody>
                    <a:bodyPr/>
                    <a:lstStyle/>
                    <a:p>
                      <a:pPr>
                        <a:defRPr sz="1100" b="1">
                          <a:solidFill>
                            <a:srgbClr val="FFFFFF"/>
                          </a:solidFill>
                        </a:defRPr>
                      </a:pPr>
                      <a:r>
                        <a:t>Evaluated against the original definition</a:t>
                      </a:r>
                    </a:p>
                  </a:txBody>
                  <a:tcPr>
                    <a:solidFill>
                      <a:srgbClr val="1E3A8A"/>
                    </a:solidFill>
                  </a:tcPr>
                </a:tc>
                <a:tc>
                  <a:txBody>
                    <a:bodyPr/>
                    <a:lstStyle/>
                    <a:p>
                      <a:pPr>
                        <a:defRPr sz="1100" b="1">
                          <a:solidFill>
                            <a:srgbClr val="FFFFFF"/>
                          </a:solidFill>
                        </a:defRPr>
                      </a:pPr>
                      <a:r>
                        <a:t>Evaluated against the refined definition</a:t>
                      </a:r>
                    </a:p>
                  </a:txBody>
                  <a:tcPr>
                    <a:solidFill>
                      <a:srgbClr val="1E3A8A"/>
                    </a:solidFill>
                  </a:tcPr>
                </a:tc>
              </a:tr>
              <a:tr h="365760">
                <a:tc>
                  <a:txBody>
                    <a:bodyPr/>
                    <a:lstStyle/>
                    <a:p>
                      <a:pPr>
                        <a:defRPr sz="1100" b="0">
                          <a:solidFill>
                            <a:srgbClr val="F8FAFC"/>
                          </a:solidFill>
                        </a:defRPr>
                      </a:pPr>
                      <a:r>
                        <a:t>Trained on the original definition</a:t>
                      </a:r>
                    </a:p>
                  </a:txBody>
                  <a:tcPr>
                    <a:solidFill>
                      <a:srgbClr val="1E293B"/>
                    </a:solidFill>
                  </a:tcPr>
                </a:tc>
                <a:tc>
                  <a:txBody>
                    <a:bodyPr/>
                    <a:lstStyle/>
                    <a:p>
                      <a:pPr>
                        <a:defRPr sz="1100" b="0">
                          <a:solidFill>
                            <a:srgbClr val="F8FAFC"/>
                          </a:solidFill>
                        </a:defRPr>
                      </a:pPr>
                      <a:r>
                        <a:t>AUROC 0.7956        AUPRC 0.3086</a:t>
                      </a:r>
                    </a:p>
                  </a:txBody>
                  <a:tcPr>
                    <a:solidFill>
                      <a:srgbClr val="1E293B"/>
                    </a:solidFill>
                  </a:tcPr>
                </a:tc>
                <a:tc>
                  <a:txBody>
                    <a:bodyPr/>
                    <a:lstStyle/>
                    <a:p>
                      <a:pPr>
                        <a:defRPr sz="1100" b="0">
                          <a:solidFill>
                            <a:srgbClr val="F8FAFC"/>
                          </a:solidFill>
                        </a:defRPr>
                      </a:pPr>
                      <a:r>
                        <a:t>AUROC 0.7948        AUPRC 0.3783</a:t>
                      </a:r>
                    </a:p>
                  </a:txBody>
                  <a:tcPr>
                    <a:solidFill>
                      <a:srgbClr val="1E293B"/>
                    </a:solidFill>
                  </a:tcPr>
                </a:tc>
              </a:tr>
              <a:tr h="365760">
                <a:tc>
                  <a:txBody>
                    <a:bodyPr/>
                    <a:lstStyle/>
                    <a:p>
                      <a:pPr>
                        <a:defRPr sz="1100" b="1">
                          <a:solidFill>
                            <a:srgbClr val="FBBF24"/>
                          </a:solidFill>
                        </a:defRPr>
                      </a:pPr>
                      <a:r>
                        <a:t>Trained on the refined definition</a:t>
                      </a:r>
                    </a:p>
                  </a:txBody>
                  <a:tcPr>
                    <a:solidFill>
                      <a:srgbClr val="142D46"/>
                    </a:solidFill>
                  </a:tcPr>
                </a:tc>
                <a:tc>
                  <a:txBody>
                    <a:bodyPr/>
                    <a:lstStyle/>
                    <a:p>
                      <a:pPr>
                        <a:defRPr sz="1100" b="1">
                          <a:solidFill>
                            <a:srgbClr val="FBBF24"/>
                          </a:solidFill>
                        </a:defRPr>
                      </a:pPr>
                      <a:r>
                        <a:t>AUROC 0.7982        AUPRC 0.3208</a:t>
                      </a:r>
                    </a:p>
                  </a:txBody>
                  <a:tcPr>
                    <a:solidFill>
                      <a:srgbClr val="142D46"/>
                    </a:solidFill>
                  </a:tcPr>
                </a:tc>
                <a:tc>
                  <a:txBody>
                    <a:bodyPr/>
                    <a:lstStyle/>
                    <a:p>
                      <a:pPr>
                        <a:defRPr sz="1100" b="1">
                          <a:solidFill>
                            <a:srgbClr val="FBBF24"/>
                          </a:solidFill>
                        </a:defRPr>
                      </a:pPr>
                      <a:r>
                        <a:t>AUROC 0.7968        AUPRC 0.3845</a:t>
                      </a:r>
                    </a:p>
                  </a:txBody>
                  <a:tcPr>
                    <a:solidFill>
                      <a:srgbClr val="142D46"/>
                    </a:solidFill>
                  </a:tcPr>
                </a:tc>
              </a:tr>
            </a:tbl>
          </a:graphicData>
        </a:graphic>
      </p:graphicFrame>
      <p:sp>
        <p:nvSpPr>
          <p:cNvPr id="7" name="TextBox 6"/>
          <p:cNvSpPr txBox="1"/>
          <p:nvPr/>
        </p:nvSpPr>
        <p:spPr>
          <a:xfrm>
            <a:off x="868680" y="4297680"/>
            <a:ext cx="10515600" cy="1965960"/>
          </a:xfrm>
          <a:prstGeom prst="rect">
            <a:avLst/>
          </a:prstGeom>
          <a:noFill/>
        </p:spPr>
        <p:txBody>
          <a:bodyPr wrap="square">
            <a:spAutoFit/>
          </a:bodyPr>
          <a:lstStyle/>
          <a:p>
            <a:pPr>
              <a:defRPr sz="1300" b="1">
                <a:solidFill>
                  <a:srgbClr val="34D399"/>
                </a:solidFill>
                <a:latin typeface="Calibri"/>
              </a:defRPr>
            </a:pPr>
            <a:r>
              <a:t>The model trained on the refined definition performs better even when judged against the ORIGINAL definition, which it was never trained for: AUROC +0.0026 and AUPRC +4.0% relative.</a:t>
            </a:r>
          </a:p>
          <a:p>
            <a:br/>
            <a:pPr>
              <a:defRPr sz="1150" b="0">
                <a:solidFill>
                  <a:srgbClr val="F8FAFC"/>
                </a:solidFill>
                <a:latin typeface="Calibri"/>
              </a:defRPr>
            </a:pPr>
            <a:r>
              <a:t>The refined definition is therefore a better training signal, and the fall in headline lift is attributable entirely to the harder target rather than to a degraded label.</a:t>
            </a:r>
          </a:p>
          <a:p>
            <a:br/>
            <a:pPr>
              <a:defRPr sz="1050" b="0">
                <a:solidFill>
                  <a:srgbClr val="94A3B8"/>
                </a:solidFill>
                <a:latin typeface="Calibri"/>
              </a:defRPr>
            </a:pPr>
            <a:r>
              <a:t>Sizing this honestly: the AUROC gain of +0.0026 lies inside the confidence interval and should not be presented as decisive on its own. The AUPRC gain is the more credible of the two, because AUPRC is not inflated by the large true-negative pool that a rare outcome produces. The comparison is valid only because split assignment is a deterministic function of patient identifier, so the same patient is a test patient under both definitions and the two models are scored on identical people.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Alarm Consolidation: the Episode-Gap Parameter</a:t>
            </a:r>
          </a:p>
        </p:txBody>
      </p:sp>
      <p:sp>
        <p:nvSpPr>
          <p:cNvPr id="3" name="Rounded Rectangle 2"/>
          <p:cNvSpPr/>
          <p:nvPr/>
        </p:nvSpPr>
        <p:spPr>
          <a:xfrm>
            <a:off x="548640" y="1143000"/>
            <a:ext cx="1110996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p_curve.png"/>
          <p:cNvPicPr>
            <a:picLocks noChangeAspect="1"/>
          </p:cNvPicPr>
          <p:nvPr/>
        </p:nvPicPr>
        <p:blipFill>
          <a:blip r:embed="rId2"/>
          <a:stretch>
            <a:fillRect/>
          </a:stretch>
        </p:blipFill>
        <p:spPr>
          <a:xfrm>
            <a:off x="777240" y="1371600"/>
            <a:ext cx="6858000" cy="3355089"/>
          </a:xfrm>
          <a:prstGeom prst="rect">
            <a:avLst/>
          </a:prstGeom>
        </p:spPr>
      </p:pic>
      <p:sp>
        <p:nvSpPr>
          <p:cNvPr id="5" name="TextBox 4"/>
          <p:cNvSpPr txBox="1"/>
          <p:nvPr/>
        </p:nvSpPr>
        <p:spPr>
          <a:xfrm>
            <a:off x="7863840" y="1325880"/>
            <a:ext cx="3611880" cy="4937760"/>
          </a:xfrm>
          <a:prstGeom prst="rect">
            <a:avLst/>
          </a:prstGeom>
          <a:noFill/>
        </p:spPr>
        <p:txBody>
          <a:bodyPr wrap="square">
            <a:spAutoFit/>
          </a:bodyPr>
          <a:lstStyle/>
          <a:p>
            <a:pPr>
              <a:defRPr sz="1150" b="1">
                <a:solidFill>
                  <a:srgbClr val="38BDF8"/>
                </a:solidFill>
                <a:latin typeface="Calibri"/>
              </a:defRPr>
            </a:pPr>
            <a:r>
              <a:t>WHAT THE PARAMETER IS</a:t>
            </a:r>
          </a:p>
          <a:p>
            <a:pPr>
              <a:defRPr sz="1050" b="0">
                <a:solidFill>
                  <a:srgbClr val="F8FAFC"/>
                </a:solidFill>
                <a:latin typeface="Calibri"/>
              </a:defRPr>
            </a:pPr>
            <a:r>
              <a:t>The maximum interval between two alerting hours for them to be counted as one alarm rather than two.</a:t>
            </a:r>
          </a:p>
          <a:p>
            <a:br/>
            <a:pPr>
              <a:defRPr sz="1150" b="1">
                <a:solidFill>
                  <a:srgbClr val="38BDF8"/>
                </a:solidFill>
                <a:latin typeface="Calibri"/>
              </a:defRPr>
            </a:pPr>
            <a:r>
              <a:t>PUBLISHED PRECEDENT</a:t>
            </a:r>
          </a:p>
          <a:p>
            <a:pPr>
              <a:defRPr sz="1050" b="0">
                <a:solidFill>
                  <a:srgbClr val="F8FAFC"/>
                </a:solidFill>
                <a:latin typeface="Calibri"/>
              </a:defRPr>
            </a:pPr>
            <a:r>
              <a:t>Alarm consolidation is standard practice in deployed early-warning systems. Reported windows:</a:t>
            </a:r>
          </a:p>
          <a:p>
            <a:br/>
            <a:pPr>
              <a:defRPr sz="950" b="1">
                <a:solidFill>
                  <a:srgbClr val="FBBF24"/>
                </a:solidFill>
                <a:latin typeface="Calibri"/>
              </a:defRPr>
            </a:pPr>
            <a:r>
              <a:t>4 hours     MEWS++, Mount Sinai</a:t>
            </a:r>
            <a:br/>
            <a:br/>
            <a:r>
              <a:t>6 hours     DETERIO, UC San Diego —</a:t>
            </a:r>
            <a:br/>
            <a:r>
              <a:t>                 declared explicitly as an</a:t>
            </a:r>
            <a:br/>
            <a:r>
              <a:t>                 end-user clinical response</a:t>
            </a:r>
            <a:br/>
            <a:r>
              <a:t>                 policy rather than a model</a:t>
            </a:r>
            <a:br/>
            <a:r>
              <a:t>                 property</a:t>
            </a:r>
            <a:br/>
            <a:br/>
            <a:r>
              <a:t>8 hours     MC-EWS, Mayo Clinic</a:t>
            </a:r>
            <a:br/>
            <a:br/>
            <a:r>
              <a:t>4–48 hrs    range reported across the</a:t>
            </a:r>
            <a:br/>
            <a:r>
              <a:t>                 fourteen systems in the</a:t>
            </a:r>
            <a:br/>
            <a:r>
              <a:t>                 JAMIA 2024 review</a:t>
            </a:r>
          </a:p>
          <a:p>
            <a:br/>
            <a:pPr>
              <a:defRPr sz="1150" b="1">
                <a:solidFill>
                  <a:srgbClr val="38BDF8"/>
                </a:solidFill>
                <a:latin typeface="Calibri"/>
              </a:defRPr>
            </a:pPr>
            <a:r>
              <a:t>WHY TWO HOURS WAS SELECTED</a:t>
            </a:r>
          </a:p>
          <a:p>
            <a:pPr>
              <a:defRPr sz="1050" b="0">
                <a:solidFill>
                  <a:srgbClr val="F8FAFC"/>
                </a:solidFill>
                <a:latin typeface="Calibri"/>
              </a:defRPr>
            </a:pPr>
            <a:r>
              <a:t>Patient recall is identical at every setting, so this parameter affects only how alarms are counted and never how many patients are detected.</a:t>
            </a:r>
          </a:p>
          <a:p>
            <a:br/>
            <a:pPr>
              <a:defRPr sz="1050" b="0">
                <a:solidFill>
                  <a:srgbClr val="FBBF24"/>
                </a:solidFill>
                <a:latin typeface="Calibri"/>
              </a:defRPr>
            </a:pPr>
            <a:r>
              <a:t>A twelve-hour window would report precision of 0.446 rather than 0.331 with no change to the model. Two hours is the shortest window that consolidates a single-hour dip below threshold, and nothing beyond that.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The Operating Point: Where the Alert Threshold Is Set</a:t>
            </a:r>
          </a:p>
        </p:txBody>
      </p:sp>
      <p:sp>
        <p:nvSpPr>
          <p:cNvPr id="3" name="Rounded Rectangle 2"/>
          <p:cNvSpPr/>
          <p:nvPr/>
        </p:nvSpPr>
        <p:spPr>
          <a:xfrm>
            <a:off x="548640" y="1143000"/>
            <a:ext cx="1110996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ens_curve.png"/>
          <p:cNvPicPr>
            <a:picLocks noChangeAspect="1"/>
          </p:cNvPicPr>
          <p:nvPr/>
        </p:nvPicPr>
        <p:blipFill>
          <a:blip r:embed="rId2"/>
          <a:stretch>
            <a:fillRect/>
          </a:stretch>
        </p:blipFill>
        <p:spPr>
          <a:xfrm>
            <a:off x="777240" y="1371600"/>
            <a:ext cx="6858000" cy="3355089"/>
          </a:xfrm>
          <a:prstGeom prst="rect">
            <a:avLst/>
          </a:prstGeom>
        </p:spPr>
      </p:pic>
      <p:sp>
        <p:nvSpPr>
          <p:cNvPr id="5" name="TextBox 4"/>
          <p:cNvSpPr txBox="1"/>
          <p:nvPr/>
        </p:nvSpPr>
        <p:spPr>
          <a:xfrm>
            <a:off x="7863840" y="1325880"/>
            <a:ext cx="3611880" cy="4937760"/>
          </a:xfrm>
          <a:prstGeom prst="rect">
            <a:avLst/>
          </a:prstGeom>
          <a:noFill/>
        </p:spPr>
        <p:txBody>
          <a:bodyPr wrap="square">
            <a:spAutoFit/>
          </a:bodyPr>
          <a:lstStyle/>
          <a:p>
            <a:pPr>
              <a:defRPr sz="1150" b="1">
                <a:solidFill>
                  <a:srgbClr val="38BDF8"/>
                </a:solidFill>
                <a:latin typeface="Calibri"/>
              </a:defRPr>
            </a:pPr>
            <a:r>
              <a:t>HOW THE THRESHOLD IS SET</a:t>
            </a:r>
          </a:p>
          <a:p>
            <a:pPr>
              <a:defRPr sz="1050" b="0">
                <a:solidFill>
                  <a:srgbClr val="F8FAFC"/>
                </a:solidFill>
                <a:latin typeface="Calibri"/>
              </a:defRPr>
            </a:pPr>
            <a:r>
              <a:t>On the calibration split, take the score below which only a chosen fraction of true events fall. Freeze that value. Apply it unchanged to the test split.</a:t>
            </a:r>
          </a:p>
          <a:p>
            <a:br/>
            <a:pPr>
              <a:defRPr sz="1050" b="0">
                <a:solidFill>
                  <a:srgbClr val="94A3B8"/>
                </a:solidFill>
                <a:latin typeface="Calibri"/>
              </a:defRPr>
            </a:pPr>
            <a:r>
              <a:t>At a target of 80%, the out-of-sample sensitivity is 81.1%. The small discrepancy confirms the score distribution transfers between splits; a large one would indicate distribution shift.</a:t>
            </a:r>
          </a:p>
          <a:p>
            <a:br/>
            <a:pPr>
              <a:defRPr sz="1150" b="1">
                <a:solidFill>
                  <a:srgbClr val="38BDF8"/>
                </a:solidFill>
                <a:latin typeface="Calibri"/>
              </a:defRPr>
            </a:pPr>
            <a:r>
              <a:t>WHY LIFT IS THE HONEST METRIC</a:t>
            </a:r>
          </a:p>
          <a:p>
            <a:pPr>
              <a:defRPr sz="1150" b="1">
                <a:solidFill>
                  <a:srgbClr val="FBBF24"/>
                </a:solidFill>
                <a:latin typeface="Calibri"/>
              </a:defRPr>
            </a:pPr>
            <a:r>
              <a:t>Lift  =  episode PPV  ÷  base rate</a:t>
            </a:r>
          </a:p>
          <a:p>
            <a:pPr>
              <a:defRPr sz="1050" b="0">
                <a:solidFill>
                  <a:srgbClr val="F8FAFC"/>
                </a:solidFill>
                <a:latin typeface="Calibri"/>
              </a:defRPr>
            </a:pPr>
            <a:r>
              <a:t>A value of 1.0 means an alarm carries no more information than selecting a patient at random; the ceiling is one divided by the base rate. Because the base rate is constant along this curve, rising lift represents a real increase in the information each alarm carries.</a:t>
            </a:r>
          </a:p>
          <a:p>
            <a:br/>
            <a:pPr>
              <a:defRPr sz="1150" b="1">
                <a:solidFill>
                  <a:srgbClr val="38BDF8"/>
                </a:solidFill>
                <a:latin typeface="Calibri"/>
              </a:defRPr>
            </a:pPr>
            <a:r>
              <a:t>THE TRADE, QUANTIFIED</a:t>
            </a:r>
          </a:p>
          <a:p>
            <a:pPr>
              <a:defRPr sz="1050" b="0">
                <a:solidFill>
                  <a:srgbClr val="F8FAFC"/>
                </a:solidFill>
                <a:latin typeface="Calibri"/>
              </a:defRPr>
            </a:pPr>
            <a:r>
              <a:t>Lowering the sensitivity target raises precision monotonically from 0.331 at 80% to 0.578 at 20%, and raises lift from 2.75× to 4.80×. The cost is detection: patient recall falls from 0.967 to 0.494.</a:t>
            </a:r>
          </a:p>
          <a:p>
            <a:br/>
            <a:pPr>
              <a:defRPr sz="1050" b="0">
                <a:solidFill>
                  <a:srgbClr val="FBBF24"/>
                </a:solidFill>
                <a:latin typeface="Calibri"/>
              </a:defRPr>
            </a:pPr>
            <a:r>
              <a:t>Deployed systems in the reviewed literature operate between 25% and 63% sensitivity, chosen to match the alarm volume a ward can absorb.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JAMIA 2024 SYSTEMATIC REVIEW — FOURTEEN SYSTEMS — PLUS DETERIO, UC SAN DIEGO</a:t>
            </a:r>
          </a:p>
          <a:p>
            <a:pPr>
              <a:defRPr sz="2000" b="1">
                <a:solidFill>
                  <a:srgbClr val="F8FAFC"/>
                </a:solidFill>
                <a:latin typeface="Calibri"/>
              </a:defRPr>
            </a:pPr>
            <a:r>
              <a:t>Comparison Against Published Deterioration Systems</a:t>
            </a:r>
          </a:p>
        </p:txBody>
      </p:sp>
      <p:sp>
        <p:nvSpPr>
          <p:cNvPr id="3" name="Rounded Rectangle 2"/>
          <p:cNvSpPr/>
          <p:nvPr/>
        </p:nvSpPr>
        <p:spPr>
          <a:xfrm>
            <a:off x="548640" y="1097280"/>
            <a:ext cx="594360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280160"/>
          <a:ext cx="5623560" cy="3977639"/>
        </p:xfrm>
        <a:graphic>
          <a:graphicData uri="http://schemas.openxmlformats.org/drawingml/2006/table">
            <a:tbl>
              <a:tblPr firstRow="1" bandRow="1">
                <a:tableStyleId>{5C22544A-7EE6-4342-B048-85BDC9FD1C3A}</a:tableStyleId>
              </a:tblPr>
              <a:tblGrid>
                <a:gridCol w="1600200"/>
                <a:gridCol w="1417320"/>
                <a:gridCol w="548640"/>
                <a:gridCol w="594360"/>
                <a:gridCol w="777240"/>
                <a:gridCol w="685800"/>
              </a:tblGrid>
              <a:tr h="284117">
                <a:tc>
                  <a:txBody>
                    <a:bodyPr/>
                    <a:lstStyle/>
                    <a:p>
                      <a:pPr>
                        <a:defRPr sz="850" b="1">
                          <a:solidFill>
                            <a:srgbClr val="FFFFFF"/>
                          </a:solidFill>
                        </a:defRPr>
                      </a:pPr>
                      <a:r>
                        <a:t>System</a:t>
                      </a:r>
                    </a:p>
                  </a:txBody>
                  <a:tcPr>
                    <a:solidFill>
                      <a:srgbClr val="1E3A8A"/>
                    </a:solidFill>
                  </a:tcPr>
                </a:tc>
                <a:tc>
                  <a:txBody>
                    <a:bodyPr/>
                    <a:lstStyle/>
                    <a:p>
                      <a:pPr>
                        <a:defRPr sz="850" b="1">
                          <a:solidFill>
                            <a:srgbClr val="FFFFFF"/>
                          </a:solidFill>
                        </a:defRPr>
                      </a:pPr>
                      <a:r>
                        <a:t>Model family</a:t>
                      </a:r>
                    </a:p>
                  </a:txBody>
                  <a:tcPr>
                    <a:solidFill>
                      <a:srgbClr val="1E3A8A"/>
                    </a:solidFill>
                  </a:tcPr>
                </a:tc>
                <a:tc>
                  <a:txBody>
                    <a:bodyPr/>
                    <a:lstStyle/>
                    <a:p>
                      <a:pPr>
                        <a:defRPr sz="850" b="1">
                          <a:solidFill>
                            <a:srgbClr val="FFFFFF"/>
                          </a:solidFill>
                        </a:defRPr>
                      </a:pPr>
                      <a:r>
                        <a:t>Vars</a:t>
                      </a:r>
                    </a:p>
                  </a:txBody>
                  <a:tcPr>
                    <a:solidFill>
                      <a:srgbClr val="1E3A8A"/>
                    </a:solidFill>
                  </a:tcPr>
                </a:tc>
                <a:tc>
                  <a:txBody>
                    <a:bodyPr/>
                    <a:lstStyle/>
                    <a:p>
                      <a:pPr>
                        <a:defRPr sz="850" b="1">
                          <a:solidFill>
                            <a:srgbClr val="FFFFFF"/>
                          </a:solidFill>
                        </a:defRPr>
                      </a:pPr>
                      <a:r>
                        <a:t>Sens</a:t>
                      </a:r>
                    </a:p>
                  </a:txBody>
                  <a:tcPr>
                    <a:solidFill>
                      <a:srgbClr val="1E3A8A"/>
                    </a:solidFill>
                  </a:tcPr>
                </a:tc>
                <a:tc>
                  <a:txBody>
                    <a:bodyPr/>
                    <a:lstStyle/>
                    <a:p>
                      <a:pPr>
                        <a:defRPr sz="850" b="1">
                          <a:solidFill>
                            <a:srgbClr val="FFFFFF"/>
                          </a:solidFill>
                        </a:defRPr>
                      </a:pPr>
                      <a:r>
                        <a:t>PPV</a:t>
                      </a:r>
                    </a:p>
                  </a:txBody>
                  <a:tcPr>
                    <a:solidFill>
                      <a:srgbClr val="1E3A8A"/>
                    </a:solidFill>
                  </a:tcPr>
                </a:tc>
                <a:tc>
                  <a:txBody>
                    <a:bodyPr/>
                    <a:lstStyle/>
                    <a:p>
                      <a:pPr>
                        <a:defRPr sz="850" b="1">
                          <a:solidFill>
                            <a:srgbClr val="FFFFFF"/>
                          </a:solidFill>
                        </a:defRPr>
                      </a:pPr>
                      <a:r>
                        <a:t>AUROC</a:t>
                      </a:r>
                    </a:p>
                  </a:txBody>
                  <a:tcPr>
                    <a:solidFill>
                      <a:srgbClr val="1E3A8A"/>
                    </a:solidFill>
                  </a:tcPr>
                </a:tc>
              </a:tr>
              <a:tr h="284117">
                <a:tc>
                  <a:txBody>
                    <a:bodyPr/>
                    <a:lstStyle/>
                    <a:p>
                      <a:pPr>
                        <a:defRPr sz="850" b="1">
                          <a:solidFill>
                            <a:srgbClr val="FBBF24"/>
                          </a:solidFill>
                        </a:defRPr>
                      </a:pPr>
                      <a:r>
                        <a:t>OUR MODEL, 12h</a:t>
                      </a:r>
                    </a:p>
                  </a:txBody>
                  <a:tcPr>
                    <a:solidFill>
                      <a:srgbClr val="142D46"/>
                    </a:solidFill>
                  </a:tcPr>
                </a:tc>
                <a:tc>
                  <a:txBody>
                    <a:bodyPr/>
                    <a:lstStyle/>
                    <a:p>
                      <a:pPr>
                        <a:defRPr sz="850" b="1">
                          <a:solidFill>
                            <a:srgbClr val="FBBF24"/>
                          </a:solidFill>
                        </a:defRPr>
                      </a:pPr>
                      <a:r>
                        <a:t>Discrete-time hazard</a:t>
                      </a:r>
                    </a:p>
                  </a:txBody>
                  <a:tcPr>
                    <a:solidFill>
                      <a:srgbClr val="142D46"/>
                    </a:solidFill>
                  </a:tcPr>
                </a:tc>
                <a:tc>
                  <a:txBody>
                    <a:bodyPr/>
                    <a:lstStyle/>
                    <a:p>
                      <a:pPr>
                        <a:defRPr sz="850" b="1">
                          <a:solidFill>
                            <a:srgbClr val="FBBF24"/>
                          </a:solidFill>
                        </a:defRPr>
                      </a:pPr>
                      <a:r>
                        <a:t>55</a:t>
                      </a:r>
                    </a:p>
                  </a:txBody>
                  <a:tcPr>
                    <a:solidFill>
                      <a:srgbClr val="142D46"/>
                    </a:solidFill>
                  </a:tcPr>
                </a:tc>
                <a:tc>
                  <a:txBody>
                    <a:bodyPr/>
                    <a:lstStyle/>
                    <a:p>
                      <a:pPr>
                        <a:defRPr sz="850" b="1">
                          <a:solidFill>
                            <a:srgbClr val="FBBF24"/>
                          </a:solidFill>
                        </a:defRPr>
                      </a:pPr>
                      <a:r>
                        <a:t>81%</a:t>
                      </a:r>
                    </a:p>
                  </a:txBody>
                  <a:tcPr>
                    <a:solidFill>
                      <a:srgbClr val="142D46"/>
                    </a:solidFill>
                  </a:tcPr>
                </a:tc>
                <a:tc>
                  <a:txBody>
                    <a:bodyPr/>
                    <a:lstStyle/>
                    <a:p>
                      <a:pPr>
                        <a:defRPr sz="850" b="1">
                          <a:solidFill>
                            <a:srgbClr val="FBBF24"/>
                          </a:solidFill>
                        </a:defRPr>
                      </a:pPr>
                      <a:r>
                        <a:t>33.1%</a:t>
                      </a:r>
                    </a:p>
                  </a:txBody>
                  <a:tcPr>
                    <a:solidFill>
                      <a:srgbClr val="142D46"/>
                    </a:solidFill>
                  </a:tcPr>
                </a:tc>
                <a:tc>
                  <a:txBody>
                    <a:bodyPr/>
                    <a:lstStyle/>
                    <a:p>
                      <a:pPr>
                        <a:defRPr sz="850" b="1">
                          <a:solidFill>
                            <a:srgbClr val="FBBF24"/>
                          </a:solidFill>
                        </a:defRPr>
                      </a:pPr>
                      <a:r>
                        <a:t>0.812</a:t>
                      </a:r>
                    </a:p>
                  </a:txBody>
                  <a:tcPr>
                    <a:solidFill>
                      <a:srgbClr val="142D46"/>
                    </a:solidFill>
                  </a:tcPr>
                </a:tc>
              </a:tr>
              <a:tr h="284117">
                <a:tc>
                  <a:txBody>
                    <a:bodyPr/>
                    <a:lstStyle/>
                    <a:p>
                      <a:pPr>
                        <a:defRPr sz="850" b="0">
                          <a:solidFill>
                            <a:srgbClr val="F8FAFC"/>
                          </a:solidFill>
                        </a:defRPr>
                      </a:pPr>
                      <a:r>
                        <a:t>MEWS++, Mount Sinai</a:t>
                      </a:r>
                    </a:p>
                  </a:txBody>
                  <a:tcPr>
                    <a:solidFill>
                      <a:srgbClr val="1E293B"/>
                    </a:solidFill>
                  </a:tcPr>
                </a:tc>
                <a:tc>
                  <a:txBody>
                    <a:bodyPr/>
                    <a:lstStyle/>
                    <a:p>
                      <a:pPr>
                        <a:defRPr sz="850" b="0">
                          <a:solidFill>
                            <a:srgbClr val="F8FAFC"/>
                          </a:solidFill>
                        </a:defRPr>
                      </a:pPr>
                      <a:r>
                        <a:t>Random forest</a:t>
                      </a:r>
                    </a:p>
                  </a:txBody>
                  <a:tcPr>
                    <a:solidFill>
                      <a:srgbClr val="1E293B"/>
                    </a:solidFill>
                  </a:tcPr>
                </a:tc>
                <a:tc>
                  <a:txBody>
                    <a:bodyPr/>
                    <a:lstStyle/>
                    <a:p>
                      <a:pPr>
                        <a:defRPr sz="850" b="0">
                          <a:solidFill>
                            <a:srgbClr val="F8FAFC"/>
                          </a:solidFill>
                        </a:defRPr>
                      </a:pPr>
                      <a:r>
                        <a:t>36</a:t>
                      </a:r>
                    </a:p>
                  </a:txBody>
                  <a:tcPr>
                    <a:solidFill>
                      <a:srgbClr val="1E293B"/>
                    </a:solidFill>
                  </a:tcPr>
                </a:tc>
                <a:tc>
                  <a:txBody>
                    <a:bodyPr/>
                    <a:lstStyle/>
                    <a:p>
                      <a:pPr>
                        <a:defRPr sz="850" b="0">
                          <a:solidFill>
                            <a:srgbClr val="F8FAFC"/>
                          </a:solidFill>
                        </a:defRPr>
                      </a:pPr>
                      <a:r>
                        <a:t>79%</a:t>
                      </a:r>
                    </a:p>
                  </a:txBody>
                  <a:tcPr>
                    <a:solidFill>
                      <a:srgbClr val="1E293B"/>
                    </a:solidFill>
                  </a:tcPr>
                </a:tc>
                <a:tc>
                  <a:txBody>
                    <a:bodyPr/>
                    <a:lstStyle/>
                    <a:p>
                      <a:pPr>
                        <a:defRPr sz="850" b="0">
                          <a:solidFill>
                            <a:srgbClr val="F8FAFC"/>
                          </a:solidFill>
                        </a:defRPr>
                      </a:pPr>
                      <a:r>
                        <a:t>12%</a:t>
                      </a:r>
                    </a:p>
                  </a:txBody>
                  <a:tcPr>
                    <a:solidFill>
                      <a:srgbClr val="1E293B"/>
                    </a:solidFill>
                  </a:tcPr>
                </a:tc>
                <a:tc>
                  <a:txBody>
                    <a:bodyPr/>
                    <a:lstStyle/>
                    <a:p>
                      <a:pPr>
                        <a:defRPr sz="850" b="0">
                          <a:solidFill>
                            <a:srgbClr val="F8FAFC"/>
                          </a:solidFill>
                        </a:defRPr>
                      </a:pPr>
                      <a:r>
                        <a:t>0.88</a:t>
                      </a:r>
                    </a:p>
                  </a:txBody>
                  <a:tcPr>
                    <a:solidFill>
                      <a:srgbClr val="1E293B"/>
                    </a:solidFill>
                  </a:tcPr>
                </a:tc>
              </a:tr>
              <a:tr h="284117">
                <a:tc>
                  <a:txBody>
                    <a:bodyPr/>
                    <a:lstStyle/>
                    <a:p>
                      <a:pPr>
                        <a:defRPr sz="850" b="0">
                          <a:solidFill>
                            <a:srgbClr val="F8FAFC"/>
                          </a:solidFill>
                        </a:defRPr>
                      </a:pPr>
                      <a:r>
                        <a:t>MC-EWS, Mayo</a:t>
                      </a:r>
                    </a:p>
                  </a:txBody>
                  <a:tcPr>
                    <a:solidFill>
                      <a:srgbClr val="1E293B"/>
                    </a:solidFill>
                  </a:tcPr>
                </a:tc>
                <a:tc>
                  <a:txBody>
                    <a:bodyPr/>
                    <a:lstStyle/>
                    <a:p>
                      <a:pPr>
                        <a:defRPr sz="850" b="0">
                          <a:solidFill>
                            <a:srgbClr val="F8FAFC"/>
                          </a:solidFill>
                        </a:defRPr>
                      </a:pPr>
                      <a:r>
                        <a:t>Gradient boosting</a:t>
                      </a:r>
                    </a:p>
                  </a:txBody>
                  <a:tcPr>
                    <a:solidFill>
                      <a:srgbClr val="1E293B"/>
                    </a:solidFill>
                  </a:tcPr>
                </a:tc>
                <a:tc>
                  <a:txBody>
                    <a:bodyPr/>
                    <a:lstStyle/>
                    <a:p>
                      <a:pPr>
                        <a:defRPr sz="850" b="0">
                          <a:solidFill>
                            <a:srgbClr val="F8FAFC"/>
                          </a:solidFill>
                        </a:defRPr>
                      </a:pPr>
                      <a:r>
                        <a:t>59</a:t>
                      </a:r>
                    </a:p>
                  </a:txBody>
                  <a:tcPr>
                    <a:solidFill>
                      <a:srgbClr val="1E293B"/>
                    </a:solidFill>
                  </a:tcPr>
                </a:tc>
                <a:tc>
                  <a:txBody>
                    <a:bodyPr/>
                    <a:lstStyle/>
                    <a:p>
                      <a:pPr>
                        <a:defRPr sz="850" b="0">
                          <a:solidFill>
                            <a:srgbClr val="F8FAFC"/>
                          </a:solidFill>
                        </a:defRPr>
                      </a:pPr>
                      <a:r>
                        <a:t>73%</a:t>
                      </a:r>
                    </a:p>
                  </a:txBody>
                  <a:tcPr>
                    <a:solidFill>
                      <a:srgbClr val="1E293B"/>
                    </a:solidFill>
                  </a:tcPr>
                </a:tc>
                <a:tc>
                  <a:txBody>
                    <a:bodyPr/>
                    <a:lstStyle/>
                    <a:p>
                      <a:pPr>
                        <a:defRPr sz="850" b="0">
                          <a:solidFill>
                            <a:srgbClr val="F8FAFC"/>
                          </a:solidFill>
                        </a:defRPr>
                      </a:pPr>
                      <a:r>
                        <a:t>12%</a:t>
                      </a:r>
                    </a:p>
                  </a:txBody>
                  <a:tcPr>
                    <a:solidFill>
                      <a:srgbClr val="1E293B"/>
                    </a:solidFill>
                  </a:tcPr>
                </a:tc>
                <a:tc>
                  <a:txBody>
                    <a:bodyPr/>
                    <a:lstStyle/>
                    <a:p>
                      <a:pPr>
                        <a:defRPr sz="850" b="0">
                          <a:solidFill>
                            <a:srgbClr val="F8FAFC"/>
                          </a:solidFill>
                        </a:defRPr>
                      </a:pPr>
                      <a:r>
                        <a:t>0.91–0.94</a:t>
                      </a:r>
                    </a:p>
                  </a:txBody>
                  <a:tcPr>
                    <a:solidFill>
                      <a:srgbClr val="1E293B"/>
                    </a:solidFill>
                  </a:tcPr>
                </a:tc>
              </a:tr>
              <a:tr h="284117">
                <a:tc>
                  <a:txBody>
                    <a:bodyPr/>
                    <a:lstStyle/>
                    <a:p>
                      <a:pPr>
                        <a:defRPr sz="850" b="0">
                          <a:solidFill>
                            <a:srgbClr val="F8FAFC"/>
                          </a:solidFill>
                        </a:defRPr>
                      </a:pPr>
                      <a:r>
                        <a:t>eCART, Chicago</a:t>
                      </a:r>
                    </a:p>
                  </a:txBody>
                  <a:tcPr>
                    <a:solidFill>
                      <a:srgbClr val="1E293B"/>
                    </a:solidFill>
                  </a:tcPr>
                </a:tc>
                <a:tc>
                  <a:txBody>
                    <a:bodyPr/>
                    <a:lstStyle/>
                    <a:p>
                      <a:pPr>
                        <a:defRPr sz="850" b="0">
                          <a:solidFill>
                            <a:srgbClr val="F8FAFC"/>
                          </a:solidFill>
                        </a:defRPr>
                      </a:pPr>
                      <a:r>
                        <a:t>Logistic regression</a:t>
                      </a:r>
                    </a:p>
                  </a:txBody>
                  <a:tcPr>
                    <a:solidFill>
                      <a:srgbClr val="1E293B"/>
                    </a:solidFill>
                  </a:tcPr>
                </a:tc>
                <a:tc>
                  <a:txBody>
                    <a:bodyPr/>
                    <a:lstStyle/>
                    <a:p>
                      <a:pPr>
                        <a:defRPr sz="850" b="0">
                          <a:solidFill>
                            <a:srgbClr val="F8FAFC"/>
                          </a:solidFill>
                        </a:defRPr>
                      </a:pPr>
                      <a:r>
                        <a:t>27–33</a:t>
                      </a:r>
                    </a:p>
                  </a:txBody>
                  <a:tcPr>
                    <a:solidFill>
                      <a:srgbClr val="1E293B"/>
                    </a:solidFill>
                  </a:tcPr>
                </a:tc>
                <a:tc>
                  <a:txBody>
                    <a:bodyPr/>
                    <a:lstStyle/>
                    <a:p>
                      <a:pPr>
                        <a:defRPr sz="850" b="0">
                          <a:solidFill>
                            <a:srgbClr val="F8FAFC"/>
                          </a:solidFill>
                        </a:defRPr>
                      </a:pPr>
                      <a:r>
                        <a:t>60–77%</a:t>
                      </a:r>
                    </a:p>
                  </a:txBody>
                  <a:tcPr>
                    <a:solidFill>
                      <a:srgbClr val="1E293B"/>
                    </a:solidFill>
                  </a:tcPr>
                </a:tc>
                <a:tc>
                  <a:txBody>
                    <a:bodyPr/>
                    <a:lstStyle/>
                    <a:p>
                      <a:pPr>
                        <a:defRPr sz="850" b="0">
                          <a:solidFill>
                            <a:srgbClr val="F8FAFC"/>
                          </a:solidFill>
                        </a:defRPr>
                      </a:pPr>
                      <a:r>
                        <a:t>—</a:t>
                      </a:r>
                    </a:p>
                  </a:txBody>
                  <a:tcPr>
                    <a:solidFill>
                      <a:srgbClr val="1E293B"/>
                    </a:solidFill>
                  </a:tcPr>
                </a:tc>
                <a:tc>
                  <a:txBody>
                    <a:bodyPr/>
                    <a:lstStyle/>
                    <a:p>
                      <a:pPr>
                        <a:defRPr sz="850" b="0">
                          <a:solidFill>
                            <a:srgbClr val="F8FAFC"/>
                          </a:solidFill>
                        </a:defRPr>
                      </a:pPr>
                      <a:r>
                        <a:t>0.88</a:t>
                      </a:r>
                    </a:p>
                  </a:txBody>
                  <a:tcPr>
                    <a:solidFill>
                      <a:srgbClr val="1E293B"/>
                    </a:solidFill>
                  </a:tcPr>
                </a:tc>
              </a:tr>
              <a:tr h="284117">
                <a:tc>
                  <a:txBody>
                    <a:bodyPr/>
                    <a:lstStyle/>
                    <a:p>
                      <a:pPr>
                        <a:defRPr sz="850" b="0">
                          <a:solidFill>
                            <a:srgbClr val="F8FAFC"/>
                          </a:solidFill>
                        </a:defRPr>
                      </a:pPr>
                      <a:r>
                        <a:t>APPROVE, Mayo</a:t>
                      </a:r>
                    </a:p>
                  </a:txBody>
                  <a:tcPr>
                    <a:solidFill>
                      <a:srgbClr val="1E293B"/>
                    </a:solidFill>
                  </a:tcPr>
                </a:tc>
                <a:tc>
                  <a:txBody>
                    <a:bodyPr/>
                    <a:lstStyle/>
                    <a:p>
                      <a:pPr>
                        <a:defRPr sz="850" b="0">
                          <a:solidFill>
                            <a:srgbClr val="F8FAFC"/>
                          </a:solidFill>
                        </a:defRPr>
                      </a:pPr>
                      <a:r>
                        <a:t>Random forest</a:t>
                      </a:r>
                    </a:p>
                  </a:txBody>
                  <a:tcPr>
                    <a:solidFill>
                      <a:srgbClr val="1E293B"/>
                    </a:solidFill>
                  </a:tcPr>
                </a:tc>
                <a:tc>
                  <a:txBody>
                    <a:bodyPr/>
                    <a:lstStyle/>
                    <a:p>
                      <a:pPr>
                        <a:defRPr sz="850" b="0">
                          <a:solidFill>
                            <a:srgbClr val="F8FAFC"/>
                          </a:solidFill>
                        </a:defRPr>
                      </a:pPr>
                      <a:r>
                        <a:t>36</a:t>
                      </a:r>
                    </a:p>
                  </a:txBody>
                  <a:tcPr>
                    <a:solidFill>
                      <a:srgbClr val="1E293B"/>
                    </a:solidFill>
                  </a:tcPr>
                </a:tc>
                <a:tc>
                  <a:txBody>
                    <a:bodyPr/>
                    <a:lstStyle/>
                    <a:p>
                      <a:pPr>
                        <a:defRPr sz="850" b="0">
                          <a:solidFill>
                            <a:srgbClr val="F8FAFC"/>
                          </a:solidFill>
                        </a:defRPr>
                      </a:pPr>
                      <a:r>
                        <a:t>63%</a:t>
                      </a:r>
                    </a:p>
                  </a:txBody>
                  <a:tcPr>
                    <a:solidFill>
                      <a:srgbClr val="1E293B"/>
                    </a:solidFill>
                  </a:tcPr>
                </a:tc>
                <a:tc>
                  <a:txBody>
                    <a:bodyPr/>
                    <a:lstStyle/>
                    <a:p>
                      <a:pPr>
                        <a:defRPr sz="850" b="0">
                          <a:solidFill>
                            <a:srgbClr val="F8FAFC"/>
                          </a:solidFill>
                        </a:defRPr>
                      </a:pPr>
                      <a:r>
                        <a:t>21%</a:t>
                      </a:r>
                    </a:p>
                  </a:txBody>
                  <a:tcPr>
                    <a:solidFill>
                      <a:srgbClr val="1E293B"/>
                    </a:solidFill>
                  </a:tcPr>
                </a:tc>
                <a:tc>
                  <a:txBody>
                    <a:bodyPr/>
                    <a:lstStyle/>
                    <a:p>
                      <a:pPr>
                        <a:defRPr sz="850" b="0">
                          <a:solidFill>
                            <a:srgbClr val="F8FAFC"/>
                          </a:solidFill>
                        </a:defRPr>
                      </a:pPr>
                      <a:r>
                        <a:t>0.87</a:t>
                      </a:r>
                    </a:p>
                  </a:txBody>
                  <a:tcPr>
                    <a:solidFill>
                      <a:srgbClr val="1E293B"/>
                    </a:solidFill>
                  </a:tcPr>
                </a:tc>
              </a:tr>
              <a:tr h="284117">
                <a:tc>
                  <a:txBody>
                    <a:bodyPr/>
                    <a:lstStyle/>
                    <a:p>
                      <a:pPr>
                        <a:defRPr sz="850" b="0">
                          <a:solidFill>
                            <a:srgbClr val="F8FAFC"/>
                          </a:solidFill>
                        </a:defRPr>
                      </a:pPr>
                      <a:r>
                        <a:t>Duke</a:t>
                      </a:r>
                    </a:p>
                  </a:txBody>
                  <a:tcPr>
                    <a:solidFill>
                      <a:srgbClr val="1E293B"/>
                    </a:solidFill>
                  </a:tcPr>
                </a:tc>
                <a:tc>
                  <a:txBody>
                    <a:bodyPr/>
                    <a:lstStyle/>
                    <a:p>
                      <a:pPr>
                        <a:defRPr sz="850" b="0">
                          <a:solidFill>
                            <a:srgbClr val="F8FAFC"/>
                          </a:solidFill>
                        </a:defRPr>
                      </a:pPr>
                      <a:r>
                        <a:t>XGBoost</a:t>
                      </a:r>
                    </a:p>
                  </a:txBody>
                  <a:tcPr>
                    <a:solidFill>
                      <a:srgbClr val="1E293B"/>
                    </a:solidFill>
                  </a:tcPr>
                </a:tc>
                <a:tc>
                  <a:txBody>
                    <a:bodyPr/>
                    <a:lstStyle/>
                    <a:p>
                      <a:pPr>
                        <a:defRPr sz="850" b="0">
                          <a:solidFill>
                            <a:srgbClr val="F8FAFC"/>
                          </a:solidFill>
                        </a:defRPr>
                      </a:pPr>
                      <a:r>
                        <a:t>57</a:t>
                      </a:r>
                    </a:p>
                  </a:txBody>
                  <a:tcPr>
                    <a:solidFill>
                      <a:srgbClr val="1E293B"/>
                    </a:solidFill>
                  </a:tcPr>
                </a:tc>
                <a:tc>
                  <a:txBody>
                    <a:bodyPr/>
                    <a:lstStyle/>
                    <a:p>
                      <a:pPr>
                        <a:defRPr sz="850" b="0">
                          <a:solidFill>
                            <a:srgbClr val="F8FAFC"/>
                          </a:solidFill>
                        </a:defRPr>
                      </a:pPr>
                      <a:r>
                        <a:t>60%</a:t>
                      </a:r>
                    </a:p>
                  </a:txBody>
                  <a:tcPr>
                    <a:solidFill>
                      <a:srgbClr val="1E293B"/>
                    </a:solidFill>
                  </a:tcPr>
                </a:tc>
                <a:tc>
                  <a:txBody>
                    <a:bodyPr/>
                    <a:lstStyle/>
                    <a:p>
                      <a:pPr>
                        <a:defRPr sz="850" b="0">
                          <a:solidFill>
                            <a:srgbClr val="F8FAFC"/>
                          </a:solidFill>
                        </a:defRPr>
                      </a:pPr>
                      <a:r>
                        <a:t>8–9%</a:t>
                      </a:r>
                    </a:p>
                  </a:txBody>
                  <a:tcPr>
                    <a:solidFill>
                      <a:srgbClr val="1E293B"/>
                    </a:solidFill>
                  </a:tcPr>
                </a:tc>
                <a:tc>
                  <a:txBody>
                    <a:bodyPr/>
                    <a:lstStyle/>
                    <a:p>
                      <a:pPr>
                        <a:defRPr sz="850" b="0">
                          <a:solidFill>
                            <a:srgbClr val="F8FAFC"/>
                          </a:solidFill>
                        </a:defRPr>
                      </a:pPr>
                      <a:r>
                        <a:t>0.87</a:t>
                      </a:r>
                    </a:p>
                  </a:txBody>
                  <a:tcPr>
                    <a:solidFill>
                      <a:srgbClr val="1E293B"/>
                    </a:solidFill>
                  </a:tcPr>
                </a:tc>
              </a:tr>
              <a:tr h="284117">
                <a:tc>
                  <a:txBody>
                    <a:bodyPr/>
                    <a:lstStyle/>
                    <a:p>
                      <a:pPr>
                        <a:defRPr sz="850" b="0">
                          <a:solidFill>
                            <a:srgbClr val="F8FAFC"/>
                          </a:solidFill>
                        </a:defRPr>
                      </a:pPr>
                      <a:r>
                        <a:t>DETERIO, UC San Diego</a:t>
                      </a:r>
                    </a:p>
                  </a:txBody>
                  <a:tcPr>
                    <a:solidFill>
                      <a:srgbClr val="1E293B"/>
                    </a:solidFill>
                  </a:tcPr>
                </a:tc>
                <a:tc>
                  <a:txBody>
                    <a:bodyPr/>
                    <a:lstStyle/>
                    <a:p>
                      <a:pPr>
                        <a:defRPr sz="850" b="0">
                          <a:solidFill>
                            <a:srgbClr val="F8FAFC"/>
                          </a:solidFill>
                        </a:defRPr>
                      </a:pPr>
                      <a:r>
                        <a:t>Neural network</a:t>
                      </a:r>
                    </a:p>
                  </a:txBody>
                  <a:tcPr>
                    <a:solidFill>
                      <a:srgbClr val="1E293B"/>
                    </a:solidFill>
                  </a:tcPr>
                </a:tc>
                <a:tc>
                  <a:txBody>
                    <a:bodyPr/>
                    <a:lstStyle/>
                    <a:p>
                      <a:pPr>
                        <a:defRPr sz="850" b="0">
                          <a:solidFill>
                            <a:srgbClr val="F8FAFC"/>
                          </a:solidFill>
                        </a:defRPr>
                      </a:pPr>
                      <a:r>
                        <a:t>229</a:t>
                      </a:r>
                    </a:p>
                  </a:txBody>
                  <a:tcPr>
                    <a:solidFill>
                      <a:srgbClr val="1E293B"/>
                    </a:solidFill>
                  </a:tcPr>
                </a:tc>
                <a:tc>
                  <a:txBody>
                    <a:bodyPr/>
                    <a:lstStyle/>
                    <a:p>
                      <a:pPr>
                        <a:defRPr sz="850" b="0">
                          <a:solidFill>
                            <a:srgbClr val="F8FAFC"/>
                          </a:solidFill>
                        </a:defRPr>
                      </a:pPr>
                      <a:r>
                        <a:t>46%</a:t>
                      </a:r>
                    </a:p>
                  </a:txBody>
                  <a:tcPr>
                    <a:solidFill>
                      <a:srgbClr val="1E293B"/>
                    </a:solidFill>
                  </a:tcPr>
                </a:tc>
                <a:tc>
                  <a:txBody>
                    <a:bodyPr/>
                    <a:lstStyle/>
                    <a:p>
                      <a:pPr>
                        <a:defRPr sz="850" b="0">
                          <a:solidFill>
                            <a:srgbClr val="F8FAFC"/>
                          </a:solidFill>
                        </a:defRPr>
                      </a:pPr>
                      <a:r>
                        <a:t>22%</a:t>
                      </a:r>
                    </a:p>
                  </a:txBody>
                  <a:tcPr>
                    <a:solidFill>
                      <a:srgbClr val="1E293B"/>
                    </a:solidFill>
                  </a:tcPr>
                </a:tc>
                <a:tc>
                  <a:txBody>
                    <a:bodyPr/>
                    <a:lstStyle/>
                    <a:p>
                      <a:pPr>
                        <a:defRPr sz="850" b="0">
                          <a:solidFill>
                            <a:srgbClr val="F8FAFC"/>
                          </a:solidFill>
                        </a:defRPr>
                      </a:pPr>
                      <a:r>
                        <a:t>0.775</a:t>
                      </a:r>
                    </a:p>
                  </a:txBody>
                  <a:tcPr>
                    <a:solidFill>
                      <a:srgbClr val="1E293B"/>
                    </a:solidFill>
                  </a:tcPr>
                </a:tc>
              </a:tr>
              <a:tr h="284117">
                <a:tc>
                  <a:txBody>
                    <a:bodyPr/>
                    <a:lstStyle/>
                    <a:p>
                      <a:pPr>
                        <a:defRPr sz="850" b="0">
                          <a:solidFill>
                            <a:srgbClr val="F8FAFC"/>
                          </a:solidFill>
                        </a:defRPr>
                      </a:pPr>
                      <a:r>
                        <a:t>Univ. of Washington</a:t>
                      </a:r>
                    </a:p>
                  </a:txBody>
                  <a:tcPr>
                    <a:solidFill>
                      <a:srgbClr val="1E293B"/>
                    </a:solidFill>
                  </a:tcPr>
                </a:tc>
                <a:tc>
                  <a:txBody>
                    <a:bodyPr/>
                    <a:lstStyle/>
                    <a:p>
                      <a:pPr>
                        <a:defRPr sz="850" b="0">
                          <a:solidFill>
                            <a:srgbClr val="F8FAFC"/>
                          </a:solidFill>
                        </a:defRPr>
                      </a:pPr>
                      <a:r>
                        <a:t>Logistic regression</a:t>
                      </a:r>
                    </a:p>
                  </a:txBody>
                  <a:tcPr>
                    <a:solidFill>
                      <a:srgbClr val="1E293B"/>
                    </a:solidFill>
                  </a:tcPr>
                </a:tc>
                <a:tc>
                  <a:txBody>
                    <a:bodyPr/>
                    <a:lstStyle/>
                    <a:p>
                      <a:pPr>
                        <a:defRPr sz="850" b="0">
                          <a:solidFill>
                            <a:srgbClr val="F8FAFC"/>
                          </a:solidFill>
                        </a:defRPr>
                      </a:pPr>
                      <a:r>
                        <a:t>36</a:t>
                      </a:r>
                    </a:p>
                  </a:txBody>
                  <a:tcPr>
                    <a:solidFill>
                      <a:srgbClr val="1E293B"/>
                    </a:solidFill>
                  </a:tcPr>
                </a:tc>
                <a:tc>
                  <a:txBody>
                    <a:bodyPr/>
                    <a:lstStyle/>
                    <a:p>
                      <a:pPr>
                        <a:defRPr sz="850" b="0">
                          <a:solidFill>
                            <a:srgbClr val="F8FAFC"/>
                          </a:solidFill>
                        </a:defRPr>
                      </a:pPr>
                      <a:r>
                        <a:t>41%</a:t>
                      </a:r>
                    </a:p>
                  </a:txBody>
                  <a:tcPr>
                    <a:solidFill>
                      <a:srgbClr val="1E293B"/>
                    </a:solidFill>
                  </a:tcPr>
                </a:tc>
                <a:tc>
                  <a:txBody>
                    <a:bodyPr/>
                    <a:lstStyle/>
                    <a:p>
                      <a:pPr>
                        <a:defRPr sz="850" b="0">
                          <a:solidFill>
                            <a:srgbClr val="F8FAFC"/>
                          </a:solidFill>
                        </a:defRPr>
                      </a:pPr>
                      <a:r>
                        <a:t>30%</a:t>
                      </a:r>
                    </a:p>
                  </a:txBody>
                  <a:tcPr>
                    <a:solidFill>
                      <a:srgbClr val="1E293B"/>
                    </a:solidFill>
                  </a:tcPr>
                </a:tc>
                <a:tc>
                  <a:txBody>
                    <a:bodyPr/>
                    <a:lstStyle/>
                    <a:p>
                      <a:pPr>
                        <a:defRPr sz="850" b="0">
                          <a:solidFill>
                            <a:srgbClr val="F8FAFC"/>
                          </a:solidFill>
                        </a:defRPr>
                      </a:pPr>
                      <a:r>
                        <a:t>0.73</a:t>
                      </a:r>
                    </a:p>
                  </a:txBody>
                  <a:tcPr>
                    <a:solidFill>
                      <a:srgbClr val="1E293B"/>
                    </a:solidFill>
                  </a:tcPr>
                </a:tc>
              </a:tr>
              <a:tr h="284117">
                <a:tc>
                  <a:txBody>
                    <a:bodyPr/>
                    <a:lstStyle/>
                    <a:p>
                      <a:pPr>
                        <a:defRPr sz="850" b="0">
                          <a:solidFill>
                            <a:srgbClr val="F8FAFC"/>
                          </a:solidFill>
                        </a:defRPr>
                      </a:pPr>
                      <a:r>
                        <a:t>CHARTwatch, Toronto</a:t>
                      </a:r>
                    </a:p>
                  </a:txBody>
                  <a:tcPr>
                    <a:solidFill>
                      <a:srgbClr val="1E293B"/>
                    </a:solidFill>
                  </a:tcPr>
                </a:tc>
                <a:tc>
                  <a:txBody>
                    <a:bodyPr/>
                    <a:lstStyle/>
                    <a:p>
                      <a:pPr>
                        <a:defRPr sz="850" b="0">
                          <a:solidFill>
                            <a:srgbClr val="F8FAFC"/>
                          </a:solidFill>
                        </a:defRPr>
                      </a:pPr>
                      <a:r>
                        <a:t>Ensemble</a:t>
                      </a:r>
                    </a:p>
                  </a:txBody>
                  <a:tcPr>
                    <a:solidFill>
                      <a:srgbClr val="1E293B"/>
                    </a:solidFill>
                  </a:tcPr>
                </a:tc>
                <a:tc>
                  <a:txBody>
                    <a:bodyPr/>
                    <a:lstStyle/>
                    <a:p>
                      <a:pPr>
                        <a:defRPr sz="850" b="0">
                          <a:solidFill>
                            <a:srgbClr val="F8FAFC"/>
                          </a:solidFill>
                        </a:defRPr>
                      </a:pPr>
                      <a:r>
                        <a:t>526</a:t>
                      </a:r>
                    </a:p>
                  </a:txBody>
                  <a:tcPr>
                    <a:solidFill>
                      <a:srgbClr val="1E293B"/>
                    </a:solidFill>
                  </a:tcPr>
                </a:tc>
                <a:tc>
                  <a:txBody>
                    <a:bodyPr/>
                    <a:lstStyle/>
                    <a:p>
                      <a:pPr>
                        <a:defRPr sz="850" b="0">
                          <a:solidFill>
                            <a:srgbClr val="F8FAFC"/>
                          </a:solidFill>
                        </a:defRPr>
                      </a:pPr>
                      <a:r>
                        <a:t>40%</a:t>
                      </a:r>
                    </a:p>
                  </a:txBody>
                  <a:tcPr>
                    <a:solidFill>
                      <a:srgbClr val="1E293B"/>
                    </a:solidFill>
                  </a:tcPr>
                </a:tc>
                <a:tc>
                  <a:txBody>
                    <a:bodyPr/>
                    <a:lstStyle/>
                    <a:p>
                      <a:pPr>
                        <a:defRPr sz="850" b="0">
                          <a:solidFill>
                            <a:srgbClr val="F8FAFC"/>
                          </a:solidFill>
                        </a:defRPr>
                      </a:pPr>
                      <a:r>
                        <a:t>71% → 21%</a:t>
                      </a:r>
                    </a:p>
                  </a:txBody>
                  <a:tcPr>
                    <a:solidFill>
                      <a:srgbClr val="1E293B"/>
                    </a:solidFill>
                  </a:tcPr>
                </a:tc>
                <a:tc>
                  <a:txBody>
                    <a:bodyPr/>
                    <a:lstStyle/>
                    <a:p>
                      <a:pPr>
                        <a:defRPr sz="850" b="0">
                          <a:solidFill>
                            <a:srgbClr val="F8FAFC"/>
                          </a:solidFill>
                        </a:defRPr>
                      </a:pPr>
                      <a:r>
                        <a:t>0.95 → 0.63</a:t>
                      </a:r>
                    </a:p>
                  </a:txBody>
                  <a:tcPr>
                    <a:solidFill>
                      <a:srgbClr val="1E293B"/>
                    </a:solidFill>
                  </a:tcPr>
                </a:tc>
              </a:tr>
              <a:tr h="284117">
                <a:tc>
                  <a:txBody>
                    <a:bodyPr/>
                    <a:lstStyle/>
                    <a:p>
                      <a:pPr>
                        <a:defRPr sz="850" b="0">
                          <a:solidFill>
                            <a:srgbClr val="F8FAFC"/>
                          </a:solidFill>
                        </a:defRPr>
                      </a:pPr>
                      <a:r>
                        <a:t>Epic Deterioration Index</a:t>
                      </a:r>
                    </a:p>
                  </a:txBody>
                  <a:tcPr>
                    <a:solidFill>
                      <a:srgbClr val="1E293B"/>
                    </a:solidFill>
                  </a:tcPr>
                </a:tc>
                <a:tc>
                  <a:txBody>
                    <a:bodyPr/>
                    <a:lstStyle/>
                    <a:p>
                      <a:pPr>
                        <a:defRPr sz="850" b="0">
                          <a:solidFill>
                            <a:srgbClr val="F8FAFC"/>
                          </a:solidFill>
                        </a:defRPr>
                      </a:pPr>
                      <a:r>
                        <a:t>Logistic regression</a:t>
                      </a:r>
                    </a:p>
                  </a:txBody>
                  <a:tcPr>
                    <a:solidFill>
                      <a:srgbClr val="1E293B"/>
                    </a:solidFill>
                  </a:tcPr>
                </a:tc>
                <a:tc>
                  <a:txBody>
                    <a:bodyPr/>
                    <a:lstStyle/>
                    <a:p>
                      <a:pPr>
                        <a:defRPr sz="850" b="0">
                          <a:solidFill>
                            <a:srgbClr val="F8FAFC"/>
                          </a:solidFill>
                        </a:defRPr>
                      </a:pPr>
                      <a:r>
                        <a:t>&gt;125</a:t>
                      </a:r>
                    </a:p>
                  </a:txBody>
                  <a:tcPr>
                    <a:solidFill>
                      <a:srgbClr val="1E293B"/>
                    </a:solidFill>
                  </a:tcPr>
                </a:tc>
                <a:tc>
                  <a:txBody>
                    <a:bodyPr/>
                    <a:lstStyle/>
                    <a:p>
                      <a:pPr>
                        <a:defRPr sz="850" b="0">
                          <a:solidFill>
                            <a:srgbClr val="F8FAFC"/>
                          </a:solidFill>
                        </a:defRPr>
                      </a:pPr>
                      <a:r>
                        <a:t>39%</a:t>
                      </a:r>
                    </a:p>
                  </a:txBody>
                  <a:tcPr>
                    <a:solidFill>
                      <a:srgbClr val="1E293B"/>
                    </a:solidFill>
                  </a:tcPr>
                </a:tc>
                <a:tc>
                  <a:txBody>
                    <a:bodyPr/>
                    <a:lstStyle/>
                    <a:p>
                      <a:pPr>
                        <a:defRPr sz="850" b="0">
                          <a:solidFill>
                            <a:srgbClr val="F8FAFC"/>
                          </a:solidFill>
                        </a:defRPr>
                      </a:pPr>
                      <a:r>
                        <a:t>74%</a:t>
                      </a:r>
                    </a:p>
                  </a:txBody>
                  <a:tcPr>
                    <a:solidFill>
                      <a:srgbClr val="1E293B"/>
                    </a:solidFill>
                  </a:tcPr>
                </a:tc>
                <a:tc>
                  <a:txBody>
                    <a:bodyPr/>
                    <a:lstStyle/>
                    <a:p>
                      <a:pPr>
                        <a:defRPr sz="850" b="0">
                          <a:solidFill>
                            <a:srgbClr val="F8FAFC"/>
                          </a:solidFill>
                        </a:defRPr>
                      </a:pPr>
                      <a:r>
                        <a:t>0.79</a:t>
                      </a:r>
                    </a:p>
                  </a:txBody>
                  <a:tcPr>
                    <a:solidFill>
                      <a:srgbClr val="1E293B"/>
                    </a:solidFill>
                  </a:tcPr>
                </a:tc>
              </a:tr>
              <a:tr h="284117">
                <a:tc>
                  <a:txBody>
                    <a:bodyPr/>
                    <a:lstStyle/>
                    <a:p>
                      <a:pPr>
                        <a:defRPr sz="850" b="0">
                          <a:solidFill>
                            <a:srgbClr val="F8FAFC"/>
                          </a:solidFill>
                        </a:defRPr>
                      </a:pPr>
                      <a:r>
                        <a:t>DEWS, Korea</a:t>
                      </a:r>
                    </a:p>
                  </a:txBody>
                  <a:tcPr>
                    <a:solidFill>
                      <a:srgbClr val="1E293B"/>
                    </a:solidFill>
                  </a:tcPr>
                </a:tc>
                <a:tc>
                  <a:txBody>
                    <a:bodyPr/>
                    <a:lstStyle/>
                    <a:p>
                      <a:pPr>
                        <a:defRPr sz="850" b="0">
                          <a:solidFill>
                            <a:srgbClr val="F8FAFC"/>
                          </a:solidFill>
                        </a:defRPr>
                      </a:pPr>
                      <a:r>
                        <a:t>LSTM</a:t>
                      </a:r>
                    </a:p>
                  </a:txBody>
                  <a:tcPr>
                    <a:solidFill>
                      <a:srgbClr val="1E293B"/>
                    </a:solidFill>
                  </a:tcPr>
                </a:tc>
                <a:tc>
                  <a:txBody>
                    <a:bodyPr/>
                    <a:lstStyle/>
                    <a:p>
                      <a:pPr>
                        <a:defRPr sz="850" b="0">
                          <a:solidFill>
                            <a:srgbClr val="F8FAFC"/>
                          </a:solidFill>
                        </a:defRPr>
                      </a:pPr>
                      <a:r>
                        <a:t>4–7</a:t>
                      </a:r>
                    </a:p>
                  </a:txBody>
                  <a:tcPr>
                    <a:solidFill>
                      <a:srgbClr val="1E293B"/>
                    </a:solidFill>
                  </a:tcPr>
                </a:tc>
                <a:tc>
                  <a:txBody>
                    <a:bodyPr/>
                    <a:lstStyle/>
                    <a:p>
                      <a:pPr>
                        <a:defRPr sz="850" b="0">
                          <a:solidFill>
                            <a:srgbClr val="F8FAFC"/>
                          </a:solidFill>
                        </a:defRPr>
                      </a:pPr>
                      <a:r>
                        <a:t>37%</a:t>
                      </a:r>
                    </a:p>
                  </a:txBody>
                  <a:tcPr>
                    <a:solidFill>
                      <a:srgbClr val="1E293B"/>
                    </a:solidFill>
                  </a:tcPr>
                </a:tc>
                <a:tc>
                  <a:txBody>
                    <a:bodyPr/>
                    <a:lstStyle/>
                    <a:p>
                      <a:pPr>
                        <a:defRPr sz="850" b="0">
                          <a:solidFill>
                            <a:srgbClr val="F8FAFC"/>
                          </a:solidFill>
                        </a:defRPr>
                      </a:pPr>
                      <a:r>
                        <a:t>4%</a:t>
                      </a:r>
                    </a:p>
                  </a:txBody>
                  <a:tcPr>
                    <a:solidFill>
                      <a:srgbClr val="1E293B"/>
                    </a:solidFill>
                  </a:tcPr>
                </a:tc>
                <a:tc>
                  <a:txBody>
                    <a:bodyPr/>
                    <a:lstStyle/>
                    <a:p>
                      <a:pPr>
                        <a:defRPr sz="850" b="0">
                          <a:solidFill>
                            <a:srgbClr val="F8FAFC"/>
                          </a:solidFill>
                        </a:defRPr>
                      </a:pPr>
                      <a:r>
                        <a:t>0.85</a:t>
                      </a:r>
                    </a:p>
                  </a:txBody>
                  <a:tcPr>
                    <a:solidFill>
                      <a:srgbClr val="1E293B"/>
                    </a:solidFill>
                  </a:tcPr>
                </a:tc>
              </a:tr>
              <a:tr h="284117">
                <a:tc>
                  <a:txBody>
                    <a:bodyPr/>
                    <a:lstStyle/>
                    <a:p>
                      <a:pPr>
                        <a:defRPr sz="850" b="0">
                          <a:solidFill>
                            <a:srgbClr val="F8FAFC"/>
                          </a:solidFill>
                        </a:defRPr>
                      </a:pPr>
                      <a:r>
                        <a:t>HBI Solutions</a:t>
                      </a:r>
                    </a:p>
                  </a:txBody>
                  <a:tcPr>
                    <a:solidFill>
                      <a:srgbClr val="1E293B"/>
                    </a:solidFill>
                  </a:tcPr>
                </a:tc>
                <a:tc>
                  <a:txBody>
                    <a:bodyPr/>
                    <a:lstStyle/>
                    <a:p>
                      <a:pPr>
                        <a:defRPr sz="850" b="0">
                          <a:solidFill>
                            <a:srgbClr val="F8FAFC"/>
                          </a:solidFill>
                        </a:defRPr>
                      </a:pPr>
                      <a:r>
                        <a:t>Random forest</a:t>
                      </a:r>
                    </a:p>
                  </a:txBody>
                  <a:tcPr>
                    <a:solidFill>
                      <a:srgbClr val="1E293B"/>
                    </a:solidFill>
                  </a:tcPr>
                </a:tc>
                <a:tc>
                  <a:txBody>
                    <a:bodyPr/>
                    <a:lstStyle/>
                    <a:p>
                      <a:pPr>
                        <a:defRPr sz="850" b="0">
                          <a:solidFill>
                            <a:srgbClr val="F8FAFC"/>
                          </a:solidFill>
                        </a:defRPr>
                      </a:pPr>
                      <a:r>
                        <a:t>349</a:t>
                      </a:r>
                    </a:p>
                  </a:txBody>
                  <a:tcPr>
                    <a:solidFill>
                      <a:srgbClr val="1E293B"/>
                    </a:solidFill>
                  </a:tcPr>
                </a:tc>
                <a:tc>
                  <a:txBody>
                    <a:bodyPr/>
                    <a:lstStyle/>
                    <a:p>
                      <a:pPr>
                        <a:defRPr sz="850" b="0">
                          <a:solidFill>
                            <a:srgbClr val="F8FAFC"/>
                          </a:solidFill>
                        </a:defRPr>
                      </a:pPr>
                      <a:r>
                        <a:t>23%</a:t>
                      </a:r>
                    </a:p>
                  </a:txBody>
                  <a:tcPr>
                    <a:solidFill>
                      <a:srgbClr val="1E293B"/>
                    </a:solidFill>
                  </a:tcPr>
                </a:tc>
                <a:tc>
                  <a:txBody>
                    <a:bodyPr/>
                    <a:lstStyle/>
                    <a:p>
                      <a:pPr>
                        <a:defRPr sz="850" b="0">
                          <a:solidFill>
                            <a:srgbClr val="F8FAFC"/>
                          </a:solidFill>
                        </a:defRPr>
                      </a:pPr>
                      <a:r>
                        <a:t>31%</a:t>
                      </a:r>
                    </a:p>
                  </a:txBody>
                  <a:tcPr>
                    <a:solidFill>
                      <a:srgbClr val="1E293B"/>
                    </a:solidFill>
                  </a:tcPr>
                </a:tc>
                <a:tc>
                  <a:txBody>
                    <a:bodyPr/>
                    <a:lstStyle/>
                    <a:p>
                      <a:pPr>
                        <a:defRPr sz="850" b="0">
                          <a:solidFill>
                            <a:srgbClr val="F8FAFC"/>
                          </a:solidFill>
                        </a:defRPr>
                      </a:pPr>
                      <a:r>
                        <a:t>0.88</a:t>
                      </a:r>
                    </a:p>
                  </a:txBody>
                  <a:tcPr>
                    <a:solidFill>
                      <a:srgbClr val="1E293B"/>
                    </a:solidFill>
                  </a:tcPr>
                </a:tc>
              </a:tr>
              <a:tr h="284118">
                <a:tc>
                  <a:txBody>
                    <a:bodyPr/>
                    <a:lstStyle/>
                    <a:p>
                      <a:pPr>
                        <a:defRPr sz="850" b="0">
                          <a:solidFill>
                            <a:srgbClr val="F8FAFC"/>
                          </a:solidFill>
                        </a:defRPr>
                      </a:pPr>
                      <a:r>
                        <a:t>eCARTv2</a:t>
                      </a:r>
                    </a:p>
                  </a:txBody>
                  <a:tcPr>
                    <a:solidFill>
                      <a:srgbClr val="1E293B"/>
                    </a:solidFill>
                  </a:tcPr>
                </a:tc>
                <a:tc>
                  <a:txBody>
                    <a:bodyPr/>
                    <a:lstStyle/>
                    <a:p>
                      <a:pPr>
                        <a:defRPr sz="850" b="0">
                          <a:solidFill>
                            <a:srgbClr val="F8FAFC"/>
                          </a:solidFill>
                        </a:defRPr>
                      </a:pPr>
                      <a:r>
                        <a:t>Logistic regression</a:t>
                      </a:r>
                    </a:p>
                  </a:txBody>
                  <a:tcPr>
                    <a:solidFill>
                      <a:srgbClr val="1E293B"/>
                    </a:solidFill>
                  </a:tcPr>
                </a:tc>
                <a:tc>
                  <a:txBody>
                    <a:bodyPr/>
                    <a:lstStyle/>
                    <a:p>
                      <a:pPr>
                        <a:defRPr sz="850" b="0">
                          <a:solidFill>
                            <a:srgbClr val="F8FAFC"/>
                          </a:solidFill>
                        </a:defRPr>
                      </a:pPr>
                      <a:r>
                        <a:t>—</a:t>
                      </a:r>
                    </a:p>
                  </a:txBody>
                  <a:tcPr>
                    <a:solidFill>
                      <a:srgbClr val="1E293B"/>
                    </a:solidFill>
                  </a:tcPr>
                </a:tc>
                <a:tc>
                  <a:txBody>
                    <a:bodyPr/>
                    <a:lstStyle/>
                    <a:p>
                      <a:pPr>
                        <a:defRPr sz="850" b="0">
                          <a:solidFill>
                            <a:srgbClr val="F8FAFC"/>
                          </a:solidFill>
                        </a:defRPr>
                      </a:pPr>
                      <a:r>
                        <a:t>—</a:t>
                      </a:r>
                    </a:p>
                  </a:txBody>
                  <a:tcPr>
                    <a:solidFill>
                      <a:srgbClr val="1E293B"/>
                    </a:solidFill>
                  </a:tcPr>
                </a:tc>
                <a:tc>
                  <a:txBody>
                    <a:bodyPr/>
                    <a:lstStyle/>
                    <a:p>
                      <a:pPr>
                        <a:defRPr sz="850" b="0">
                          <a:solidFill>
                            <a:srgbClr val="F8FAFC"/>
                          </a:solidFill>
                        </a:defRPr>
                      </a:pPr>
                      <a:r>
                        <a:t>8.2%</a:t>
                      </a:r>
                    </a:p>
                  </a:txBody>
                  <a:tcPr>
                    <a:solidFill>
                      <a:srgbClr val="1E293B"/>
                    </a:solidFill>
                  </a:tcPr>
                </a:tc>
                <a:tc>
                  <a:txBody>
                    <a:bodyPr/>
                    <a:lstStyle/>
                    <a:p>
                      <a:pPr>
                        <a:defRPr sz="850" b="0">
                          <a:solidFill>
                            <a:srgbClr val="F8FAFC"/>
                          </a:solidFill>
                        </a:defRPr>
                      </a:pPr>
                      <a:r>
                        <a:t>—</a:t>
                      </a:r>
                    </a:p>
                  </a:txBody>
                  <a:tcPr>
                    <a:solidFill>
                      <a:srgbClr val="1E293B"/>
                    </a:solidFill>
                  </a:tcPr>
                </a:tc>
              </a:tr>
            </a:tbl>
          </a:graphicData>
        </a:graphic>
      </p:graphicFrame>
      <p:sp>
        <p:nvSpPr>
          <p:cNvPr id="5" name="TextBox 4"/>
          <p:cNvSpPr txBox="1"/>
          <p:nvPr/>
        </p:nvSpPr>
        <p:spPr>
          <a:xfrm>
            <a:off x="731520" y="5440680"/>
            <a:ext cx="5577840" cy="914400"/>
          </a:xfrm>
          <a:prstGeom prst="rect">
            <a:avLst/>
          </a:prstGeom>
          <a:noFill/>
        </p:spPr>
        <p:txBody>
          <a:bodyPr wrap="square">
            <a:spAutoFit/>
          </a:bodyPr>
          <a:lstStyle/>
          <a:p>
            <a:pPr>
              <a:defRPr sz="950" b="0">
                <a:solidFill>
                  <a:srgbClr val="94A3B8"/>
                </a:solidFill>
                <a:latin typeface="Calibri"/>
              </a:defRPr>
            </a:pPr>
            <a:r>
              <a:t>CHARTwatch is shown with retrospective figures followed by deployed figures. Precision fell from 71% to 21% and AUROC from 0.95 to 0.63 on live data — the largest degradation among the reviewed systems, and the one using the most variables. Every system reporting both stages degraded.</a:t>
            </a:r>
          </a:p>
        </p:txBody>
      </p:sp>
      <p:sp>
        <p:nvSpPr>
          <p:cNvPr id="6" name="Rounded Rectangle 5"/>
          <p:cNvSpPr/>
          <p:nvPr/>
        </p:nvSpPr>
        <p:spPr>
          <a:xfrm>
            <a:off x="6720840" y="1097280"/>
            <a:ext cx="49377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eld_scatter.png"/>
          <p:cNvPicPr>
            <a:picLocks noChangeAspect="1"/>
          </p:cNvPicPr>
          <p:nvPr/>
        </p:nvPicPr>
        <p:blipFill>
          <a:blip r:embed="rId2"/>
          <a:stretch>
            <a:fillRect/>
          </a:stretch>
        </p:blipFill>
        <p:spPr>
          <a:xfrm>
            <a:off x="6949440" y="1325880"/>
            <a:ext cx="4480560" cy="2323556"/>
          </a:xfrm>
          <a:prstGeom prst="rect">
            <a:avLst/>
          </a:prstGeom>
        </p:spPr>
      </p:pic>
      <p:sp>
        <p:nvSpPr>
          <p:cNvPr id="8" name="TextBox 7"/>
          <p:cNvSpPr txBox="1"/>
          <p:nvPr/>
        </p:nvSpPr>
        <p:spPr>
          <a:xfrm>
            <a:off x="6949440" y="4114800"/>
            <a:ext cx="4480560" cy="2194560"/>
          </a:xfrm>
          <a:prstGeom prst="rect">
            <a:avLst/>
          </a:prstGeom>
          <a:noFill/>
        </p:spPr>
        <p:txBody>
          <a:bodyPr wrap="square">
            <a:spAutoFit/>
          </a:bodyPr>
          <a:lstStyle/>
          <a:p>
            <a:pPr>
              <a:defRPr sz="1050" b="1">
                <a:solidFill>
                  <a:srgbClr val="FBBF24"/>
                </a:solidFill>
                <a:latin typeface="Calibri"/>
              </a:defRPr>
            </a:pPr>
            <a:r>
              <a:t>Precision and sensitivity trade against one another, so neither figure is interpretable alone. At a matched sensitivity of 79–81%, the published systems achieve 12% precision.</a:t>
            </a:r>
          </a:p>
          <a:p>
            <a:br/>
            <a:pPr>
              <a:defRPr sz="1000" b="0">
                <a:solidFill>
                  <a:srgbClr val="F8FAFC"/>
                </a:solidFill>
                <a:latin typeface="Calibri"/>
              </a:defRPr>
            </a:pPr>
            <a:r>
              <a:t>The two systems reporting precision above 70% operate near 40% sensitivity — roughly half of ours — and one of them lost two-thirds of that precision on deployment.</a:t>
            </a:r>
          </a:p>
          <a:p>
            <a:br/>
            <a:pPr>
              <a:defRPr sz="1000" b="0">
                <a:solidFill>
                  <a:srgbClr val="94A3B8"/>
                </a:solidFill>
                <a:latin typeface="Calibri"/>
              </a:defRPr>
            </a:pPr>
            <a:r>
              <a:t>Interpretive caveat: our event definition is derived from the same vital signs used as model inputs, whereas most reviewed systems predict an independent outcome such as intensive-care transfer or death. The comparison is favourable but not exact, and Part 2 addresses this directly.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Hysteresis: a Dual-Threshold Alerting Rule</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607040" cy="1417320"/>
          </a:xfrm>
          <a:prstGeom prst="rect">
            <a:avLst/>
          </a:prstGeom>
          <a:noFill/>
        </p:spPr>
        <p:txBody>
          <a:bodyPr wrap="square">
            <a:spAutoFit/>
          </a:bodyPr>
          <a:lstStyle/>
          <a:p>
            <a:pPr>
              <a:defRPr sz="1200" b="1">
                <a:solidFill>
                  <a:srgbClr val="38BDF8"/>
                </a:solidFill>
                <a:latin typeface="Calibri"/>
              </a:defRPr>
            </a:pPr>
            <a:r>
              <a:t>THE PROBLEM WITH A SINGLE THRESHOLD</a:t>
            </a:r>
          </a:p>
          <a:p>
            <a:pPr>
              <a:defRPr sz="1100" b="0">
                <a:solidFill>
                  <a:srgbClr val="F8FAFC"/>
                </a:solidFill>
                <a:latin typeface="Calibri"/>
              </a:defRPr>
            </a:pPr>
            <a:r>
              <a:t>A single threshold raises the alert when risk rises above it and clears the alert when risk falls below it. A patient whose risk hovers near that line therefore alternates on and off, producing several separate alarms from measurement noise rather than from any change in the patient's condition.</a:t>
            </a:r>
          </a:p>
          <a:p>
            <a:br/>
            <a:pPr>
              <a:defRPr sz="1200" b="1">
                <a:solidFill>
                  <a:srgbClr val="FBBF24"/>
                </a:solidFill>
                <a:latin typeface="Calibri"/>
              </a:defRPr>
            </a:pPr>
            <a:r>
              <a:t>THE RULE</a:t>
            </a:r>
          </a:p>
          <a:p>
            <a:pPr>
              <a:defRPr sz="1100" b="0">
                <a:solidFill>
                  <a:srgbClr val="F8FAFC"/>
                </a:solidFill>
                <a:latin typeface="Calibri"/>
              </a:defRPr>
            </a:pPr>
            <a:r>
              <a:t>Raise the alert when risk exceeds τ_high. Keep it raised until risk falls below a LOWER release threshold τ_low, set here to 50% of τ_high. Between the two thresholds the alert holds whatever state it is already in. This is a Schmitt trigger — the same mechanism that prevents a thermostat from cycling continuously around its set point.</a:t>
            </a:r>
          </a:p>
        </p:txBody>
      </p:sp>
      <p:pic>
        <p:nvPicPr>
          <p:cNvPr id="5" name="Picture 4" descr="hysteresis.png"/>
          <p:cNvPicPr>
            <a:picLocks noChangeAspect="1"/>
          </p:cNvPicPr>
          <p:nvPr/>
        </p:nvPicPr>
        <p:blipFill>
          <a:blip r:embed="rId2"/>
          <a:stretch>
            <a:fillRect/>
          </a:stretch>
        </p:blipFill>
        <p:spPr>
          <a:xfrm>
            <a:off x="822960" y="2788920"/>
            <a:ext cx="6949440" cy="2448285"/>
          </a:xfrm>
          <a:prstGeom prst="rect">
            <a:avLst/>
          </a:prstGeom>
        </p:spPr>
      </p:pic>
      <p:sp>
        <p:nvSpPr>
          <p:cNvPr id="6" name="TextBox 5"/>
          <p:cNvSpPr txBox="1"/>
          <p:nvPr/>
        </p:nvSpPr>
        <p:spPr>
          <a:xfrm>
            <a:off x="8001000" y="2743200"/>
            <a:ext cx="3474720" cy="3474720"/>
          </a:xfrm>
          <a:prstGeom prst="rect">
            <a:avLst/>
          </a:prstGeom>
          <a:noFill/>
        </p:spPr>
        <p:txBody>
          <a:bodyPr wrap="square">
            <a:spAutoFit/>
          </a:bodyPr>
          <a:lstStyle/>
          <a:p>
            <a:pPr>
              <a:defRPr sz="1150" b="1">
                <a:solidFill>
                  <a:srgbClr val="38BDF8"/>
                </a:solidFill>
                <a:latin typeface="Calibri"/>
              </a:defRPr>
            </a:pPr>
            <a:r>
              <a:t>MEASURED EFFECT AT 12 HOURS</a:t>
            </a:r>
          </a:p>
          <a:p>
            <a:br/>
            <a:pPr>
              <a:defRPr sz="1100" b="1">
                <a:solidFill>
                  <a:srgbClr val="FBBF24"/>
                </a:solidFill>
                <a:latin typeface="Calibri"/>
              </a:defRPr>
            </a:pPr>
            <a:r>
              <a:t>Alert episodes       2,069 → 1,551</a:t>
            </a:r>
            <a:br/>
            <a:r>
              <a:t>Episode PPV          0.331 → 0.410</a:t>
            </a:r>
            <a:br/>
            <a:r>
              <a:t>Episode lift          2.75× → 3.41×</a:t>
            </a:r>
            <a:br/>
            <a:r>
              <a:t>Patient recall       0.967 → 0.975</a:t>
            </a:r>
            <a:br/>
            <a:r>
              <a:t>Median warning      7.0 h → 8.0 h</a:t>
            </a:r>
          </a:p>
          <a:p>
            <a:br/>
            <a:pPr>
              <a:defRPr sz="1150" b="1">
                <a:solidFill>
                  <a:srgbClr val="38BDF8"/>
                </a:solidFill>
                <a:latin typeface="Calibri"/>
              </a:defRPr>
            </a:pPr>
            <a:r>
              <a:t>WHY PRECISION IMPROVES</a:t>
            </a:r>
          </a:p>
          <a:p>
            <a:pPr>
              <a:defRPr sz="1050" b="0">
                <a:solidFill>
                  <a:srgbClr val="F8FAFC"/>
                </a:solidFill>
                <a:latin typeface="Calibri"/>
              </a:defRPr>
            </a:pPr>
            <a:r>
              <a:t>False alarms are predominantly brief excursions across the threshold, while true alarms are sustained. Holding the alert through the deadband therefore consolidates the brief excursions preferentially. Across the test set, false episodes fell by 34% while true episodes fell by only 7%.</a:t>
            </a:r>
          </a:p>
          <a:p>
            <a:br/>
            <a:pPr>
              <a:defRPr sz="1150" b="1">
                <a:solidFill>
                  <a:srgbClr val="38BDF8"/>
                </a:solidFill>
                <a:latin typeface="Calibri"/>
              </a:defRPr>
            </a:pPr>
            <a:r>
              <a:t>WHY DETECTION IS PRESERVED</a:t>
            </a:r>
          </a:p>
          <a:p>
            <a:pPr>
              <a:defRPr sz="1050" b="0">
                <a:solidFill>
                  <a:srgbClr val="F8FAFC"/>
                </a:solidFill>
                <a:latin typeface="Calibri"/>
              </a:defRPr>
            </a:pPr>
            <a:r>
              <a:t>The condition for RAISING an alert is unchanged; only the condition for clearing it is altered. The first alert on any patient can therefore never be delayed or lost, so recall is preserved by construction. It rises slightly because a patient whose risk dips briefly remains under alert when their event arrives.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Multi-Window Time-Series Dynamics: Construction and Contribution</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5120640" cy="5029200"/>
          </a:xfrm>
          <a:prstGeom prst="rect">
            <a:avLst/>
          </a:prstGeom>
          <a:noFill/>
        </p:spPr>
        <p:txBody>
          <a:bodyPr wrap="square">
            <a:spAutoFit/>
          </a:bodyPr>
          <a:lstStyle/>
          <a:p>
            <a:pPr>
              <a:defRPr sz="1200" b="1">
                <a:solidFill>
                  <a:srgbClr val="38BDF8"/>
                </a:solidFill>
                <a:latin typeface="Calibri"/>
              </a:defRPr>
            </a:pPr>
            <a:r>
              <a:t>HOW THE FEATURES ARE CONSTRUCTED</a:t>
            </a:r>
          </a:p>
          <a:p>
            <a:pPr>
              <a:defRPr sz="1050" b="0">
                <a:solidFill>
                  <a:srgbClr val="F8FAFC"/>
                </a:solidFill>
                <a:latin typeface="Calibri"/>
              </a:defRPr>
            </a:pPr>
            <a:r>
              <a:t>Each physiological variable is summarised over three overlapping look-back windows, all ending at the prediction hour:</a:t>
            </a:r>
          </a:p>
          <a:p>
            <a:br/>
            <a:pPr>
              <a:defRPr sz="1100" b="1">
                <a:solidFill>
                  <a:srgbClr val="FBBF24"/>
                </a:solidFill>
                <a:latin typeface="Calibri"/>
              </a:defRPr>
            </a:pPr>
            <a:r>
              <a:t>2 hours      acute change, high temporal resolution</a:t>
            </a:r>
            <a:br/>
            <a:r>
              <a:t>6 hours      the patient's current state</a:t>
            </a:r>
            <a:br/>
            <a:r>
              <a:t>12 hours    the patient's own recent baseline</a:t>
            </a:r>
          </a:p>
          <a:p>
            <a:br/>
            <a:pPr>
              <a:defRPr sz="1050" b="0">
                <a:solidFill>
                  <a:srgbClr val="F8FAFC"/>
                </a:solidFill>
                <a:latin typeface="Calibri"/>
              </a:defRPr>
            </a:pPr>
            <a:r>
              <a:t>Within each window, three statistics are computed: the mean (level), the standard deviation (volatility), and the slope (velocity).</a:t>
            </a:r>
          </a:p>
          <a:p>
            <a:br/>
            <a:pPr>
              <a:defRPr sz="1200" b="1">
                <a:solidFill>
                  <a:srgbClr val="38BDF8"/>
                </a:solidFill>
                <a:latin typeface="Calibri"/>
              </a:defRPr>
            </a:pPr>
            <a:r>
              <a:t>TREND-ACCELERATION FEATURES</a:t>
            </a:r>
          </a:p>
          <a:p>
            <a:pPr>
              <a:defRPr sz="1150" b="1">
                <a:solidFill>
                  <a:srgbClr val="FBBF24"/>
                </a:solidFill>
                <a:latin typeface="Calibri"/>
              </a:defRPr>
            </a:pPr>
            <a:r>
              <a:t>trend_2h_vs_12h   =   mean over 2 h   −   mean over 12 h</a:t>
            </a:r>
          </a:p>
          <a:p>
            <a:br/>
            <a:pPr>
              <a:defRPr sz="1050" b="0">
                <a:solidFill>
                  <a:srgbClr val="F8FAFC"/>
                </a:solidFill>
                <a:latin typeface="Calibri"/>
              </a:defRPr>
            </a:pPr>
            <a:r>
              <a:t>A heart rate of 100 with a twelve-hour mean of 100 describes a stably elevated patient. A heart rate of 100 with a twelve-hour mean of 70 describes a patient accelerating into crisis. The two require different responses, yet they are indistinguishable from any single window.</a:t>
            </a:r>
          </a:p>
          <a:p>
            <a:br/>
            <a:pPr>
              <a:defRPr sz="1050" b="0">
                <a:solidFill>
                  <a:srgbClr val="94A3B8"/>
                </a:solidFill>
                <a:latin typeface="Calibri"/>
              </a:defRPr>
            </a:pPr>
            <a:r>
              <a:t>Supplying the difference explicitly matters because decision trees split on one variable at a time. Separating those two patients from the two means independently requires a staircase of many splits, and at a maximum tree depth of four a single such boundary would consume the entire tree. The explicit difference reduces it to one split.</a:t>
            </a:r>
          </a:p>
          <a:p>
            <a:br/>
            <a:pPr>
              <a:defRPr sz="1200" b="1">
                <a:solidFill>
                  <a:srgbClr val="38BDF8"/>
                </a:solidFill>
                <a:latin typeface="Calibri"/>
              </a:defRPr>
            </a:pPr>
            <a:r>
              <a:t>TWO FURTHER FEATURE CLASSES</a:t>
            </a:r>
          </a:p>
          <a:p>
            <a:pPr>
              <a:defRPr sz="1050" b="0">
                <a:solidFill>
                  <a:srgbClr val="F8FAFC"/>
                </a:solidFill>
                <a:latin typeface="Calibri"/>
              </a:defRPr>
            </a:pPr>
            <a:r>
              <a:t>Deviation from the patient's own twelve-hour baseline, so that an abnormal value is judged against that individual rather than a population norm; and the time elapsed since each variable was last measured, which captures that clinical teams measure more frequently when concerned.</a:t>
            </a:r>
          </a:p>
        </p:txBody>
      </p:sp>
      <p:pic>
        <p:nvPicPr>
          <p:cNvPr id="5" name="Picture 4" descr="windows.png"/>
          <p:cNvPicPr>
            <a:picLocks noChangeAspect="1"/>
          </p:cNvPicPr>
          <p:nvPr/>
        </p:nvPicPr>
        <p:blipFill>
          <a:blip r:embed="rId2"/>
          <a:stretch>
            <a:fillRect/>
          </a:stretch>
        </p:blipFill>
        <p:spPr>
          <a:xfrm>
            <a:off x="6126480" y="1737360"/>
            <a:ext cx="5349240" cy="1883295"/>
          </a:xfrm>
          <a:prstGeom prst="rect">
            <a:avLst/>
          </a:prstGeom>
        </p:spPr>
      </p:pic>
      <p:sp>
        <p:nvSpPr>
          <p:cNvPr id="6" name="TextBox 5"/>
          <p:cNvSpPr txBox="1"/>
          <p:nvPr/>
        </p:nvSpPr>
        <p:spPr>
          <a:xfrm>
            <a:off x="6126480" y="4892040"/>
            <a:ext cx="5349240" cy="1371600"/>
          </a:xfrm>
          <a:prstGeom prst="rect">
            <a:avLst/>
          </a:prstGeom>
          <a:noFill/>
        </p:spPr>
        <p:txBody>
          <a:bodyPr wrap="square">
            <a:spAutoFit/>
          </a:bodyPr>
          <a:lstStyle/>
          <a:p>
            <a:pPr>
              <a:defRPr sz="1150" b="1">
                <a:solidFill>
                  <a:srgbClr val="38BDF8"/>
                </a:solidFill>
                <a:latin typeface="Calibri"/>
              </a:defRPr>
            </a:pPr>
            <a:r>
              <a:t>CONTRIBUTION TO FALSE-ALARM REDUCTION</a:t>
            </a:r>
          </a:p>
          <a:p>
            <a:pPr>
              <a:defRPr sz="1050" b="0">
                <a:solidFill>
                  <a:srgbClr val="FBBF24"/>
                </a:solidFill>
                <a:latin typeface="Calibri"/>
              </a:defRPr>
            </a:pPr>
            <a:r>
              <a:t>Window, trend and acceleration features account for 47.3% of total model gain. Each window contributes independently, and the twelve-hour baseline contributes most of the three — evidence that the model is separating acute deterioration from stable elevation. That distinction is precisely what a single-window model resolves as a false alarm, which is the mechanism by which the multi-window construction reduces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False-Alarm Reduction: Complete Method Inventory</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607040" cy="822960"/>
          </a:xfrm>
          <a:prstGeom prst="rect">
            <a:avLst/>
          </a:prstGeom>
          <a:noFill/>
        </p:spPr>
        <p:txBody>
          <a:bodyPr wrap="square">
            <a:spAutoFit/>
          </a:bodyPr>
          <a:lstStyle/>
          <a:p>
            <a:pPr>
              <a:defRPr sz="1150" b="0">
                <a:solidFill>
                  <a:srgbClr val="F8FAFC"/>
                </a:solidFill>
                <a:latin typeface="Calibri"/>
              </a:defRPr>
            </a:pPr>
            <a:r>
              <a:t>Reducing false alarms means three structurally different things. Separating them is what makes each claim interpretable: one category changes how alarms are counted, one changes how the alerting system behaves, and one changes the precision–detection trade itself. Each row below states its mechanism and its cost.</a:t>
            </a:r>
          </a:p>
        </p:txBody>
      </p:sp>
      <p:graphicFrame>
        <p:nvGraphicFramePr>
          <p:cNvPr id="5" name="Table 4"/>
          <p:cNvGraphicFramePr>
            <a:graphicFrameLocks noGrp="1"/>
          </p:cNvGraphicFramePr>
          <p:nvPr/>
        </p:nvGraphicFramePr>
        <p:xfrm>
          <a:off x="822960" y="2148840"/>
          <a:ext cx="10607040" cy="3108960"/>
        </p:xfrm>
        <a:graphic>
          <a:graphicData uri="http://schemas.openxmlformats.org/drawingml/2006/table">
            <a:tbl>
              <a:tblPr firstRow="1" bandRow="1">
                <a:tableStyleId>{5C22544A-7EE6-4342-B048-85BDC9FD1C3A}</a:tableStyleId>
              </a:tblPr>
              <a:tblGrid>
                <a:gridCol w="1280160"/>
                <a:gridCol w="2286000"/>
                <a:gridCol w="2651760"/>
                <a:gridCol w="1828800"/>
                <a:gridCol w="2560320"/>
              </a:tblGrid>
              <a:tr h="444137">
                <a:tc>
                  <a:txBody>
                    <a:bodyPr/>
                    <a:lstStyle/>
                    <a:p>
                      <a:pPr>
                        <a:defRPr sz="850" b="1">
                          <a:solidFill>
                            <a:srgbClr val="FFFFFF"/>
                          </a:solidFill>
                        </a:defRPr>
                      </a:pPr>
                      <a:r>
                        <a:t>Category</a:t>
                      </a:r>
                    </a:p>
                  </a:txBody>
                  <a:tcPr>
                    <a:solidFill>
                      <a:srgbClr val="1E3A8A"/>
                    </a:solidFill>
                  </a:tcPr>
                </a:tc>
                <a:tc>
                  <a:txBody>
                    <a:bodyPr/>
                    <a:lstStyle/>
                    <a:p>
                      <a:pPr>
                        <a:defRPr sz="850" b="1">
                          <a:solidFill>
                            <a:srgbClr val="FFFFFF"/>
                          </a:solidFill>
                        </a:defRPr>
                      </a:pPr>
                      <a:r>
                        <a:t>Method</a:t>
                      </a:r>
                    </a:p>
                  </a:txBody>
                  <a:tcPr>
                    <a:solidFill>
                      <a:srgbClr val="1E3A8A"/>
                    </a:solidFill>
                  </a:tcPr>
                </a:tc>
                <a:tc>
                  <a:txBody>
                    <a:bodyPr/>
                    <a:lstStyle/>
                    <a:p>
                      <a:pPr>
                        <a:defRPr sz="850" b="1">
                          <a:solidFill>
                            <a:srgbClr val="FFFFFF"/>
                          </a:solidFill>
                        </a:defRPr>
                      </a:pPr>
                      <a:r>
                        <a:t>Mechanism</a:t>
                      </a:r>
                    </a:p>
                  </a:txBody>
                  <a:tcPr>
                    <a:solidFill>
                      <a:srgbClr val="1E3A8A"/>
                    </a:solidFill>
                  </a:tcPr>
                </a:tc>
                <a:tc>
                  <a:txBody>
                    <a:bodyPr/>
                    <a:lstStyle/>
                    <a:p>
                      <a:pPr>
                        <a:defRPr sz="850" b="1">
                          <a:solidFill>
                            <a:srgbClr val="FFFFFF"/>
                          </a:solidFill>
                        </a:defRPr>
                      </a:pPr>
                      <a:r>
                        <a:t>Cost to detection</a:t>
                      </a:r>
                    </a:p>
                  </a:txBody>
                  <a:tcPr>
                    <a:solidFill>
                      <a:srgbClr val="1E3A8A"/>
                    </a:solidFill>
                  </a:tcPr>
                </a:tc>
                <a:tc>
                  <a:txBody>
                    <a:bodyPr/>
                    <a:lstStyle/>
                    <a:p>
                      <a:pPr>
                        <a:defRPr sz="850" b="1">
                          <a:solidFill>
                            <a:srgbClr val="FFFFFF"/>
                          </a:solidFill>
                        </a:defRPr>
                      </a:pPr>
                      <a:r>
                        <a:t>Measured result</a:t>
                      </a:r>
                    </a:p>
                  </a:txBody>
                  <a:tcPr>
                    <a:solidFill>
                      <a:srgbClr val="1E3A8A"/>
                    </a:solidFill>
                  </a:tcPr>
                </a:tc>
              </a:tr>
              <a:tr h="444137">
                <a:tc>
                  <a:txBody>
                    <a:bodyPr/>
                    <a:lstStyle/>
                    <a:p>
                      <a:pPr>
                        <a:defRPr sz="850" b="1">
                          <a:solidFill>
                            <a:srgbClr val="FBBF24"/>
                          </a:solidFill>
                        </a:defRPr>
                      </a:pPr>
                      <a:r>
                        <a:t>ORDERING</a:t>
                      </a:r>
                    </a:p>
                  </a:txBody>
                  <a:tcPr>
                    <a:solidFill>
                      <a:srgbClr val="142D46"/>
                    </a:solidFill>
                  </a:tcPr>
                </a:tc>
                <a:tc>
                  <a:txBody>
                    <a:bodyPr/>
                    <a:lstStyle/>
                    <a:p>
                      <a:pPr>
                        <a:defRPr sz="850" b="1">
                          <a:solidFill>
                            <a:srgbClr val="FBBF24"/>
                          </a:solidFill>
                        </a:defRPr>
                      </a:pPr>
                      <a:r>
                        <a:t>Worklist ranked by predicted severity</a:t>
                      </a:r>
                    </a:p>
                  </a:txBody>
                  <a:tcPr>
                    <a:solidFill>
                      <a:srgbClr val="142D46"/>
                    </a:solidFill>
                  </a:tcPr>
                </a:tc>
                <a:tc>
                  <a:txBody>
                    <a:bodyPr/>
                    <a:lstStyle/>
                    <a:p>
                      <a:pPr>
                        <a:defRPr sz="850" b="1">
                          <a:solidFill>
                            <a:srgbClr val="FBBF24"/>
                          </a:solidFill>
                        </a:defRPr>
                      </a:pPr>
                      <a:r>
                        <a:t>Every alarm is displayed; the most urgent are presented first</a:t>
                      </a:r>
                    </a:p>
                  </a:txBody>
                  <a:tcPr>
                    <a:solidFill>
                      <a:srgbClr val="142D46"/>
                    </a:solidFill>
                  </a:tcPr>
                </a:tc>
                <a:tc>
                  <a:txBody>
                    <a:bodyPr/>
                    <a:lstStyle/>
                    <a:p>
                      <a:pPr>
                        <a:defRPr sz="850" b="1">
                          <a:solidFill>
                            <a:srgbClr val="FBBF24"/>
                          </a:solidFill>
                        </a:defRPr>
                      </a:pPr>
                      <a:r>
                        <a:t>None — nothing is withheld</a:t>
                      </a:r>
                    </a:p>
                  </a:txBody>
                  <a:tcPr>
                    <a:solidFill>
                      <a:srgbClr val="142D46"/>
                    </a:solidFill>
                  </a:tcPr>
                </a:tc>
                <a:tc>
                  <a:txBody>
                    <a:bodyPr/>
                    <a:lstStyle/>
                    <a:p>
                      <a:pPr>
                        <a:defRPr sz="850" b="1">
                          <a:solidFill>
                            <a:srgbClr val="FBBF24"/>
                          </a:solidFill>
                        </a:defRPr>
                      </a:pPr>
                      <a:r>
                        <a:t>Precision on the leading 10% of alarms rises from 0.19 to 0.57</a:t>
                      </a:r>
                    </a:p>
                  </a:txBody>
                  <a:tcPr>
                    <a:solidFill>
                      <a:srgbClr val="142D46"/>
                    </a:solidFill>
                  </a:tcPr>
                </a:tc>
              </a:tr>
              <a:tr h="444137">
                <a:tc>
                  <a:txBody>
                    <a:bodyPr/>
                    <a:lstStyle/>
                    <a:p>
                      <a:pPr>
                        <a:defRPr sz="850" b="1">
                          <a:solidFill>
                            <a:srgbClr val="FBBF24"/>
                          </a:solidFill>
                        </a:defRPr>
                      </a:pPr>
                      <a:r>
                        <a:t>BEHAVIOUR</a:t>
                      </a:r>
                    </a:p>
                  </a:txBody>
                  <a:tcPr>
                    <a:solidFill>
                      <a:srgbClr val="142D46"/>
                    </a:solidFill>
                  </a:tcPr>
                </a:tc>
                <a:tc>
                  <a:txBody>
                    <a:bodyPr/>
                    <a:lstStyle/>
                    <a:p>
                      <a:pPr>
                        <a:defRPr sz="850" b="1">
                          <a:solidFill>
                            <a:srgbClr val="FBBF24"/>
                          </a:solidFill>
                        </a:defRPr>
                      </a:pPr>
                      <a:r>
                        <a:t>Hysteresis dual-threshold latch</a:t>
                      </a:r>
                    </a:p>
                  </a:txBody>
                  <a:tcPr>
                    <a:solidFill>
                      <a:srgbClr val="142D46"/>
                    </a:solidFill>
                  </a:tcPr>
                </a:tc>
                <a:tc>
                  <a:txBody>
                    <a:bodyPr/>
                    <a:lstStyle/>
                    <a:p>
                      <a:pPr>
                        <a:defRPr sz="850" b="1">
                          <a:solidFill>
                            <a:srgbClr val="FBBF24"/>
                          </a:solidFill>
                        </a:defRPr>
                      </a:pPr>
                      <a:r>
                        <a:t>The alert holds through a deadband instead of clearing at a single line</a:t>
                      </a:r>
                    </a:p>
                  </a:txBody>
                  <a:tcPr>
                    <a:solidFill>
                      <a:srgbClr val="142D46"/>
                    </a:solidFill>
                  </a:tcPr>
                </a:tc>
                <a:tc>
                  <a:txBody>
                    <a:bodyPr/>
                    <a:lstStyle/>
                    <a:p>
                      <a:pPr>
                        <a:defRPr sz="850" b="1">
                          <a:solidFill>
                            <a:srgbClr val="FBBF24"/>
                          </a:solidFill>
                        </a:defRPr>
                      </a:pPr>
                      <a:r>
                        <a:t>None — the raise condition is unchanged</a:t>
                      </a:r>
                    </a:p>
                  </a:txBody>
                  <a:tcPr>
                    <a:solidFill>
                      <a:srgbClr val="142D46"/>
                    </a:solidFill>
                  </a:tcPr>
                </a:tc>
                <a:tc>
                  <a:txBody>
                    <a:bodyPr/>
                    <a:lstStyle/>
                    <a:p>
                      <a:pPr>
                        <a:defRPr sz="850" b="1">
                          <a:solidFill>
                            <a:srgbClr val="FBBF24"/>
                          </a:solidFill>
                        </a:defRPr>
                      </a:pPr>
                      <a:r>
                        <a:t>Episodes 2,069 → 1,551;  PPV 0.331 → 0.410;  recall 0.967 → 0.975</a:t>
                      </a:r>
                    </a:p>
                  </a:txBody>
                  <a:tcPr>
                    <a:solidFill>
                      <a:srgbClr val="142D46"/>
                    </a:solidFill>
                  </a:tcPr>
                </a:tc>
              </a:tr>
              <a:tr h="444137">
                <a:tc>
                  <a:txBody>
                    <a:bodyPr/>
                    <a:lstStyle/>
                    <a:p>
                      <a:pPr>
                        <a:defRPr sz="850" b="0">
                          <a:solidFill>
                            <a:srgbClr val="F8FAFC"/>
                          </a:solidFill>
                        </a:defRPr>
                      </a:pPr>
                      <a:r>
                        <a:t>TRADE</a:t>
                      </a:r>
                    </a:p>
                  </a:txBody>
                  <a:tcPr>
                    <a:solidFill>
                      <a:srgbClr val="1E293B"/>
                    </a:solidFill>
                  </a:tcPr>
                </a:tc>
                <a:tc>
                  <a:txBody>
                    <a:bodyPr/>
                    <a:lstStyle/>
                    <a:p>
                      <a:pPr>
                        <a:defRPr sz="850" b="0">
                          <a:solidFill>
                            <a:srgbClr val="F8FAFC"/>
                          </a:solidFill>
                        </a:defRPr>
                      </a:pPr>
                      <a:r>
                        <a:t>Operating point: sensitivity and horizon</a:t>
                      </a:r>
                    </a:p>
                  </a:txBody>
                  <a:tcPr>
                    <a:solidFill>
                      <a:srgbClr val="1E293B"/>
                    </a:solidFill>
                  </a:tcPr>
                </a:tc>
                <a:tc>
                  <a:txBody>
                    <a:bodyPr/>
                    <a:lstStyle/>
                    <a:p>
                      <a:pPr>
                        <a:defRPr sz="850" b="0">
                          <a:solidFill>
                            <a:srgbClr val="F8FAFC"/>
                          </a:solidFill>
                        </a:defRPr>
                      </a:pPr>
                      <a:r>
                        <a:t>Moves the threshold along the precision–detection curve</a:t>
                      </a:r>
                    </a:p>
                  </a:txBody>
                  <a:tcPr>
                    <a:solidFill>
                      <a:srgbClr val="1E293B"/>
                    </a:solidFill>
                  </a:tcPr>
                </a:tc>
                <a:tc>
                  <a:txBody>
                    <a:bodyPr/>
                    <a:lstStyle/>
                    <a:p>
                      <a:pPr>
                        <a:defRPr sz="850" b="0">
                          <a:solidFill>
                            <a:srgbClr val="F8FAFC"/>
                          </a:solidFill>
                        </a:defRPr>
                      </a:pPr>
                      <a:r>
                        <a:t>Real, and quantified on the curve</a:t>
                      </a:r>
                    </a:p>
                  </a:txBody>
                  <a:tcPr>
                    <a:solidFill>
                      <a:srgbClr val="1E293B"/>
                    </a:solidFill>
                  </a:tcPr>
                </a:tc>
                <a:tc>
                  <a:txBody>
                    <a:bodyPr/>
                    <a:lstStyle/>
                    <a:p>
                      <a:pPr>
                        <a:defRPr sz="850" b="0">
                          <a:solidFill>
                            <a:srgbClr val="F8FAFC"/>
                          </a:solidFill>
                        </a:defRPr>
                      </a:pPr>
                      <a:r>
                        <a:t>PPV 0.331 → 0.578 as sensitivity falls from 80% to 20%</a:t>
                      </a:r>
                    </a:p>
                  </a:txBody>
                  <a:tcPr>
                    <a:solidFill>
                      <a:srgbClr val="1E293B"/>
                    </a:solidFill>
                  </a:tcPr>
                </a:tc>
              </a:tr>
              <a:tr h="444137">
                <a:tc>
                  <a:txBody>
                    <a:bodyPr/>
                    <a:lstStyle/>
                    <a:p>
                      <a:pPr>
                        <a:defRPr sz="850" b="0">
                          <a:solidFill>
                            <a:srgbClr val="F8FAFC"/>
                          </a:solidFill>
                        </a:defRPr>
                      </a:pPr>
                      <a:r>
                        <a:t>TRADE</a:t>
                      </a:r>
                    </a:p>
                  </a:txBody>
                  <a:tcPr>
                    <a:solidFill>
                      <a:srgbClr val="1E293B"/>
                    </a:solidFill>
                  </a:tcPr>
                </a:tc>
                <a:tc>
                  <a:txBody>
                    <a:bodyPr/>
                    <a:lstStyle/>
                    <a:p>
                      <a:pPr>
                        <a:defRPr sz="850" b="0">
                          <a:solidFill>
                            <a:srgbClr val="F8FAFC"/>
                          </a:solidFill>
                        </a:defRPr>
                      </a:pPr>
                      <a:r>
                        <a:t>Conformal abstention, three-tier output</a:t>
                      </a:r>
                    </a:p>
                  </a:txBody>
                  <a:tcPr>
                    <a:solidFill>
                      <a:srgbClr val="1E293B"/>
                    </a:solidFill>
                  </a:tcPr>
                </a:tc>
                <a:tc>
                  <a:txBody>
                    <a:bodyPr/>
                    <a:lstStyle/>
                    <a:p>
                      <a:pPr>
                        <a:defRPr sz="850" b="0">
                          <a:solidFill>
                            <a:srgbClr val="F8FAFC"/>
                          </a:solidFill>
                        </a:defRPr>
                      </a:pPr>
                      <a:r>
                        <a:t>Low-confidence hours are routed to a review list rather than paged</a:t>
                      </a:r>
                    </a:p>
                  </a:txBody>
                  <a:tcPr>
                    <a:solidFill>
                      <a:srgbClr val="1E293B"/>
                    </a:solidFill>
                  </a:tcPr>
                </a:tc>
                <a:tc>
                  <a:txBody>
                    <a:bodyPr/>
                    <a:lstStyle/>
                    <a:p>
                      <a:pPr>
                        <a:defRPr sz="850" b="0">
                          <a:solidFill>
                            <a:srgbClr val="F8FAFC"/>
                          </a:solidFill>
                        </a:defRPr>
                      </a:pPr>
                      <a:r>
                        <a:t>Real; the abstention rate is chosen explicitly</a:t>
                      </a:r>
                    </a:p>
                  </a:txBody>
                  <a:tcPr>
                    <a:solidFill>
                      <a:srgbClr val="1E293B"/>
                    </a:solidFill>
                  </a:tcPr>
                </a:tc>
                <a:tc>
                  <a:txBody>
                    <a:bodyPr/>
                    <a:lstStyle/>
                    <a:p>
                      <a:pPr>
                        <a:defRPr sz="850" b="0">
                          <a:solidFill>
                            <a:srgbClr val="F8FAFC"/>
                          </a:solidFill>
                        </a:defRPr>
                      </a:pPr>
                      <a:r>
                        <a:t>Paged-tier lift 2.88× → 3.45× at α = 0.20</a:t>
                      </a:r>
                    </a:p>
                  </a:txBody>
                  <a:tcPr>
                    <a:solidFill>
                      <a:srgbClr val="1E293B"/>
                    </a:solidFill>
                  </a:tcPr>
                </a:tc>
              </a:tr>
              <a:tr h="444137">
                <a:tc>
                  <a:txBody>
                    <a:bodyPr/>
                    <a:lstStyle/>
                    <a:p>
                      <a:pPr>
                        <a:defRPr sz="850" b="0">
                          <a:solidFill>
                            <a:srgbClr val="F8FAFC"/>
                          </a:solidFill>
                        </a:defRPr>
                      </a:pPr>
                      <a:r>
                        <a:t>COUNTING</a:t>
                      </a:r>
                    </a:p>
                  </a:txBody>
                  <a:tcPr>
                    <a:solidFill>
                      <a:srgbClr val="1E293B"/>
                    </a:solidFill>
                  </a:tcPr>
                </a:tc>
                <a:tc>
                  <a:txBody>
                    <a:bodyPr/>
                    <a:lstStyle/>
                    <a:p>
                      <a:pPr>
                        <a:defRPr sz="850" b="0">
                          <a:solidFill>
                            <a:srgbClr val="F8FAFC"/>
                          </a:solidFill>
                        </a:defRPr>
                      </a:pPr>
                      <a:r>
                        <a:t>Episode consolidation, gap parameter</a:t>
                      </a:r>
                    </a:p>
                  </a:txBody>
                  <a:tcPr>
                    <a:solidFill>
                      <a:srgbClr val="1E293B"/>
                    </a:solidFill>
                  </a:tcPr>
                </a:tc>
                <a:tc>
                  <a:txBody>
                    <a:bodyPr/>
                    <a:lstStyle/>
                    <a:p>
                      <a:pPr>
                        <a:defRPr sz="850" b="0">
                          <a:solidFill>
                            <a:srgbClr val="F8FAFC"/>
                          </a:solidFill>
                        </a:defRPr>
                      </a:pPr>
                      <a:r>
                        <a:t>Defines how many alerting hours constitute one alarm</a:t>
                      </a:r>
                    </a:p>
                  </a:txBody>
                  <a:tcPr>
                    <a:solidFill>
                      <a:srgbClr val="1E293B"/>
                    </a:solidFill>
                  </a:tcPr>
                </a:tc>
                <a:tc>
                  <a:txBody>
                    <a:bodyPr/>
                    <a:lstStyle/>
                    <a:p>
                      <a:pPr>
                        <a:defRPr sz="850" b="0">
                          <a:solidFill>
                            <a:srgbClr val="F8FAFC"/>
                          </a:solidFill>
                        </a:defRPr>
                      </a:pPr>
                      <a:r>
                        <a:t>None — recall is invariant at every setting</a:t>
                      </a:r>
                    </a:p>
                  </a:txBody>
                  <a:tcPr>
                    <a:solidFill>
                      <a:srgbClr val="1E293B"/>
                    </a:solidFill>
                  </a:tcPr>
                </a:tc>
                <a:tc>
                  <a:txBody>
                    <a:bodyPr/>
                    <a:lstStyle/>
                    <a:p>
                      <a:pPr>
                        <a:defRPr sz="850" b="0">
                          <a:solidFill>
                            <a:srgbClr val="F8FAFC"/>
                          </a:solidFill>
                        </a:defRPr>
                      </a:pPr>
                      <a:r>
                        <a:t>A reporting convention; the full curve is always shown</a:t>
                      </a:r>
                    </a:p>
                  </a:txBody>
                  <a:tcPr>
                    <a:solidFill>
                      <a:srgbClr val="1E293B"/>
                    </a:solidFill>
                  </a:tcPr>
                </a:tc>
              </a:tr>
              <a:tr h="444138">
                <a:tc>
                  <a:txBody>
                    <a:bodyPr/>
                    <a:lstStyle/>
                    <a:p>
                      <a:pPr>
                        <a:defRPr sz="850" b="0">
                          <a:solidFill>
                            <a:srgbClr val="F8FAFC"/>
                          </a:solidFill>
                        </a:defRPr>
                      </a:pPr>
                      <a:r>
                        <a:t>DEFINITION</a:t>
                      </a:r>
                    </a:p>
                  </a:txBody>
                  <a:tcPr>
                    <a:solidFill>
                      <a:srgbClr val="1E293B"/>
                    </a:solidFill>
                  </a:tcPr>
                </a:tc>
                <a:tc>
                  <a:txBody>
                    <a:bodyPr/>
                    <a:lstStyle/>
                    <a:p>
                      <a:pPr>
                        <a:defRPr sz="850" b="0">
                          <a:solidFill>
                            <a:srgbClr val="F8FAFC"/>
                          </a:solidFill>
                        </a:defRPr>
                      </a:pPr>
                      <a:r>
                        <a:t>Refined event definition</a:t>
                      </a:r>
                    </a:p>
                  </a:txBody>
                  <a:tcPr>
                    <a:solidFill>
                      <a:srgbClr val="1E293B"/>
                    </a:solidFill>
                  </a:tcPr>
                </a:tc>
                <a:tc>
                  <a:txBody>
                    <a:bodyPr/>
                    <a:lstStyle/>
                    <a:p>
                      <a:pPr>
                        <a:defRPr sz="850" b="0">
                          <a:solidFill>
                            <a:srgbClr val="F8FAFC"/>
                          </a:solidFill>
                        </a:defRPr>
                      </a:pPr>
                      <a:r>
                        <a:t>Recognises non-consecutive critical excursions as events</a:t>
                      </a:r>
                    </a:p>
                  </a:txBody>
                  <a:tcPr>
                    <a:solidFill>
                      <a:srgbClr val="1E293B"/>
                    </a:solidFill>
                  </a:tcPr>
                </a:tc>
                <a:tc>
                  <a:txBody>
                    <a:bodyPr/>
                    <a:lstStyle/>
                    <a:p>
                      <a:pPr>
                        <a:defRPr sz="850" b="0">
                          <a:solidFill>
                            <a:srgbClr val="F8FAFC"/>
                          </a:solidFill>
                        </a:defRPr>
                      </a:pPr>
                      <a:r>
                        <a:t>Improves — recall rises</a:t>
                      </a:r>
                    </a:p>
                  </a:txBody>
                  <a:tcPr>
                    <a:solidFill>
                      <a:srgbClr val="1E293B"/>
                    </a:solidFill>
                  </a:tcPr>
                </a:tc>
                <a:tc>
                  <a:txBody>
                    <a:bodyPr/>
                    <a:lstStyle/>
                    <a:p>
                      <a:pPr>
                        <a:defRPr sz="850" b="0">
                          <a:solidFill>
                            <a:srgbClr val="F8FAFC"/>
                          </a:solidFill>
                        </a:defRPr>
                      </a:pPr>
                      <a:r>
                        <a:t>False episodes 1,384 → 1,209; validated as a better training signal</a:t>
                      </a:r>
                    </a:p>
                  </a:txBody>
                  <a:tcPr>
                    <a:solidFill>
                      <a:srgbClr val="1E293B"/>
                    </a:solidFill>
                  </a:tcPr>
                </a:tc>
              </a:tr>
            </a:tbl>
          </a:graphicData>
        </a:graphic>
      </p:graphicFrame>
      <p:sp>
        <p:nvSpPr>
          <p:cNvPr id="6" name="TextBox 5"/>
          <p:cNvSpPr txBox="1"/>
          <p:nvPr/>
        </p:nvSpPr>
        <p:spPr>
          <a:xfrm>
            <a:off x="822960" y="5440680"/>
            <a:ext cx="10607040" cy="914400"/>
          </a:xfrm>
          <a:prstGeom prst="rect">
            <a:avLst/>
          </a:prstGeom>
          <a:noFill/>
        </p:spPr>
        <p:txBody>
          <a:bodyPr wrap="square">
            <a:spAutoFit/>
          </a:bodyPr>
          <a:lstStyle/>
          <a:p>
            <a:pPr>
              <a:defRPr sz="1100" b="1">
                <a:solidFill>
                  <a:srgbClr val="FBBF24"/>
                </a:solidFill>
                <a:latin typeface="Calibri"/>
              </a:defRPr>
            </a:pPr>
            <a:r>
              <a:t>The ORDERING and BEHAVIOUR categories improve the clinician's experience at no cost to detection, so they are adopted unconditionally. The TRADE category is where genuine precision is purchased and the price is stated alongside. The COUNTING category is reported as a curve rather than a single value, so the convention chosen is visible rather than embedded.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Architecture Comparison: Gradient-Boosted Trees and Neural Networks</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5074920" cy="5029200"/>
          </a:xfrm>
          <a:prstGeom prst="rect">
            <a:avLst/>
          </a:prstGeom>
          <a:noFill/>
        </p:spPr>
        <p:txBody>
          <a:bodyPr wrap="square">
            <a:spAutoFit/>
          </a:bodyPr>
          <a:lstStyle/>
          <a:p>
            <a:pPr>
              <a:defRPr sz="1200" b="1">
                <a:solidFill>
                  <a:srgbClr val="38BDF8"/>
                </a:solidFill>
                <a:latin typeface="Calibri"/>
              </a:defRPr>
            </a:pPr>
            <a:r>
              <a:t>THE QUESTION</a:t>
            </a:r>
          </a:p>
          <a:p>
            <a:pPr>
              <a:defRPr sz="1050" b="0">
                <a:solidFill>
                  <a:srgbClr val="F8FAFC"/>
                </a:solidFill>
                <a:latin typeface="Calibri"/>
              </a:defRPr>
            </a:pPr>
            <a:r>
              <a:t>The baseline trains seven independent classifiers, one per interval, sharing no parameters. An alternative is a single network with a shared representation and one output head per interval, trained on a combined loss so that gradient from every interval updates the same trunk — allowing the intervals to inform one another.</a:t>
            </a:r>
          </a:p>
          <a:p>
            <a:br/>
            <a:pPr>
              <a:defRPr sz="1050" b="0">
                <a:solidFill>
                  <a:srgbClr val="94A3B8"/>
                </a:solidFill>
                <a:latin typeface="Calibri"/>
              </a:defRPr>
            </a:pPr>
            <a:r>
              <a:t>Moving directly between those designs changes both the parameter sharing and the base learner simultaneously. Four configurations were therefore trained so that each change can be attributed separately.</a:t>
            </a:r>
          </a:p>
          <a:p>
            <a:br/>
            <a:pPr>
              <a:defRPr sz="1200" b="1">
                <a:solidFill>
                  <a:srgbClr val="38BDF8"/>
                </a:solidFill>
                <a:latin typeface="Calibri"/>
              </a:defRPr>
            </a:pPr>
            <a:r>
              <a:t>THE FOUR CONFIGURATIONS</a:t>
            </a:r>
          </a:p>
          <a:p>
            <a:pPr>
              <a:defRPr sz="1050" b="0">
                <a:solidFill>
                  <a:srgbClr val="F8FAFC"/>
                </a:solidFill>
                <a:latin typeface="Calibri"/>
              </a:defRPr>
            </a:pPr>
            <a:r>
              <a:t>1.   Seven independent gradient-boosted classifiers   —   0.7860</a:t>
            </a:r>
          </a:p>
          <a:p>
            <a:pPr>
              <a:defRPr sz="1050" b="0">
                <a:solidFill>
                  <a:srgbClr val="F8FAFC"/>
                </a:solidFill>
                <a:latin typeface="Calibri"/>
              </a:defRPr>
            </a:pPr>
            <a:r>
              <a:t>2.   One pooled classifier taking the interval index as an input feature, so all parameters are shared while the base learner is held fixed   —   0.7853</a:t>
            </a:r>
          </a:p>
          <a:p>
            <a:pPr>
              <a:defRPr sz="1050" b="0">
                <a:solidFill>
                  <a:srgbClr val="F8FAFC"/>
                </a:solidFill>
                <a:latin typeface="Calibri"/>
              </a:defRPr>
            </a:pPr>
            <a:r>
              <a:t>3.   Shared-trunk network, 55 → 128 → 64, with seven hazard heads trained on a masked cross-entropy loss   —   0.7779</a:t>
            </a:r>
          </a:p>
          <a:p>
            <a:pPr>
              <a:defRPr sz="1050" b="0">
                <a:solidFill>
                  <a:srgbClr val="F8FAFC"/>
                </a:solidFill>
                <a:latin typeface="Calibri"/>
              </a:defRPr>
            </a:pPr>
            <a:r>
              <a:t>4.   Shared-trunk network with monotone cumulative heads   —   0.7767</a:t>
            </a:r>
          </a:p>
          <a:p>
            <a:br/>
            <a:pPr>
              <a:defRPr sz="1200" b="1">
                <a:solidFill>
                  <a:srgbClr val="FBBF24"/>
                </a:solidFill>
                <a:latin typeface="Calibri"/>
              </a:defRPr>
            </a:pPr>
            <a:r>
              <a:t>FINDINGS</a:t>
            </a:r>
          </a:p>
          <a:p>
            <a:pPr>
              <a:defRPr sz="1050" b="0">
                <a:solidFill>
                  <a:srgbClr val="F8FAFC"/>
                </a:solidFill>
                <a:latin typeface="Calibri"/>
              </a:defRPr>
            </a:pPr>
            <a:r>
              <a:t>Parameter sharing in isolation changes the C-index by −0.0007. The total spread across all four architectures is 0.0093, against confidence intervals approximately 0.040 wide — the four are statistically indistinguishable.</a:t>
            </a:r>
          </a:p>
          <a:p>
            <a:br/>
            <a:pPr>
              <a:defRPr sz="1050" b="0">
                <a:solidFill>
                  <a:srgbClr val="94A3B8"/>
                </a:solidFill>
                <a:latin typeface="Calibri"/>
              </a:defRPr>
            </a:pPr>
            <a:r>
              <a:t>Sharing behaves as theory predicts in detail: it improves the data-poor late intervals, from 0.7387 to 0.7455 at twelve hours, and degrades the data-rich early one, from 0.8707 to 0.8645 at two hours. The two effects cancel. Parameter sharing benefits a task starved of data, and the smallest interval here still holds 105,416 training rows.</a:t>
            </a:r>
          </a:p>
          <a:p>
            <a:br/>
            <a:pPr>
              <a:defRPr sz="1050" b="0">
                <a:solidFill>
                  <a:srgbClr val="94A3B8"/>
                </a:solidFill>
                <a:latin typeface="Calibri"/>
              </a:defRPr>
            </a:pPr>
            <a:r>
              <a:t>A search across eight network configurations spanned only 0.7% of validation loss, indicating the neural result reflects the architecture rather than insufficient tuning.</a:t>
            </a:r>
          </a:p>
        </p:txBody>
      </p:sp>
      <p:pic>
        <p:nvPicPr>
          <p:cNvPr id="5" name="Picture 4" descr="architecture.png"/>
          <p:cNvPicPr>
            <a:picLocks noChangeAspect="1"/>
          </p:cNvPicPr>
          <p:nvPr/>
        </p:nvPicPr>
        <p:blipFill>
          <a:blip r:embed="rId2"/>
          <a:stretch>
            <a:fillRect/>
          </a:stretch>
        </p:blipFill>
        <p:spPr>
          <a:xfrm>
            <a:off x="6080760" y="1371600"/>
            <a:ext cx="5394960" cy="2471106"/>
          </a:xfrm>
          <a:prstGeom prst="rect">
            <a:avLst/>
          </a:prstGeom>
        </p:spPr>
      </p:pic>
      <p:sp>
        <p:nvSpPr>
          <p:cNvPr id="6" name="TextBox 5"/>
          <p:cNvSpPr txBox="1"/>
          <p:nvPr/>
        </p:nvSpPr>
        <p:spPr>
          <a:xfrm>
            <a:off x="6080760" y="4114800"/>
            <a:ext cx="5394960" cy="2194560"/>
          </a:xfrm>
          <a:prstGeom prst="rect">
            <a:avLst/>
          </a:prstGeom>
          <a:noFill/>
        </p:spPr>
        <p:txBody>
          <a:bodyPr wrap="square">
            <a:spAutoFit/>
          </a:bodyPr>
          <a:lstStyle/>
          <a:p>
            <a:pPr>
              <a:defRPr sz="1150" b="1">
                <a:solidFill>
                  <a:srgbClr val="38BDF8"/>
                </a:solidFill>
                <a:latin typeface="Calibri"/>
              </a:defRPr>
            </a:pPr>
            <a:r>
              <a:t>CALIBRATION APPLIED IDENTICALLY ACROSS ALL FOUR</a:t>
            </a:r>
          </a:p>
          <a:p>
            <a:pPr>
              <a:defRPr sz="1050" b="0">
                <a:solidFill>
                  <a:srgbClr val="F8FAFC"/>
                </a:solidFill>
                <a:latin typeface="Calibri"/>
              </a:defRPr>
            </a:pPr>
            <a:r>
              <a:t>Each interval's raw score is mapped to a probability by an isotonic regression fitted on the calibration split. Isotonic regression fits a monotone step function minimising squared error against the observed outcome. Being non-parametric it corrects any shape of miscalibration; being monotone it cannot alter the ordering of patients, and therefore leaves AUROC exactly unchanged.</a:t>
            </a:r>
          </a:p>
          <a:p>
            <a:br/>
            <a:pPr>
              <a:defRPr sz="1050" b="0">
                <a:solidFill>
                  <a:srgbClr val="FBBF24"/>
                </a:solidFill>
                <a:latin typeface="Calibri"/>
              </a:defRPr>
            </a:pPr>
            <a:r>
              <a:t>Applying the identical calibration procedure to every configuration ensures the architecture comparison measures the hazard estimate itself, rather than differences in how the scores were post-processed. Resulting calibration slope 1.007, expected calibration error 0.013.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THE ESCALATION-OF-CARE MODEL</a:t>
            </a:r>
          </a:p>
          <a:p>
            <a:pPr>
              <a:defRPr sz="2000" b="1">
                <a:solidFill>
                  <a:srgbClr val="F8FAFC"/>
                </a:solidFill>
                <a:latin typeface="Calibri"/>
              </a:defRPr>
            </a:pPr>
            <a:r>
              <a:t>Part 2: Redefining the Prediction Target</a:t>
            </a:r>
          </a:p>
        </p:txBody>
      </p:sp>
      <p:sp>
        <p:nvSpPr>
          <p:cNvPr id="3" name="Rounded Rectangle 2"/>
          <p:cNvSpPr/>
          <p:nvPr/>
        </p:nvSpPr>
        <p:spPr>
          <a:xfrm>
            <a:off x="548640" y="1143000"/>
            <a:ext cx="539496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1325880"/>
            <a:ext cx="4892040" cy="4937760"/>
          </a:xfrm>
          <a:prstGeom prst="rect">
            <a:avLst/>
          </a:prstGeom>
          <a:noFill/>
        </p:spPr>
        <p:txBody>
          <a:bodyPr wrap="square">
            <a:spAutoFit/>
          </a:bodyPr>
          <a:lstStyle/>
          <a:p>
            <a:pPr>
              <a:defRPr sz="1200" b="1">
                <a:solidFill>
                  <a:srgbClr val="38BDF8"/>
                </a:solidFill>
                <a:latin typeface="Calibri"/>
              </a:defRPr>
            </a:pPr>
            <a:r>
              <a:t>PREVALENCE OF THE CURRENT TARGET</a:t>
            </a:r>
          </a:p>
          <a:p>
            <a:br/>
            <a:pPr>
              <a:defRPr sz="1250" b="1">
                <a:solidFill>
                  <a:srgbClr val="FBBF24"/>
                </a:solidFill>
                <a:latin typeface="Calibri"/>
              </a:defRPr>
            </a:pPr>
            <a:r>
              <a:t>NEWS2 ≥ 7 sustained for two hours occurs in 50.3% of coronary care admissions.</a:t>
            </a:r>
          </a:p>
          <a:p>
            <a:br/>
            <a:pPr>
              <a:defRPr sz="1050" b="0">
                <a:solidFill>
                  <a:srgbClr val="F8FAFC"/>
                </a:solidFill>
                <a:latin typeface="Calibri"/>
              </a:defRPr>
            </a:pPr>
            <a:r>
              <a:t>Published prevalence of the outcomes used by deployed deterioration systems:</a:t>
            </a:r>
          </a:p>
          <a:p>
            <a:pPr>
              <a:defRPr sz="1150" b="1">
                <a:solidFill>
                  <a:srgbClr val="F8FAFC"/>
                </a:solidFill>
                <a:latin typeface="Calibri"/>
              </a:defRPr>
            </a:pPr>
            <a:r>
              <a:t>Intensive care settings          11.3% – 32.8%</a:t>
            </a:r>
            <a:br/>
            <a:r>
              <a:t>Non-intensive settings             2.1% – 22.7%</a:t>
            </a:r>
          </a:p>
          <a:p>
            <a:br/>
            <a:pPr>
              <a:defRPr sz="1100" b="1">
                <a:solidFill>
                  <a:srgbClr val="F87171"/>
                </a:solidFill>
                <a:latin typeface="Calibri"/>
              </a:defRPr>
            </a:pPr>
            <a:r>
              <a:t>The current target lies above the entire published intensive-care range.</a:t>
            </a:r>
          </a:p>
          <a:p>
            <a:br/>
            <a:pPr>
              <a:defRPr sz="1200" b="1">
                <a:solidFill>
                  <a:srgbClr val="38BDF8"/>
                </a:solidFill>
                <a:latin typeface="Calibri"/>
              </a:defRPr>
            </a:pPr>
            <a:r>
              <a:t>WHY THIS CONSTRAINS PRECISION</a:t>
            </a:r>
          </a:p>
          <a:p>
            <a:pPr>
              <a:defRPr sz="1050" b="0">
                <a:solidFill>
                  <a:srgbClr val="F8FAFC"/>
                </a:solidFill>
                <a:latin typeface="Calibri"/>
              </a:defRPr>
            </a:pPr>
            <a:r>
              <a:t>Precision is bounded by prevalence. When an outcome occurs in half of all admissions, an alarm indicating that outcome cannot carry much information, because the alarm state and the ordinary state of the unit are nearly the same condition.</a:t>
            </a:r>
          </a:p>
          <a:p>
            <a:br/>
            <a:pPr>
              <a:defRPr sz="1050" b="0">
                <a:solidFill>
                  <a:srgbClr val="94A3B8"/>
                </a:solidFill>
                <a:latin typeface="Calibri"/>
              </a:defRPr>
            </a:pPr>
            <a:r>
              <a:t>This is a property of the target, not of the model, and no change to the model can remove it.</a:t>
            </a:r>
          </a:p>
        </p:txBody>
      </p:sp>
      <p:sp>
        <p:nvSpPr>
          <p:cNvPr id="5" name="Rounded Rectangle 4"/>
          <p:cNvSpPr/>
          <p:nvPr/>
        </p:nvSpPr>
        <p:spPr>
          <a:xfrm>
            <a:off x="6217920" y="1143000"/>
            <a:ext cx="5440680" cy="521208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73952" y="1325880"/>
            <a:ext cx="4937760" cy="4937760"/>
          </a:xfrm>
          <a:prstGeom prst="rect">
            <a:avLst/>
          </a:prstGeom>
          <a:noFill/>
        </p:spPr>
        <p:txBody>
          <a:bodyPr wrap="square">
            <a:spAutoFit/>
          </a:bodyPr>
          <a:lstStyle/>
          <a:p>
            <a:pPr>
              <a:defRPr sz="1200" b="1">
                <a:solidFill>
                  <a:srgbClr val="38BDF8"/>
                </a:solidFill>
                <a:latin typeface="Calibri"/>
              </a:defRPr>
            </a:pPr>
            <a:r>
              <a:t>WHY THE PREVALENCE IS SO HIGH</a:t>
            </a:r>
          </a:p>
          <a:p>
            <a:br/>
            <a:pPr>
              <a:defRPr sz="1100" b="0">
                <a:solidFill>
                  <a:srgbClr val="F8FAFC"/>
                </a:solidFill>
                <a:latin typeface="Calibri"/>
              </a:defRPr>
            </a:pPr>
            <a:r>
              <a:t>Under national protocol, NEWS2 ≥ 7 mandates an emergency response, continuous monitoring, and escalation to intensive-care-level care.</a:t>
            </a:r>
          </a:p>
          <a:p>
            <a:br/>
            <a:pPr>
              <a:defRPr sz="1250" b="1">
                <a:solidFill>
                  <a:srgbClr val="FBBF24"/>
                </a:solidFill>
                <a:latin typeface="Calibri"/>
              </a:defRPr>
            </a:pPr>
            <a:r>
              <a:t>Patients in a coronary care unit already receive all three.</a:t>
            </a:r>
          </a:p>
          <a:p>
            <a:br/>
            <a:pPr>
              <a:defRPr sz="1050" b="0">
                <a:solidFill>
                  <a:srgbClr val="F8FAFC"/>
                </a:solidFill>
                <a:latin typeface="Calibri"/>
              </a:defRPr>
            </a:pPr>
            <a:r>
              <a:t>The response the score exists to trigger is therefore already in place. For this population the threshold describes a routine state rather than an exceptional one — which is both why half the unit reaches it, and why an alarm based on it does not identify a decision that still needs to be taken.</a:t>
            </a:r>
          </a:p>
          <a:p>
            <a:br/>
            <a:pPr>
              <a:defRPr sz="1200" b="1">
                <a:solidFill>
                  <a:srgbClr val="38BDF8"/>
                </a:solidFill>
                <a:latin typeface="Calibri"/>
              </a:defRPr>
            </a:pPr>
            <a:r>
              <a:t>WHAT DEPLOYED SYSTEMS PREDICT INSTEAD</a:t>
            </a:r>
          </a:p>
          <a:p>
            <a:pPr>
              <a:defRPr sz="1050" b="0">
                <a:solidFill>
                  <a:srgbClr val="F8FAFC"/>
                </a:solidFill>
                <a:latin typeface="Calibri"/>
              </a:defRPr>
            </a:pPr>
            <a:r>
              <a:t>All fourteen systems in the JAMIA 2024 review predict transfer to intensive care, escalation of treatment, cardiac arrest, or death. None predicts a vital-sign score threshold.</a:t>
            </a:r>
          </a:p>
          <a:p>
            <a:br/>
            <a:pPr>
              <a:defRPr sz="1100" b="1">
                <a:solidFill>
                  <a:srgbClr val="34D399"/>
                </a:solidFill>
                <a:latin typeface="Calibri"/>
              </a:defRPr>
            </a:pPr>
            <a:r>
              <a:t>An outcome that is actionable within the unit is required — one where the alarm identifies a clinical decision not yet made.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THE ESCALATION-OF-CARE MODEL</a:t>
            </a:r>
          </a:p>
          <a:p>
            <a:pPr>
              <a:defRPr sz="2000" b="1">
                <a:solidFill>
                  <a:srgbClr val="F8FAFC"/>
                </a:solidFill>
                <a:latin typeface="Calibri"/>
              </a:defRPr>
            </a:pPr>
            <a:r>
              <a:t>The Escalation-of-Care Target: Full Definition</a:t>
            </a:r>
          </a:p>
        </p:txBody>
      </p:sp>
      <p:sp>
        <p:nvSpPr>
          <p:cNvPr id="3" name="Rounded Rectangle 2"/>
          <p:cNvSpPr/>
          <p:nvPr/>
        </p:nvSpPr>
        <p:spPr>
          <a:xfrm>
            <a:off x="548640" y="1097280"/>
            <a:ext cx="56235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1234440"/>
            <a:ext cx="5120640" cy="2194560"/>
          </a:xfrm>
          <a:prstGeom prst="rect">
            <a:avLst/>
          </a:prstGeom>
          <a:noFill/>
        </p:spPr>
        <p:txBody>
          <a:bodyPr wrap="square">
            <a:spAutoFit/>
          </a:bodyPr>
          <a:lstStyle/>
          <a:p>
            <a:pPr>
              <a:defRPr sz="1200" b="1">
                <a:solidFill>
                  <a:srgbClr val="38BDF8"/>
                </a:solidFill>
                <a:latin typeface="Calibri"/>
              </a:defRPr>
            </a:pPr>
            <a:r>
              <a:t>EVENT DEFINITION</a:t>
            </a:r>
          </a:p>
          <a:p>
            <a:pPr>
              <a:defRPr sz="1050" b="0">
                <a:solidFill>
                  <a:srgbClr val="F8FAFC"/>
                </a:solidFill>
                <a:latin typeface="Calibri"/>
              </a:defRPr>
            </a:pPr>
            <a:r>
              <a:t>The first occurrence, more than two hours after unit admission, of any escalation of organ support, of death, or of sustained circulatory collapse. All three are timestamped clinical facts rather than derived scores.</a:t>
            </a:r>
          </a:p>
          <a:p>
            <a:br/>
            <a:pPr>
              <a:defRPr sz="1200" b="1">
                <a:solidFill>
                  <a:srgbClr val="38BDF8"/>
                </a:solidFill>
                <a:latin typeface="Calibri"/>
              </a:defRPr>
            </a:pPr>
            <a:r>
              <a:t>COHORT RESTRICTION</a:t>
            </a:r>
          </a:p>
          <a:p>
            <a:pPr>
              <a:defRPr sz="1050" b="0">
                <a:solidFill>
                  <a:srgbClr val="F8FAFC"/>
                </a:solidFill>
                <a:latin typeface="Calibri"/>
              </a:defRPr>
            </a:pPr>
            <a:r>
              <a:t>Admissions whose event occurs within the first two hours are excluded from the modelling population. Median time from admission to first escalation in this unit is 1.07 hours, so for those patients the event is concurrent with or precedes the first available observation and there is nothing to forecast. They are covered instead by an admission rule that alerts immediately, so no patient is left unmonitored.</a:t>
            </a:r>
          </a:p>
        </p:txBody>
      </p:sp>
      <p:graphicFrame>
        <p:nvGraphicFramePr>
          <p:cNvPr id="5" name="Table 4"/>
          <p:cNvGraphicFramePr>
            <a:graphicFrameLocks noGrp="1"/>
          </p:cNvGraphicFramePr>
          <p:nvPr/>
        </p:nvGraphicFramePr>
        <p:xfrm>
          <a:off x="786384" y="3611880"/>
          <a:ext cx="5120640" cy="1051560"/>
        </p:xfrm>
        <a:graphic>
          <a:graphicData uri="http://schemas.openxmlformats.org/drawingml/2006/table">
            <a:tbl>
              <a:tblPr firstRow="1" bandRow="1">
                <a:tableStyleId>{5C22544A-7EE6-4342-B048-85BDC9FD1C3A}</a:tableStyleId>
              </a:tblPr>
              <a:tblGrid>
                <a:gridCol w="3931920"/>
                <a:gridCol w="1188720"/>
              </a:tblGrid>
              <a:tr h="210312">
                <a:tc>
                  <a:txBody>
                    <a:bodyPr/>
                    <a:lstStyle/>
                    <a:p>
                      <a:pPr>
                        <a:defRPr sz="1000" b="1">
                          <a:solidFill>
                            <a:srgbClr val="FFFFFF"/>
                          </a:solidFill>
                        </a:defRPr>
                      </a:pPr>
                      <a:r>
                        <a:t>Cohort construction</a:t>
                      </a:r>
                    </a:p>
                  </a:txBody>
                  <a:tcPr>
                    <a:solidFill>
                      <a:srgbClr val="1E3A8A"/>
                    </a:solidFill>
                  </a:tcPr>
                </a:tc>
                <a:tc>
                  <a:txBody>
                    <a:bodyPr/>
                    <a:lstStyle/>
                    <a:p>
                      <a:pPr>
                        <a:defRPr sz="1000" b="1">
                          <a:solidFill>
                            <a:srgbClr val="FFFFFF"/>
                          </a:solidFill>
                        </a:defRPr>
                      </a:pPr>
                      <a:r>
                        <a:t>Admissions</a:t>
                      </a:r>
                    </a:p>
                  </a:txBody>
                  <a:tcPr>
                    <a:solidFill>
                      <a:srgbClr val="1E3A8A"/>
                    </a:solidFill>
                  </a:tcPr>
                </a:tc>
              </a:tr>
              <a:tr h="210312">
                <a:tc>
                  <a:txBody>
                    <a:bodyPr/>
                    <a:lstStyle/>
                    <a:p>
                      <a:pPr>
                        <a:defRPr sz="1000" b="0">
                          <a:solidFill>
                            <a:srgbClr val="F8FAFC"/>
                          </a:solidFill>
                        </a:defRPr>
                      </a:pPr>
                      <a:r>
                        <a:t>All coronary care admissions</a:t>
                      </a:r>
                    </a:p>
                  </a:txBody>
                  <a:tcPr>
                    <a:solidFill>
                      <a:srgbClr val="1E293B"/>
                    </a:solidFill>
                  </a:tcPr>
                </a:tc>
                <a:tc>
                  <a:txBody>
                    <a:bodyPr/>
                    <a:lstStyle/>
                    <a:p>
                      <a:pPr>
                        <a:defRPr sz="1000" b="0">
                          <a:solidFill>
                            <a:srgbClr val="F8FAFC"/>
                          </a:solidFill>
                        </a:defRPr>
                      </a:pPr>
                      <a:r>
                        <a:t>10,775</a:t>
                      </a:r>
                    </a:p>
                  </a:txBody>
                  <a:tcPr>
                    <a:solidFill>
                      <a:srgbClr val="1E293B"/>
                    </a:solidFill>
                  </a:tcPr>
                </a:tc>
              </a:tr>
              <a:tr h="210312">
                <a:tc>
                  <a:txBody>
                    <a:bodyPr/>
                    <a:lstStyle/>
                    <a:p>
                      <a:pPr>
                        <a:defRPr sz="1000" b="0">
                          <a:solidFill>
                            <a:srgbClr val="F8FAFC"/>
                          </a:solidFill>
                        </a:defRPr>
                      </a:pPr>
                      <a:r>
                        <a:t>Excluded: event within the first two hours</a:t>
                      </a:r>
                    </a:p>
                  </a:txBody>
                  <a:tcPr>
                    <a:solidFill>
                      <a:srgbClr val="1E293B"/>
                    </a:solidFill>
                  </a:tcPr>
                </a:tc>
                <a:tc>
                  <a:txBody>
                    <a:bodyPr/>
                    <a:lstStyle/>
                    <a:p>
                      <a:pPr>
                        <a:defRPr sz="1000" b="0">
                          <a:solidFill>
                            <a:srgbClr val="F8FAFC"/>
                          </a:solidFill>
                        </a:defRPr>
                      </a:pPr>
                      <a:r>
                        <a:t>− 2,965</a:t>
                      </a:r>
                    </a:p>
                  </a:txBody>
                  <a:tcPr>
                    <a:solidFill>
                      <a:srgbClr val="1E293B"/>
                    </a:solidFill>
                  </a:tcPr>
                </a:tc>
              </a:tr>
              <a:tr h="210312">
                <a:tc>
                  <a:txBody>
                    <a:bodyPr/>
                    <a:lstStyle/>
                    <a:p>
                      <a:pPr>
                        <a:defRPr sz="1000" b="0">
                          <a:solidFill>
                            <a:srgbClr val="F8FAFC"/>
                          </a:solidFill>
                        </a:defRPr>
                      </a:pPr>
                      <a:r>
                        <a:t>Excluded: stay shorter than two hours</a:t>
                      </a:r>
                    </a:p>
                  </a:txBody>
                  <a:tcPr>
                    <a:solidFill>
                      <a:srgbClr val="1E293B"/>
                    </a:solidFill>
                  </a:tcPr>
                </a:tc>
                <a:tc>
                  <a:txBody>
                    <a:bodyPr/>
                    <a:lstStyle/>
                    <a:p>
                      <a:pPr>
                        <a:defRPr sz="1000" b="0">
                          <a:solidFill>
                            <a:srgbClr val="F8FAFC"/>
                          </a:solidFill>
                        </a:defRPr>
                      </a:pPr>
                      <a:r>
                        <a:t>− 53</a:t>
                      </a:r>
                    </a:p>
                  </a:txBody>
                  <a:tcPr>
                    <a:solidFill>
                      <a:srgbClr val="1E293B"/>
                    </a:solidFill>
                  </a:tcPr>
                </a:tc>
              </a:tr>
              <a:tr h="210312">
                <a:tc>
                  <a:txBody>
                    <a:bodyPr/>
                    <a:lstStyle/>
                    <a:p>
                      <a:pPr>
                        <a:defRPr sz="1000" b="1">
                          <a:solidFill>
                            <a:srgbClr val="FBBF24"/>
                          </a:solidFill>
                        </a:defRPr>
                      </a:pPr>
                      <a:r>
                        <a:t>Modelling population</a:t>
                      </a:r>
                    </a:p>
                  </a:txBody>
                  <a:tcPr>
                    <a:solidFill>
                      <a:srgbClr val="142D46"/>
                    </a:solidFill>
                  </a:tcPr>
                </a:tc>
                <a:tc>
                  <a:txBody>
                    <a:bodyPr/>
                    <a:lstStyle/>
                    <a:p>
                      <a:pPr>
                        <a:defRPr sz="1000" b="1">
                          <a:solidFill>
                            <a:srgbClr val="FBBF24"/>
                          </a:solidFill>
                        </a:defRPr>
                      </a:pPr>
                      <a:r>
                        <a:t>7,757</a:t>
                      </a:r>
                    </a:p>
                  </a:txBody>
                  <a:tcPr>
                    <a:solidFill>
                      <a:srgbClr val="142D46"/>
                    </a:solidFill>
                  </a:tcPr>
                </a:tc>
              </a:tr>
            </a:tbl>
          </a:graphicData>
        </a:graphic>
      </p:graphicFrame>
      <p:sp>
        <p:nvSpPr>
          <p:cNvPr id="6" name="TextBox 5"/>
          <p:cNvSpPr txBox="1"/>
          <p:nvPr/>
        </p:nvSpPr>
        <p:spPr>
          <a:xfrm>
            <a:off x="786384" y="4892040"/>
            <a:ext cx="5120640" cy="1371600"/>
          </a:xfrm>
          <a:prstGeom prst="rect">
            <a:avLst/>
          </a:prstGeom>
          <a:noFill/>
        </p:spPr>
        <p:txBody>
          <a:bodyPr wrap="square">
            <a:spAutoFit/>
          </a:bodyPr>
          <a:lstStyle/>
          <a:p>
            <a:pPr>
              <a:defRPr sz="1300" b="1">
                <a:solidFill>
                  <a:srgbClr val="34D399"/>
                </a:solidFill>
                <a:latin typeface="Calibri"/>
              </a:defRPr>
            </a:pPr>
            <a:r>
              <a:t>2,034 events  ÷  7,757 admissions  =  26.2% prevalence</a:t>
            </a:r>
          </a:p>
          <a:p>
            <a:br/>
            <a:pPr>
              <a:defRPr sz="1050" b="0">
                <a:solidFill>
                  <a:srgbClr val="94A3B8"/>
                </a:solidFill>
                <a:latin typeface="Calibri"/>
              </a:defRPr>
            </a:pPr>
            <a:r>
              <a:t>Inside the published intensive-care range of 11.3% – 32.8%, and derived from clinical actions rather than from the vital signs used as model inputs — so the target is independent of the feature set.</a:t>
            </a:r>
          </a:p>
        </p:txBody>
      </p:sp>
      <p:sp>
        <p:nvSpPr>
          <p:cNvPr id="7" name="Rounded Rectangle 6"/>
          <p:cNvSpPr/>
          <p:nvPr/>
        </p:nvSpPr>
        <p:spPr>
          <a:xfrm>
            <a:off x="6446520" y="1097280"/>
            <a:ext cx="521208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234440"/>
            <a:ext cx="4754880" cy="457200"/>
          </a:xfrm>
          <a:prstGeom prst="rect">
            <a:avLst/>
          </a:prstGeom>
          <a:noFill/>
        </p:spPr>
        <p:txBody>
          <a:bodyPr wrap="square">
            <a:spAutoFit/>
          </a:bodyPr>
          <a:lstStyle/>
          <a:p>
            <a:pPr>
              <a:defRPr sz="1150" b="1">
                <a:solidFill>
                  <a:srgbClr val="38BDF8"/>
                </a:solidFill>
                <a:latin typeface="Calibri"/>
              </a:defRPr>
            </a:pPr>
            <a:r>
              <a:t>CONSTITUENT EVENTS, BY THE TRACK THAT FIRED FIRST</a:t>
            </a:r>
          </a:p>
        </p:txBody>
      </p:sp>
      <p:graphicFrame>
        <p:nvGraphicFramePr>
          <p:cNvPr id="9" name="Table 8"/>
          <p:cNvGraphicFramePr>
            <a:graphicFrameLocks noGrp="1"/>
          </p:cNvGraphicFramePr>
          <p:nvPr/>
        </p:nvGraphicFramePr>
        <p:xfrm>
          <a:off x="6675120" y="1719072"/>
          <a:ext cx="4754880" cy="2651760"/>
        </p:xfrm>
        <a:graphic>
          <a:graphicData uri="http://schemas.openxmlformats.org/drawingml/2006/table">
            <a:tbl>
              <a:tblPr firstRow="1" bandRow="1">
                <a:tableStyleId>{5C22544A-7EE6-4342-B048-85BDC9FD1C3A}</a:tableStyleId>
              </a:tblPr>
              <a:tblGrid>
                <a:gridCol w="3108960"/>
                <a:gridCol w="822960"/>
                <a:gridCol w="822960"/>
              </a:tblGrid>
              <a:tr h="294640">
                <a:tc>
                  <a:txBody>
                    <a:bodyPr/>
                    <a:lstStyle/>
                    <a:p>
                      <a:pPr>
                        <a:defRPr sz="950" b="1">
                          <a:solidFill>
                            <a:srgbClr val="FFFFFF"/>
                          </a:solidFill>
                        </a:defRPr>
                      </a:pPr>
                      <a:r>
                        <a:t>Event track</a:t>
                      </a:r>
                    </a:p>
                  </a:txBody>
                  <a:tcPr>
                    <a:solidFill>
                      <a:srgbClr val="1E3A8A"/>
                    </a:solidFill>
                  </a:tcPr>
                </a:tc>
                <a:tc>
                  <a:txBody>
                    <a:bodyPr/>
                    <a:lstStyle/>
                    <a:p>
                      <a:pPr>
                        <a:defRPr sz="950" b="1">
                          <a:solidFill>
                            <a:srgbClr val="FFFFFF"/>
                          </a:solidFill>
                        </a:defRPr>
                      </a:pPr>
                      <a:r>
                        <a:t>Events</a:t>
                      </a:r>
                    </a:p>
                  </a:txBody>
                  <a:tcPr>
                    <a:solidFill>
                      <a:srgbClr val="1E3A8A"/>
                    </a:solidFill>
                  </a:tcPr>
                </a:tc>
                <a:tc>
                  <a:txBody>
                    <a:bodyPr/>
                    <a:lstStyle/>
                    <a:p>
                      <a:pPr>
                        <a:defRPr sz="950" b="1">
                          <a:solidFill>
                            <a:srgbClr val="FFFFFF"/>
                          </a:solidFill>
                        </a:defRPr>
                      </a:pPr>
                      <a:r>
                        <a:t>New</a:t>
                      </a:r>
                    </a:p>
                  </a:txBody>
                  <a:tcPr>
                    <a:solidFill>
                      <a:srgbClr val="1E3A8A"/>
                    </a:solidFill>
                  </a:tcPr>
                </a:tc>
              </a:tr>
              <a:tr h="294640">
                <a:tc>
                  <a:txBody>
                    <a:bodyPr/>
                    <a:lstStyle/>
                    <a:p>
                      <a:pPr>
                        <a:defRPr sz="950" b="0">
                          <a:solidFill>
                            <a:srgbClr val="F8FAFC"/>
                          </a:solidFill>
                        </a:defRPr>
                      </a:pPr>
                      <a:r>
                        <a:t>Vasopressor or inotrope initiation</a:t>
                      </a:r>
                    </a:p>
                  </a:txBody>
                  <a:tcPr>
                    <a:solidFill>
                      <a:srgbClr val="1E293B"/>
                    </a:solidFill>
                  </a:tcPr>
                </a:tc>
                <a:tc>
                  <a:txBody>
                    <a:bodyPr/>
                    <a:lstStyle/>
                    <a:p>
                      <a:pPr>
                        <a:defRPr sz="950" b="0">
                          <a:solidFill>
                            <a:srgbClr val="F8FAFC"/>
                          </a:solidFill>
                        </a:defRPr>
                      </a:pPr>
                      <a:r>
                        <a:t>696</a:t>
                      </a:r>
                    </a:p>
                  </a:txBody>
                  <a:tcPr>
                    <a:solidFill>
                      <a:srgbClr val="1E293B"/>
                    </a:solidFill>
                  </a:tcPr>
                </a:tc>
                <a:tc>
                  <a:txBody>
                    <a:bodyPr/>
                    <a:lstStyle/>
                    <a:p>
                      <a:pPr>
                        <a:defRPr sz="950" b="0">
                          <a:solidFill>
                            <a:srgbClr val="F8FAFC"/>
                          </a:solidFill>
                        </a:defRPr>
                      </a:pPr>
                    </a:p>
                  </a:txBody>
                  <a:tcPr>
                    <a:solidFill>
                      <a:srgbClr val="1E293B"/>
                    </a:solidFill>
                  </a:tcPr>
                </a:tc>
              </a:tr>
              <a:tr h="294640">
                <a:tc>
                  <a:txBody>
                    <a:bodyPr/>
                    <a:lstStyle/>
                    <a:p>
                      <a:pPr>
                        <a:defRPr sz="950" b="0">
                          <a:solidFill>
                            <a:srgbClr val="F8FAFC"/>
                          </a:solidFill>
                        </a:defRPr>
                      </a:pPr>
                      <a:r>
                        <a:t>Death without prior escalation</a:t>
                      </a:r>
                    </a:p>
                  </a:txBody>
                  <a:tcPr>
                    <a:solidFill>
                      <a:srgbClr val="1E293B"/>
                    </a:solidFill>
                  </a:tcPr>
                </a:tc>
                <a:tc>
                  <a:txBody>
                    <a:bodyPr/>
                    <a:lstStyle/>
                    <a:p>
                      <a:pPr>
                        <a:defRPr sz="950" b="0">
                          <a:solidFill>
                            <a:srgbClr val="F8FAFC"/>
                          </a:solidFill>
                        </a:defRPr>
                      </a:pPr>
                      <a:r>
                        <a:t>424</a:t>
                      </a:r>
                    </a:p>
                  </a:txBody>
                  <a:tcPr>
                    <a:solidFill>
                      <a:srgbClr val="1E293B"/>
                    </a:solidFill>
                  </a:tcPr>
                </a:tc>
                <a:tc>
                  <a:txBody>
                    <a:bodyPr/>
                    <a:lstStyle/>
                    <a:p>
                      <a:pPr>
                        <a:defRPr sz="950" b="0">
                          <a:solidFill>
                            <a:srgbClr val="F8FAFC"/>
                          </a:solidFill>
                        </a:defRPr>
                      </a:pPr>
                    </a:p>
                  </a:txBody>
                  <a:tcPr>
                    <a:solidFill>
                      <a:srgbClr val="1E293B"/>
                    </a:solidFill>
                  </a:tcPr>
                </a:tc>
              </a:tr>
              <a:tr h="294640">
                <a:tc>
                  <a:txBody>
                    <a:bodyPr/>
                    <a:lstStyle/>
                    <a:p>
                      <a:pPr>
                        <a:defRPr sz="950" b="0">
                          <a:solidFill>
                            <a:srgbClr val="F8FAFC"/>
                          </a:solidFill>
                        </a:defRPr>
                      </a:pPr>
                      <a:r>
                        <a:t>Mechanical ventilation initiation</a:t>
                      </a:r>
                    </a:p>
                  </a:txBody>
                  <a:tcPr>
                    <a:solidFill>
                      <a:srgbClr val="1E293B"/>
                    </a:solidFill>
                  </a:tcPr>
                </a:tc>
                <a:tc>
                  <a:txBody>
                    <a:bodyPr/>
                    <a:lstStyle/>
                    <a:p>
                      <a:pPr>
                        <a:defRPr sz="950" b="0">
                          <a:solidFill>
                            <a:srgbClr val="F8FAFC"/>
                          </a:solidFill>
                        </a:defRPr>
                      </a:pPr>
                      <a:r>
                        <a:t>350</a:t>
                      </a:r>
                    </a:p>
                  </a:txBody>
                  <a:tcPr>
                    <a:solidFill>
                      <a:srgbClr val="1E293B"/>
                    </a:solidFill>
                  </a:tcPr>
                </a:tc>
                <a:tc>
                  <a:txBody>
                    <a:bodyPr/>
                    <a:lstStyle/>
                    <a:p>
                      <a:pPr>
                        <a:defRPr sz="950" b="0">
                          <a:solidFill>
                            <a:srgbClr val="F8FAFC"/>
                          </a:solidFill>
                        </a:defRPr>
                      </a:pPr>
                    </a:p>
                  </a:txBody>
                  <a:tcPr>
                    <a:solidFill>
                      <a:srgbClr val="1E293B"/>
                    </a:solidFill>
                  </a:tcPr>
                </a:tc>
              </a:tr>
              <a:tr h="294640">
                <a:tc>
                  <a:txBody>
                    <a:bodyPr/>
                    <a:lstStyle/>
                    <a:p>
                      <a:pPr>
                        <a:defRPr sz="950" b="0">
                          <a:solidFill>
                            <a:srgbClr val="F8FAFC"/>
                          </a:solidFill>
                        </a:defRPr>
                      </a:pPr>
                      <a:r>
                        <a:t>Renal replacement therapy initiation</a:t>
                      </a:r>
                    </a:p>
                  </a:txBody>
                  <a:tcPr>
                    <a:solidFill>
                      <a:srgbClr val="1E293B"/>
                    </a:solidFill>
                  </a:tcPr>
                </a:tc>
                <a:tc>
                  <a:txBody>
                    <a:bodyPr/>
                    <a:lstStyle/>
                    <a:p>
                      <a:pPr>
                        <a:defRPr sz="950" b="0">
                          <a:solidFill>
                            <a:srgbClr val="F8FAFC"/>
                          </a:solidFill>
                        </a:defRPr>
                      </a:pPr>
                      <a:r>
                        <a:t>164</a:t>
                      </a:r>
                    </a:p>
                  </a:txBody>
                  <a:tcPr>
                    <a:solidFill>
                      <a:srgbClr val="1E293B"/>
                    </a:solidFill>
                  </a:tcPr>
                </a:tc>
                <a:tc>
                  <a:txBody>
                    <a:bodyPr/>
                    <a:lstStyle/>
                    <a:p>
                      <a:pPr>
                        <a:defRPr sz="950" b="0">
                          <a:solidFill>
                            <a:srgbClr val="F8FAFC"/>
                          </a:solidFill>
                        </a:defRPr>
                      </a:pPr>
                    </a:p>
                  </a:txBody>
                  <a:tcPr>
                    <a:solidFill>
                      <a:srgbClr val="1E293B"/>
                    </a:solidFill>
                  </a:tcPr>
                </a:tc>
              </a:tr>
              <a:tr h="294640">
                <a:tc>
                  <a:txBody>
                    <a:bodyPr/>
                    <a:lstStyle/>
                    <a:p>
                      <a:pPr>
                        <a:defRPr sz="950" b="0">
                          <a:solidFill>
                            <a:srgbClr val="F8FAFC"/>
                          </a:solidFill>
                        </a:defRPr>
                      </a:pPr>
                      <a:r>
                        <a:t>Intubation, pericardiocentesis, pacing</a:t>
                      </a:r>
                    </a:p>
                  </a:txBody>
                  <a:tcPr>
                    <a:solidFill>
                      <a:srgbClr val="1E293B"/>
                    </a:solidFill>
                  </a:tcPr>
                </a:tc>
                <a:tc>
                  <a:txBody>
                    <a:bodyPr/>
                    <a:lstStyle/>
                    <a:p>
                      <a:pPr>
                        <a:defRPr sz="950" b="0">
                          <a:solidFill>
                            <a:srgbClr val="F8FAFC"/>
                          </a:solidFill>
                        </a:defRPr>
                      </a:pPr>
                      <a:r>
                        <a:t>127</a:t>
                      </a:r>
                    </a:p>
                  </a:txBody>
                  <a:tcPr>
                    <a:solidFill>
                      <a:srgbClr val="1E293B"/>
                    </a:solidFill>
                  </a:tcPr>
                </a:tc>
                <a:tc>
                  <a:txBody>
                    <a:bodyPr/>
                    <a:lstStyle/>
                    <a:p>
                      <a:pPr>
                        <a:defRPr sz="950" b="0">
                          <a:solidFill>
                            <a:srgbClr val="F8FAFC"/>
                          </a:solidFill>
                        </a:defRPr>
                      </a:pPr>
                      <a:r>
                        <a:t>yes</a:t>
                      </a:r>
                    </a:p>
                  </a:txBody>
                  <a:tcPr>
                    <a:solidFill>
                      <a:srgbClr val="1E293B"/>
                    </a:solidFill>
                  </a:tcPr>
                </a:tc>
              </a:tr>
              <a:tr h="294640">
                <a:tc>
                  <a:txBody>
                    <a:bodyPr/>
                    <a:lstStyle/>
                    <a:p>
                      <a:pPr>
                        <a:defRPr sz="950" b="0">
                          <a:solidFill>
                            <a:srgbClr val="F8FAFC"/>
                          </a:solidFill>
                        </a:defRPr>
                      </a:pPr>
                      <a:r>
                        <a:t>Sustained circulatory collapse</a:t>
                      </a:r>
                    </a:p>
                  </a:txBody>
                  <a:tcPr>
                    <a:solidFill>
                      <a:srgbClr val="1E293B"/>
                    </a:solidFill>
                  </a:tcPr>
                </a:tc>
                <a:tc>
                  <a:txBody>
                    <a:bodyPr/>
                    <a:lstStyle/>
                    <a:p>
                      <a:pPr>
                        <a:defRPr sz="950" b="0">
                          <a:solidFill>
                            <a:srgbClr val="F8FAFC"/>
                          </a:solidFill>
                        </a:defRPr>
                      </a:pPr>
                      <a:r>
                        <a:t>116</a:t>
                      </a:r>
                    </a:p>
                  </a:txBody>
                  <a:tcPr>
                    <a:solidFill>
                      <a:srgbClr val="1E293B"/>
                    </a:solidFill>
                  </a:tcPr>
                </a:tc>
                <a:tc>
                  <a:txBody>
                    <a:bodyPr/>
                    <a:lstStyle/>
                    <a:p>
                      <a:pPr>
                        <a:defRPr sz="950" b="0">
                          <a:solidFill>
                            <a:srgbClr val="F8FAFC"/>
                          </a:solidFill>
                        </a:defRPr>
                      </a:pPr>
                      <a:r>
                        <a:t>yes</a:t>
                      </a:r>
                    </a:p>
                  </a:txBody>
                  <a:tcPr>
                    <a:solidFill>
                      <a:srgbClr val="1E293B"/>
                    </a:solidFill>
                  </a:tcPr>
                </a:tc>
              </a:tr>
              <a:tr h="294640">
                <a:tc>
                  <a:txBody>
                    <a:bodyPr/>
                    <a:lstStyle/>
                    <a:p>
                      <a:pPr>
                        <a:defRPr sz="950" b="0">
                          <a:solidFill>
                            <a:srgbClr val="F8FAFC"/>
                          </a:solidFill>
                        </a:defRPr>
                      </a:pPr>
                      <a:r>
                        <a:t>Cardiac arrest or defibrillation</a:t>
                      </a:r>
                    </a:p>
                  </a:txBody>
                  <a:tcPr>
                    <a:solidFill>
                      <a:srgbClr val="1E293B"/>
                    </a:solidFill>
                  </a:tcPr>
                </a:tc>
                <a:tc>
                  <a:txBody>
                    <a:bodyPr/>
                    <a:lstStyle/>
                    <a:p>
                      <a:pPr>
                        <a:defRPr sz="950" b="0">
                          <a:solidFill>
                            <a:srgbClr val="F8FAFC"/>
                          </a:solidFill>
                        </a:defRPr>
                      </a:pPr>
                      <a:r>
                        <a:t>97</a:t>
                      </a:r>
                    </a:p>
                  </a:txBody>
                  <a:tcPr>
                    <a:solidFill>
                      <a:srgbClr val="1E293B"/>
                    </a:solidFill>
                  </a:tcPr>
                </a:tc>
                <a:tc>
                  <a:txBody>
                    <a:bodyPr/>
                    <a:lstStyle/>
                    <a:p>
                      <a:pPr>
                        <a:defRPr sz="950" b="0">
                          <a:solidFill>
                            <a:srgbClr val="F8FAFC"/>
                          </a:solidFill>
                        </a:defRPr>
                      </a:pPr>
                      <a:r>
                        <a:t>yes</a:t>
                      </a:r>
                    </a:p>
                  </a:txBody>
                  <a:tcPr>
                    <a:solidFill>
                      <a:srgbClr val="1E293B"/>
                    </a:solidFill>
                  </a:tcPr>
                </a:tc>
              </a:tr>
              <a:tr h="294640">
                <a:tc>
                  <a:txBody>
                    <a:bodyPr/>
                    <a:lstStyle/>
                    <a:p>
                      <a:pPr>
                        <a:defRPr sz="950" b="0">
                          <a:solidFill>
                            <a:srgbClr val="F8FAFC"/>
                          </a:solidFill>
                        </a:defRPr>
                      </a:pPr>
                      <a:r>
                        <a:t>IABP, Impella, or ECMO</a:t>
                      </a:r>
                    </a:p>
                  </a:txBody>
                  <a:tcPr>
                    <a:solidFill>
                      <a:srgbClr val="1E293B"/>
                    </a:solidFill>
                  </a:tcPr>
                </a:tc>
                <a:tc>
                  <a:txBody>
                    <a:bodyPr/>
                    <a:lstStyle/>
                    <a:p>
                      <a:pPr>
                        <a:defRPr sz="950" b="0">
                          <a:solidFill>
                            <a:srgbClr val="F8FAFC"/>
                          </a:solidFill>
                        </a:defRPr>
                      </a:pPr>
                      <a:r>
                        <a:t>60</a:t>
                      </a:r>
                    </a:p>
                  </a:txBody>
                  <a:tcPr>
                    <a:solidFill>
                      <a:srgbClr val="1E293B"/>
                    </a:solidFill>
                  </a:tcPr>
                </a:tc>
                <a:tc>
                  <a:txBody>
                    <a:bodyPr/>
                    <a:lstStyle/>
                    <a:p>
                      <a:pPr>
                        <a:defRPr sz="950" b="0">
                          <a:solidFill>
                            <a:srgbClr val="F8FAFC"/>
                          </a:solidFill>
                        </a:defRPr>
                      </a:pPr>
                      <a:r>
                        <a:t>yes</a:t>
                      </a:r>
                    </a:p>
                  </a:txBody>
                  <a:tcPr>
                    <a:solidFill>
                      <a:srgbClr val="1E293B"/>
                    </a:solidFill>
                  </a:tcPr>
                </a:tc>
              </a:tr>
            </a:tbl>
          </a:graphicData>
        </a:graphic>
      </p:graphicFrame>
      <p:sp>
        <p:nvSpPr>
          <p:cNvPr id="10" name="TextBox 9"/>
          <p:cNvSpPr txBox="1"/>
          <p:nvPr/>
        </p:nvSpPr>
        <p:spPr>
          <a:xfrm>
            <a:off x="6675120" y="4526280"/>
            <a:ext cx="4754880" cy="1783080"/>
          </a:xfrm>
          <a:prstGeom prst="rect">
            <a:avLst/>
          </a:prstGeom>
          <a:noFill/>
        </p:spPr>
        <p:txBody>
          <a:bodyPr wrap="square">
            <a:spAutoFit/>
          </a:bodyPr>
          <a:lstStyle/>
          <a:p>
            <a:pPr>
              <a:defRPr sz="1000" b="0">
                <a:solidFill>
                  <a:srgbClr val="F8FAFC"/>
                </a:solidFill>
                <a:latin typeface="Calibri"/>
              </a:defRPr>
            </a:pPr>
            <a:r>
              <a:t>Sustained circulatory collapse is defined as a mean arterial pressure below 55 mmHg together with a shock index — heart rate divided by systolic pressure — of at least 1.1, persisting two hours or longer. It captures patients in unambiguous physiological collapse who are nonetheless not escalated, for instance under a treatment-limitation order, and who would otherwise be recorded as having no event at all.</a:t>
            </a:r>
          </a:p>
          <a:p>
            <a:br/>
            <a:pPr>
              <a:defRPr sz="1000" b="0">
                <a:solidFill>
                  <a:srgbClr val="FBBF24"/>
                </a:solidFill>
                <a:latin typeface="Calibri"/>
              </a:defRPr>
            </a:pPr>
            <a:r>
              <a:t>The four tracks marked new contribute 400 of the 2,034 events. Mechanical circulatory support is the definitive rescue for cardiogenic shock in this population and had not previously been represented.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THE ESCALATION-OF-CARE MODEL</a:t>
            </a:r>
          </a:p>
          <a:p>
            <a:pPr>
              <a:defRPr sz="2000" b="1">
                <a:solidFill>
                  <a:srgbClr val="F8FAFC"/>
                </a:solidFill>
                <a:latin typeface="Calibri"/>
              </a:defRPr>
            </a:pPr>
            <a:r>
              <a:t>Escalation Model: Results, and the Effect of the Feature Set</a:t>
            </a:r>
          </a:p>
        </p:txBody>
      </p:sp>
      <p:sp>
        <p:nvSpPr>
          <p:cNvPr id="3" name="Rounded Rectangle 2"/>
          <p:cNvSpPr/>
          <p:nvPr/>
        </p:nvSpPr>
        <p:spPr>
          <a:xfrm>
            <a:off x="548640" y="1097280"/>
            <a:ext cx="58521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5394960" cy="411480"/>
          </a:xfrm>
          <a:prstGeom prst="rect">
            <a:avLst/>
          </a:prstGeom>
          <a:noFill/>
        </p:spPr>
        <p:txBody>
          <a:bodyPr wrap="square">
            <a:spAutoFit/>
          </a:bodyPr>
          <a:lstStyle/>
          <a:p>
            <a:pPr>
              <a:defRPr sz="1150" b="1">
                <a:solidFill>
                  <a:srgbClr val="38BDF8"/>
                </a:solidFill>
                <a:latin typeface="Calibri"/>
              </a:defRPr>
            </a:pPr>
            <a:r>
              <a:t>DOES THE FEATURE SET MATTER, AND ON WHICH TARGET?</a:t>
            </a:r>
          </a:p>
        </p:txBody>
      </p:sp>
      <p:pic>
        <p:nvPicPr>
          <p:cNvPr id="5" name="Picture 4" descr="two_by_two.png"/>
          <p:cNvPicPr>
            <a:picLocks noChangeAspect="1"/>
          </p:cNvPicPr>
          <p:nvPr/>
        </p:nvPicPr>
        <p:blipFill>
          <a:blip r:embed="rId2"/>
          <a:stretch>
            <a:fillRect/>
          </a:stretch>
        </p:blipFill>
        <p:spPr>
          <a:xfrm>
            <a:off x="777240" y="1664208"/>
            <a:ext cx="5394960" cy="2639337"/>
          </a:xfrm>
          <a:prstGeom prst="rect">
            <a:avLst/>
          </a:prstGeom>
        </p:spPr>
      </p:pic>
      <p:sp>
        <p:nvSpPr>
          <p:cNvPr id="6" name="TextBox 5"/>
          <p:cNvSpPr txBox="1"/>
          <p:nvPr/>
        </p:nvSpPr>
        <p:spPr>
          <a:xfrm>
            <a:off x="777240" y="4389120"/>
            <a:ext cx="5394960" cy="1920240"/>
          </a:xfrm>
          <a:prstGeom prst="rect">
            <a:avLst/>
          </a:prstGeom>
          <a:noFill/>
        </p:spPr>
        <p:txBody>
          <a:bodyPr wrap="square">
            <a:spAutoFit/>
          </a:bodyPr>
          <a:lstStyle/>
          <a:p>
            <a:pPr>
              <a:defRPr sz="1150" b="1">
                <a:solidFill>
                  <a:srgbClr val="FBBF24"/>
                </a:solidFill>
                <a:latin typeface="Calibri"/>
              </a:defRPr>
            </a:pPr>
            <a:r>
              <a:t>The identical feature set improves the escalation target by 0.0725 AUROC and the NEWS2 target by 0.0021.</a:t>
            </a:r>
          </a:p>
          <a:p>
            <a:br/>
            <a:pPr>
              <a:defRPr sz="1050" b="0">
                <a:solidFill>
                  <a:srgbClr val="F8FAFC"/>
                </a:solidFill>
                <a:latin typeface="Calibri"/>
              </a:defRPr>
            </a:pPr>
            <a:r>
              <a:t>NEWS2 is computed deterministically from seven vital signs. Anion gap, mean arterial pressure, lactate and infusion titration therefore cannot improve a prediction of NEWS2: they do not enter its formula, and can act only through their eventual effect on those same seven vitals, which the vital features already represent.</a:t>
            </a:r>
          </a:p>
          <a:p>
            <a:pPr>
              <a:defRPr sz="1050" b="0">
                <a:solidFill>
                  <a:srgbClr val="F8FAFC"/>
                </a:solidFill>
                <a:latin typeface="Calibri"/>
              </a:defRPr>
            </a:pPr>
            <a:r>
              <a:t>Against escalation of care, where metabolic acidosis and hypoperfusion are direct causal mechanisms, the same features carry substantial information.</a:t>
            </a:r>
          </a:p>
        </p:txBody>
      </p:sp>
      <p:sp>
        <p:nvSpPr>
          <p:cNvPr id="7" name="Rounded Rectangle 6"/>
          <p:cNvSpPr/>
          <p:nvPr/>
        </p:nvSpPr>
        <p:spPr>
          <a:xfrm>
            <a:off x="6675120" y="1097280"/>
            <a:ext cx="498348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03720" y="1234440"/>
            <a:ext cx="4526280" cy="411480"/>
          </a:xfrm>
          <a:prstGeom prst="rect">
            <a:avLst/>
          </a:prstGeom>
          <a:noFill/>
        </p:spPr>
        <p:txBody>
          <a:bodyPr wrap="square">
            <a:spAutoFit/>
          </a:bodyPr>
          <a:lstStyle/>
          <a:p>
            <a:pPr>
              <a:defRPr sz="1150" b="1">
                <a:solidFill>
                  <a:srgbClr val="38BDF8"/>
                </a:solidFill>
                <a:latin typeface="Calibri"/>
              </a:defRPr>
            </a:pPr>
            <a:r>
              <a:t>ESCALATION MODEL PERFORMANCE</a:t>
            </a:r>
          </a:p>
        </p:txBody>
      </p:sp>
      <p:graphicFrame>
        <p:nvGraphicFramePr>
          <p:cNvPr id="9" name="Table 8"/>
          <p:cNvGraphicFramePr>
            <a:graphicFrameLocks noGrp="1"/>
          </p:cNvGraphicFramePr>
          <p:nvPr/>
        </p:nvGraphicFramePr>
        <p:xfrm>
          <a:off x="6903720" y="1691640"/>
          <a:ext cx="4526279" cy="2377440"/>
        </p:xfrm>
        <a:graphic>
          <a:graphicData uri="http://schemas.openxmlformats.org/drawingml/2006/table">
            <a:tbl>
              <a:tblPr firstRow="1" bandRow="1">
                <a:tableStyleId>{5C22544A-7EE6-4342-B048-85BDC9FD1C3A}</a:tableStyleId>
              </a:tblPr>
              <a:tblGrid>
                <a:gridCol w="2651760"/>
                <a:gridCol w="1874519"/>
              </a:tblGrid>
              <a:tr h="216130">
                <a:tc>
                  <a:txBody>
                    <a:bodyPr/>
                    <a:lstStyle/>
                    <a:p>
                      <a:pPr>
                        <a:defRPr sz="950" b="1">
                          <a:solidFill>
                            <a:srgbClr val="FFFFFF"/>
                          </a:solidFill>
                        </a:defRPr>
                      </a:pPr>
                      <a:r>
                        <a:t>Metric</a:t>
                      </a:r>
                    </a:p>
                  </a:txBody>
                  <a:tcPr>
                    <a:solidFill>
                      <a:srgbClr val="1E3A8A"/>
                    </a:solidFill>
                  </a:tcPr>
                </a:tc>
                <a:tc>
                  <a:txBody>
                    <a:bodyPr/>
                    <a:lstStyle/>
                    <a:p>
                      <a:pPr>
                        <a:defRPr sz="950" b="1">
                          <a:solidFill>
                            <a:srgbClr val="FFFFFF"/>
                          </a:solidFill>
                        </a:defRPr>
                      </a:pPr>
                      <a:r>
                        <a:t>Value</a:t>
                      </a:r>
                    </a:p>
                  </a:txBody>
                  <a:tcPr>
                    <a:solidFill>
                      <a:srgbClr val="1E3A8A"/>
                    </a:solidFill>
                  </a:tcPr>
                </a:tc>
              </a:tr>
              <a:tr h="216130">
                <a:tc>
                  <a:txBody>
                    <a:bodyPr/>
                    <a:lstStyle/>
                    <a:p>
                      <a:pPr>
                        <a:defRPr sz="950" b="0">
                          <a:solidFill>
                            <a:srgbClr val="F8FAFC"/>
                          </a:solidFill>
                        </a:defRPr>
                      </a:pPr>
                      <a:r>
                        <a:t>Prevalence, admission level</a:t>
                      </a:r>
                    </a:p>
                  </a:txBody>
                  <a:tcPr>
                    <a:solidFill>
                      <a:srgbClr val="1E293B"/>
                    </a:solidFill>
                  </a:tcPr>
                </a:tc>
                <a:tc>
                  <a:txBody>
                    <a:bodyPr/>
                    <a:lstStyle/>
                    <a:p>
                      <a:pPr>
                        <a:defRPr sz="950" b="0">
                          <a:solidFill>
                            <a:srgbClr val="F8FAFC"/>
                          </a:solidFill>
                        </a:defRPr>
                      </a:pPr>
                      <a:r>
                        <a:t>26.2%</a:t>
                      </a:r>
                    </a:p>
                  </a:txBody>
                  <a:tcPr>
                    <a:solidFill>
                      <a:srgbClr val="1E293B"/>
                    </a:solidFill>
                  </a:tcPr>
                </a:tc>
              </a:tr>
              <a:tr h="216130">
                <a:tc>
                  <a:txBody>
                    <a:bodyPr/>
                    <a:lstStyle/>
                    <a:p>
                      <a:pPr>
                        <a:defRPr sz="950" b="0">
                          <a:solidFill>
                            <a:srgbClr val="F8FAFC"/>
                          </a:solidFill>
                        </a:defRPr>
                      </a:pPr>
                      <a:r>
                        <a:t>Base rate at 12 h, row level</a:t>
                      </a:r>
                    </a:p>
                  </a:txBody>
                  <a:tcPr>
                    <a:solidFill>
                      <a:srgbClr val="1E293B"/>
                    </a:solidFill>
                  </a:tcPr>
                </a:tc>
                <a:tc>
                  <a:txBody>
                    <a:bodyPr/>
                    <a:lstStyle/>
                    <a:p>
                      <a:pPr>
                        <a:defRPr sz="950" b="0">
                          <a:solidFill>
                            <a:srgbClr val="F8FAFC"/>
                          </a:solidFill>
                        </a:defRPr>
                      </a:pPr>
                      <a:r>
                        <a:t>0.0465</a:t>
                      </a:r>
                    </a:p>
                  </a:txBody>
                  <a:tcPr>
                    <a:solidFill>
                      <a:srgbClr val="1E293B"/>
                    </a:solidFill>
                  </a:tcPr>
                </a:tc>
              </a:tr>
              <a:tr h="216130">
                <a:tc>
                  <a:txBody>
                    <a:bodyPr/>
                    <a:lstStyle/>
                    <a:p>
                      <a:pPr>
                        <a:defRPr sz="950" b="0">
                          <a:solidFill>
                            <a:srgbClr val="F8FAFC"/>
                          </a:solidFill>
                        </a:defRPr>
                      </a:pPr>
                      <a:r>
                        <a:t>AUROC at 12 h</a:t>
                      </a:r>
                    </a:p>
                  </a:txBody>
                  <a:tcPr>
                    <a:solidFill>
                      <a:srgbClr val="1E293B"/>
                    </a:solidFill>
                  </a:tcPr>
                </a:tc>
                <a:tc>
                  <a:txBody>
                    <a:bodyPr/>
                    <a:lstStyle/>
                    <a:p>
                      <a:pPr>
                        <a:defRPr sz="950" b="0">
                          <a:solidFill>
                            <a:srgbClr val="F8FAFC"/>
                          </a:solidFill>
                        </a:defRPr>
                      </a:pPr>
                      <a:r>
                        <a:t>0.797</a:t>
                      </a:r>
                    </a:p>
                  </a:txBody>
                  <a:tcPr>
                    <a:solidFill>
                      <a:srgbClr val="1E293B"/>
                    </a:solidFill>
                  </a:tcPr>
                </a:tc>
              </a:tr>
              <a:tr h="216130">
                <a:tc>
                  <a:txBody>
                    <a:bodyPr/>
                    <a:lstStyle/>
                    <a:p>
                      <a:pPr>
                        <a:defRPr sz="950" b="0">
                          <a:solidFill>
                            <a:srgbClr val="F8FAFC"/>
                          </a:solidFill>
                        </a:defRPr>
                      </a:pPr>
                      <a:r>
                        <a:t>AUPRC at 12 h</a:t>
                      </a:r>
                    </a:p>
                  </a:txBody>
                  <a:tcPr>
                    <a:solidFill>
                      <a:srgbClr val="1E293B"/>
                    </a:solidFill>
                  </a:tcPr>
                </a:tc>
                <a:tc>
                  <a:txBody>
                    <a:bodyPr/>
                    <a:lstStyle/>
                    <a:p>
                      <a:pPr>
                        <a:defRPr sz="950" b="0">
                          <a:solidFill>
                            <a:srgbClr val="F8FAFC"/>
                          </a:solidFill>
                        </a:defRPr>
                      </a:pPr>
                      <a:r>
                        <a:t>0.214</a:t>
                      </a:r>
                    </a:p>
                  </a:txBody>
                  <a:tcPr>
                    <a:solidFill>
                      <a:srgbClr val="1E293B"/>
                    </a:solidFill>
                  </a:tcPr>
                </a:tc>
              </a:tr>
              <a:tr h="216130">
                <a:tc>
                  <a:txBody>
                    <a:bodyPr/>
                    <a:lstStyle/>
                    <a:p>
                      <a:pPr>
                        <a:defRPr sz="950" b="1">
                          <a:solidFill>
                            <a:srgbClr val="FBBF24"/>
                          </a:solidFill>
                        </a:defRPr>
                      </a:pPr>
                      <a:r>
                        <a:t>AUPRC ÷ no-skill floor</a:t>
                      </a:r>
                    </a:p>
                  </a:txBody>
                  <a:tcPr>
                    <a:solidFill>
                      <a:srgbClr val="142D46"/>
                    </a:solidFill>
                  </a:tcPr>
                </a:tc>
                <a:tc>
                  <a:txBody>
                    <a:bodyPr/>
                    <a:lstStyle/>
                    <a:p>
                      <a:pPr>
                        <a:defRPr sz="950" b="1">
                          <a:solidFill>
                            <a:srgbClr val="FBBF24"/>
                          </a:solidFill>
                        </a:defRPr>
                      </a:pPr>
                      <a:r>
                        <a:t>4.59×</a:t>
                      </a:r>
                    </a:p>
                  </a:txBody>
                  <a:tcPr>
                    <a:solidFill>
                      <a:srgbClr val="142D46"/>
                    </a:solidFill>
                  </a:tcPr>
                </a:tc>
              </a:tr>
              <a:tr h="216130">
                <a:tc>
                  <a:txBody>
                    <a:bodyPr/>
                    <a:lstStyle/>
                    <a:p>
                      <a:pPr>
                        <a:defRPr sz="950" b="0">
                          <a:solidFill>
                            <a:srgbClr val="F8FAFC"/>
                          </a:solidFill>
                        </a:defRPr>
                      </a:pPr>
                      <a:r>
                        <a:t>C-index</a:t>
                      </a:r>
                    </a:p>
                  </a:txBody>
                  <a:tcPr>
                    <a:solidFill>
                      <a:srgbClr val="1E293B"/>
                    </a:solidFill>
                  </a:tcPr>
                </a:tc>
                <a:tc>
                  <a:txBody>
                    <a:bodyPr/>
                    <a:lstStyle/>
                    <a:p>
                      <a:pPr>
                        <a:defRPr sz="950" b="0">
                          <a:solidFill>
                            <a:srgbClr val="F8FAFC"/>
                          </a:solidFill>
                        </a:defRPr>
                      </a:pPr>
                      <a:r>
                        <a:t>0.771  [0.736 – 0.806]</a:t>
                      </a:r>
                    </a:p>
                  </a:txBody>
                  <a:tcPr>
                    <a:solidFill>
                      <a:srgbClr val="1E293B"/>
                    </a:solidFill>
                  </a:tcPr>
                </a:tc>
              </a:tr>
              <a:tr h="216130">
                <a:tc>
                  <a:txBody>
                    <a:bodyPr/>
                    <a:lstStyle/>
                    <a:p>
                      <a:pPr>
                        <a:defRPr sz="950" b="0">
                          <a:solidFill>
                            <a:srgbClr val="F8FAFC"/>
                          </a:solidFill>
                        </a:defRPr>
                      </a:pPr>
                      <a:r>
                        <a:t>Episode PPV at 12 h</a:t>
                      </a:r>
                    </a:p>
                  </a:txBody>
                  <a:tcPr>
                    <a:solidFill>
                      <a:srgbClr val="1E293B"/>
                    </a:solidFill>
                  </a:tcPr>
                </a:tc>
                <a:tc>
                  <a:txBody>
                    <a:bodyPr/>
                    <a:lstStyle/>
                    <a:p>
                      <a:pPr>
                        <a:defRPr sz="950" b="0">
                          <a:solidFill>
                            <a:srgbClr val="F8FAFC"/>
                          </a:solidFill>
                        </a:defRPr>
                      </a:pPr>
                      <a:r>
                        <a:t>0.134</a:t>
                      </a:r>
                    </a:p>
                  </a:txBody>
                  <a:tcPr>
                    <a:solidFill>
                      <a:srgbClr val="1E293B"/>
                    </a:solidFill>
                  </a:tcPr>
                </a:tc>
              </a:tr>
              <a:tr h="216130">
                <a:tc>
                  <a:txBody>
                    <a:bodyPr/>
                    <a:lstStyle/>
                    <a:p>
                      <a:pPr>
                        <a:defRPr sz="950" b="1">
                          <a:solidFill>
                            <a:srgbClr val="FBBF24"/>
                          </a:solidFill>
                        </a:defRPr>
                      </a:pPr>
                      <a:r>
                        <a:t>Episode lift at 12 h</a:t>
                      </a:r>
                    </a:p>
                  </a:txBody>
                  <a:tcPr>
                    <a:solidFill>
                      <a:srgbClr val="142D46"/>
                    </a:solidFill>
                  </a:tcPr>
                </a:tc>
                <a:tc>
                  <a:txBody>
                    <a:bodyPr/>
                    <a:lstStyle/>
                    <a:p>
                      <a:pPr>
                        <a:defRPr sz="950" b="1">
                          <a:solidFill>
                            <a:srgbClr val="FBBF24"/>
                          </a:solidFill>
                        </a:defRPr>
                      </a:pPr>
                      <a:r>
                        <a:t>2.88×</a:t>
                      </a:r>
                    </a:p>
                  </a:txBody>
                  <a:tcPr>
                    <a:solidFill>
                      <a:srgbClr val="142D46"/>
                    </a:solidFill>
                  </a:tcPr>
                </a:tc>
              </a:tr>
              <a:tr h="216130">
                <a:tc>
                  <a:txBody>
                    <a:bodyPr/>
                    <a:lstStyle/>
                    <a:p>
                      <a:pPr>
                        <a:defRPr sz="950" b="0">
                          <a:solidFill>
                            <a:srgbClr val="F8FAFC"/>
                          </a:solidFill>
                        </a:defRPr>
                      </a:pPr>
                      <a:r>
                        <a:t>Patient recall at 12 h</a:t>
                      </a:r>
                    </a:p>
                  </a:txBody>
                  <a:tcPr>
                    <a:solidFill>
                      <a:srgbClr val="1E293B"/>
                    </a:solidFill>
                  </a:tcPr>
                </a:tc>
                <a:tc>
                  <a:txBody>
                    <a:bodyPr/>
                    <a:lstStyle/>
                    <a:p>
                      <a:pPr>
                        <a:defRPr sz="950" b="0">
                          <a:solidFill>
                            <a:srgbClr val="F8FAFC"/>
                          </a:solidFill>
                        </a:defRPr>
                      </a:pPr>
                      <a:r>
                        <a:t>0.944</a:t>
                      </a:r>
                    </a:p>
                  </a:txBody>
                  <a:tcPr>
                    <a:solidFill>
                      <a:srgbClr val="1E293B"/>
                    </a:solidFill>
                  </a:tcPr>
                </a:tc>
              </a:tr>
              <a:tr h="216140">
                <a:tc>
                  <a:txBody>
                    <a:bodyPr/>
                    <a:lstStyle/>
                    <a:p>
                      <a:pPr>
                        <a:defRPr sz="950" b="0">
                          <a:solidFill>
                            <a:srgbClr val="F8FAFC"/>
                          </a:solidFill>
                        </a:defRPr>
                      </a:pPr>
                      <a:r>
                        <a:t>Features retained after pruning</a:t>
                      </a:r>
                    </a:p>
                  </a:txBody>
                  <a:tcPr>
                    <a:solidFill>
                      <a:srgbClr val="1E293B"/>
                    </a:solidFill>
                  </a:tcPr>
                </a:tc>
                <a:tc>
                  <a:txBody>
                    <a:bodyPr/>
                    <a:lstStyle/>
                    <a:p>
                      <a:pPr>
                        <a:defRPr sz="950" b="0">
                          <a:solidFill>
                            <a:srgbClr val="F8FAFC"/>
                          </a:solidFill>
                        </a:defRPr>
                      </a:pPr>
                      <a:r>
                        <a:t>80</a:t>
                      </a:r>
                    </a:p>
                  </a:txBody>
                  <a:tcPr>
                    <a:solidFill>
                      <a:srgbClr val="1E293B"/>
                    </a:solidFill>
                  </a:tcPr>
                </a:tc>
              </a:tr>
            </a:tbl>
          </a:graphicData>
        </a:graphic>
      </p:graphicFrame>
      <p:sp>
        <p:nvSpPr>
          <p:cNvPr id="10" name="TextBox 9"/>
          <p:cNvSpPr txBox="1"/>
          <p:nvPr/>
        </p:nvSpPr>
        <p:spPr>
          <a:xfrm>
            <a:off x="6903720" y="4206240"/>
            <a:ext cx="4526280" cy="2103120"/>
          </a:xfrm>
          <a:prstGeom prst="rect">
            <a:avLst/>
          </a:prstGeom>
          <a:noFill/>
        </p:spPr>
        <p:txBody>
          <a:bodyPr wrap="square">
            <a:spAutoFit/>
          </a:bodyPr>
          <a:lstStyle/>
          <a:p>
            <a:pPr>
              <a:defRPr sz="1150" b="1">
                <a:solidFill>
                  <a:srgbClr val="38BDF8"/>
                </a:solidFill>
                <a:latin typeface="Calibri"/>
              </a:defRPr>
            </a:pPr>
            <a:r>
              <a:t>READING THE PRECISION FIGURE</a:t>
            </a:r>
          </a:p>
          <a:p>
            <a:pPr>
              <a:defRPr sz="1050" b="0">
                <a:solidFill>
                  <a:srgbClr val="F8FAFC"/>
                </a:solidFill>
                <a:latin typeface="Calibri"/>
              </a:defRPr>
            </a:pPr>
            <a:r>
              <a:t>Episode PPV of 0.134 is lower than the NEWS2 model's 0.331, on a base rate that is 2.6 times lower. Precision is bounded by prevalence, so the two figures are not directly comparable.</a:t>
            </a:r>
          </a:p>
          <a:p>
            <a:br/>
            <a:pPr>
              <a:defRPr sz="1050" b="1">
                <a:solidFill>
                  <a:srgbClr val="34D399"/>
                </a:solidFill>
                <a:latin typeface="Calibri"/>
              </a:defRPr>
            </a:pPr>
            <a:r>
              <a:t>Lift divides prevalence out and is comparable across targets: 2.88× for the escalation model against 2.75× for the NEWS2 model — equivalent discrimination on an outcome that is actionable within the unit.</a:t>
            </a:r>
          </a:p>
          <a:p>
            <a:br/>
            <a:pPr>
              <a:defRPr sz="1050" b="0">
                <a:solidFill>
                  <a:srgbClr val="94A3B8"/>
                </a:solidFill>
                <a:latin typeface="Calibri"/>
              </a:defRPr>
            </a:pPr>
            <a:r>
              <a:t>The following three slides show how precision is raised from this baseline without changing the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THE ESCALATION-OF-CARE MODEL</a:t>
            </a:r>
          </a:p>
          <a:p>
            <a:pPr>
              <a:defRPr sz="2000" b="1">
                <a:solidFill>
                  <a:srgbClr val="F8FAFC"/>
                </a:solidFill>
                <a:latin typeface="Calibri"/>
              </a:defRPr>
            </a:pPr>
            <a:r>
              <a:t>Which Physiology Drives the Prediction</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eatures.png"/>
          <p:cNvPicPr>
            <a:picLocks noChangeAspect="1"/>
          </p:cNvPicPr>
          <p:nvPr/>
        </p:nvPicPr>
        <p:blipFill>
          <a:blip r:embed="rId2"/>
          <a:stretch>
            <a:fillRect/>
          </a:stretch>
        </p:blipFill>
        <p:spPr>
          <a:xfrm>
            <a:off x="777240" y="1325880"/>
            <a:ext cx="5852160" cy="2880386"/>
          </a:xfrm>
          <a:prstGeom prst="rect">
            <a:avLst/>
          </a:prstGeom>
        </p:spPr>
      </p:pic>
      <p:sp>
        <p:nvSpPr>
          <p:cNvPr id="5" name="TextBox 4"/>
          <p:cNvSpPr txBox="1"/>
          <p:nvPr/>
        </p:nvSpPr>
        <p:spPr>
          <a:xfrm>
            <a:off x="6858000" y="1280160"/>
            <a:ext cx="4617720" cy="5029200"/>
          </a:xfrm>
          <a:prstGeom prst="rect">
            <a:avLst/>
          </a:prstGeom>
          <a:noFill/>
        </p:spPr>
        <p:txBody>
          <a:bodyPr wrap="square">
            <a:spAutoFit/>
          </a:bodyPr>
          <a:lstStyle/>
          <a:p>
            <a:pPr>
              <a:defRPr sz="1150" b="1">
                <a:solidFill>
                  <a:srgbClr val="38BDF8"/>
                </a:solidFill>
                <a:latin typeface="Calibri"/>
              </a:defRPr>
            </a:pPr>
            <a:r>
              <a:t>METABOLIC ACIDOSIS LEADS</a:t>
            </a:r>
          </a:p>
          <a:p>
            <a:pPr>
              <a:defRPr sz="1050" b="0">
                <a:solidFill>
                  <a:srgbClr val="F8FAFC"/>
                </a:solidFill>
                <a:latin typeface="Calibri"/>
              </a:defRPr>
            </a:pPr>
            <a:r>
              <a:t>Anion gap occupies the first, second, third and fifth positions among individual features. It measures the accumulation of unmeasured acids from anaerobic metabolism, and it rises while heart rate and blood pressure remain within acceptable limits — identifying the patient who is deteriorating before the vital signs reflect it.</a:t>
            </a:r>
          </a:p>
          <a:p>
            <a:br/>
            <a:pPr>
              <a:defRPr sz="1050" b="0">
                <a:solidFill>
                  <a:srgbClr val="F8FAFC"/>
                </a:solidFill>
                <a:latin typeface="Calibri"/>
              </a:defRPr>
            </a:pPr>
            <a:r>
              <a:t>Renal markers form the largest single family, consistent with renal replacement therapy being a constituent event and with renal hypoperfusion preceding overt circulatory failure.</a:t>
            </a:r>
          </a:p>
          <a:p>
            <a:br/>
            <a:pPr>
              <a:defRPr sz="1150" b="1">
                <a:solidFill>
                  <a:srgbClr val="38BDF8"/>
                </a:solidFill>
                <a:latin typeface="Calibri"/>
              </a:defRPr>
            </a:pPr>
            <a:r>
              <a:t>VITAL SIGNS REMAIN CENTRAL</a:t>
            </a:r>
          </a:p>
          <a:p>
            <a:pPr>
              <a:defRPr sz="1050" b="0">
                <a:solidFill>
                  <a:srgbClr val="F8FAFC"/>
                </a:solidFill>
                <a:latin typeface="Calibri"/>
              </a:defRPr>
            </a:pPr>
            <a:r>
              <a:t>Systolic pressure, heart rate, shock index, oxygen saturation, respiratory rate, mean arterial pressure, temperature and diastolic pressure together account for 32.5% of total gain — the largest block in the model.</a:t>
            </a:r>
          </a:p>
          <a:p>
            <a:br/>
            <a:pPr>
              <a:defRPr sz="1050" b="0">
                <a:solidFill>
                  <a:srgbClr val="94A3B8"/>
                </a:solidFill>
                <a:latin typeface="Calibri"/>
              </a:defRPr>
            </a:pPr>
            <a:r>
              <a:t>Individual vital features appear lower in a ranked list because each variable is represented by roughly nineteen window-and-statistic combinations, which divides its importance among them, whereas anion gap is represented by twelve. Importance is therefore aggregated by variable family — the only comparison that is valid when variables have unequal feature counts.</a:t>
            </a:r>
          </a:p>
          <a:p>
            <a:br/>
            <a:pPr>
              <a:defRPr sz="1150" b="1">
                <a:solidFill>
                  <a:srgbClr val="38BDF8"/>
                </a:solidFill>
                <a:latin typeface="Calibri"/>
              </a:defRPr>
            </a:pPr>
            <a:r>
              <a:t>AGREEMENT WITH PUBLISHED FINDINGS</a:t>
            </a:r>
          </a:p>
          <a:p>
            <a:pPr>
              <a:defRPr sz="1050" b="0">
                <a:solidFill>
                  <a:srgbClr val="FBBF24"/>
                </a:solidFill>
                <a:latin typeface="Calibri"/>
              </a:defRPr>
            </a:pPr>
            <a:r>
              <a:t>Laboratory and organ-function markers account for 37% of gain against 32.5% for vital signs. Published intensive-care work reports the same ordering, and identifies anion gap, lactate, bicarbonate, urea and pH specifically among the strongest predictors of deterioration — an independent corroboration of this feature profile.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THE ESCALATION-OF-CARE MODEL</a:t>
            </a:r>
          </a:p>
          <a:p>
            <a:pPr>
              <a:defRPr sz="2000" b="1">
                <a:solidFill>
                  <a:srgbClr val="F8FAFC"/>
                </a:solidFill>
                <a:latin typeface="Calibri"/>
              </a:defRPr>
            </a:pPr>
            <a:r>
              <a:t>How Precision and False Positives Are Determined</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80160"/>
            <a:ext cx="10607040" cy="1097280"/>
          </a:xfrm>
          <a:prstGeom prst="rect">
            <a:avLst/>
          </a:prstGeom>
          <a:noFill/>
        </p:spPr>
        <p:txBody>
          <a:bodyPr wrap="square">
            <a:spAutoFit/>
          </a:bodyPr>
          <a:lstStyle/>
          <a:p>
            <a:pPr>
              <a:defRPr sz="1200" b="1">
                <a:solidFill>
                  <a:srgbClr val="38BDF8"/>
                </a:solidFill>
                <a:latin typeface="Calibri"/>
              </a:defRPr>
            </a:pPr>
            <a:r>
              <a:t>THE IDENTITY</a:t>
            </a:r>
          </a:p>
          <a:p>
            <a:pPr>
              <a:defRPr sz="1350" b="1">
                <a:solidFill>
                  <a:srgbClr val="FBBF24"/>
                </a:solidFill>
                <a:latin typeface="Calibri"/>
              </a:defRPr>
            </a:pPr>
            <a:r>
              <a:t>Precision  =  ( sensitivity × prevalence )  ÷  [ ( sensitivity × prevalence )  +  ( false-positive rate × ( 1 − prevalence ) ) ]</a:t>
            </a:r>
          </a:p>
          <a:p>
            <a:pPr>
              <a:defRPr sz="1100" b="0">
                <a:solidFill>
                  <a:srgbClr val="F8FAFC"/>
                </a:solidFill>
                <a:latin typeface="Calibri"/>
              </a:defRPr>
            </a:pPr>
            <a:r>
              <a:t>Precision therefore depends on three quantities: the sensitivity chosen, the prevalence of the outcome, and the model's false-positive rate. Only the third is a property of the model.</a:t>
            </a:r>
          </a:p>
        </p:txBody>
      </p:sp>
      <p:graphicFrame>
        <p:nvGraphicFramePr>
          <p:cNvPr id="5" name="Table 4"/>
          <p:cNvGraphicFramePr>
            <a:graphicFrameLocks noGrp="1"/>
          </p:cNvGraphicFramePr>
          <p:nvPr/>
        </p:nvGraphicFramePr>
        <p:xfrm>
          <a:off x="822960" y="2560320"/>
          <a:ext cx="10607039" cy="1097280"/>
        </p:xfrm>
        <a:graphic>
          <a:graphicData uri="http://schemas.openxmlformats.org/drawingml/2006/table">
            <a:tbl>
              <a:tblPr firstRow="1" bandRow="1">
                <a:tableStyleId>{5C22544A-7EE6-4342-B048-85BDC9FD1C3A}</a:tableStyleId>
              </a:tblPr>
              <a:tblGrid>
                <a:gridCol w="1097280"/>
                <a:gridCol w="1280160"/>
                <a:gridCol w="3749039"/>
                <a:gridCol w="1554480"/>
                <a:gridCol w="2926080"/>
              </a:tblGrid>
              <a:tr h="365760">
                <a:tc>
                  <a:txBody>
                    <a:bodyPr/>
                    <a:lstStyle/>
                    <a:p>
                      <a:pPr>
                        <a:defRPr sz="950" b="1">
                          <a:solidFill>
                            <a:srgbClr val="FFFFFF"/>
                          </a:solidFill>
                        </a:defRPr>
                      </a:pPr>
                      <a:r>
                        <a:t>Horizon</a:t>
                      </a:r>
                    </a:p>
                  </a:txBody>
                  <a:tcPr>
                    <a:solidFill>
                      <a:srgbClr val="1E3A8A"/>
                    </a:solidFill>
                  </a:tcPr>
                </a:tc>
                <a:tc>
                  <a:txBody>
                    <a:bodyPr/>
                    <a:lstStyle/>
                    <a:p>
                      <a:pPr>
                        <a:defRPr sz="950" b="1">
                          <a:solidFill>
                            <a:srgbClr val="FFFFFF"/>
                          </a:solidFill>
                        </a:defRPr>
                      </a:pPr>
                      <a:r>
                        <a:t>Prevalence</a:t>
                      </a:r>
                    </a:p>
                  </a:txBody>
                  <a:tcPr>
                    <a:solidFill>
                      <a:srgbClr val="1E3A8A"/>
                    </a:solidFill>
                  </a:tcPr>
                </a:tc>
                <a:tc>
                  <a:txBody>
                    <a:bodyPr/>
                    <a:lstStyle/>
                    <a:p>
                      <a:pPr>
                        <a:defRPr sz="950" b="1">
                          <a:solidFill>
                            <a:srgbClr val="FFFFFF"/>
                          </a:solidFill>
                        </a:defRPr>
                      </a:pPr>
                      <a:r>
                        <a:t>Specificity required for precision 0.30 at 80% sensitivity</a:t>
                      </a:r>
                    </a:p>
                  </a:txBody>
                  <a:tcPr>
                    <a:solidFill>
                      <a:srgbClr val="1E3A8A"/>
                    </a:solidFill>
                  </a:tcPr>
                </a:tc>
                <a:tc>
                  <a:txBody>
                    <a:bodyPr/>
                    <a:lstStyle/>
                    <a:p>
                      <a:pPr>
                        <a:defRPr sz="950" b="1">
                          <a:solidFill>
                            <a:srgbClr val="FFFFFF"/>
                          </a:solidFill>
                        </a:defRPr>
                      </a:pPr>
                      <a:r>
                        <a:t>Specificity achieved</a:t>
                      </a:r>
                    </a:p>
                  </a:txBody>
                  <a:tcPr>
                    <a:solidFill>
                      <a:srgbClr val="1E3A8A"/>
                    </a:solidFill>
                  </a:tcPr>
                </a:tc>
                <a:tc>
                  <a:txBody>
                    <a:bodyPr/>
                    <a:lstStyle/>
                    <a:p>
                      <a:pPr>
                        <a:defRPr sz="950" b="1">
                          <a:solidFill>
                            <a:srgbClr val="FFFFFF"/>
                          </a:solidFill>
                        </a:defRPr>
                      </a:pPr>
                      <a:r>
                        <a:t>What that would require</a:t>
                      </a:r>
                    </a:p>
                  </a:txBody>
                  <a:tcPr>
                    <a:solidFill>
                      <a:srgbClr val="1E3A8A"/>
                    </a:solidFill>
                  </a:tcPr>
                </a:tc>
              </a:tr>
              <a:tr h="365760">
                <a:tc>
                  <a:txBody>
                    <a:bodyPr/>
                    <a:lstStyle/>
                    <a:p>
                      <a:pPr>
                        <a:defRPr sz="950" b="1">
                          <a:solidFill>
                            <a:srgbClr val="FBBF24"/>
                          </a:solidFill>
                        </a:defRPr>
                      </a:pPr>
                      <a:r>
                        <a:t>12 hours</a:t>
                      </a:r>
                    </a:p>
                  </a:txBody>
                  <a:tcPr>
                    <a:solidFill>
                      <a:srgbClr val="142D46"/>
                    </a:solidFill>
                  </a:tcPr>
                </a:tc>
                <a:tc>
                  <a:txBody>
                    <a:bodyPr/>
                    <a:lstStyle/>
                    <a:p>
                      <a:pPr>
                        <a:defRPr sz="950" b="1">
                          <a:solidFill>
                            <a:srgbClr val="FBBF24"/>
                          </a:solidFill>
                        </a:defRPr>
                      </a:pPr>
                      <a:r>
                        <a:t>0.0465</a:t>
                      </a:r>
                    </a:p>
                  </a:txBody>
                  <a:tcPr>
                    <a:solidFill>
                      <a:srgbClr val="142D46"/>
                    </a:solidFill>
                  </a:tcPr>
                </a:tc>
                <a:tc>
                  <a:txBody>
                    <a:bodyPr/>
                    <a:lstStyle/>
                    <a:p>
                      <a:pPr>
                        <a:defRPr sz="950" b="1">
                          <a:solidFill>
                            <a:srgbClr val="FBBF24"/>
                          </a:solidFill>
                        </a:defRPr>
                      </a:pPr>
                      <a:r>
                        <a:t>0.909</a:t>
                      </a:r>
                    </a:p>
                  </a:txBody>
                  <a:tcPr>
                    <a:solidFill>
                      <a:srgbClr val="142D46"/>
                    </a:solidFill>
                  </a:tcPr>
                </a:tc>
                <a:tc>
                  <a:txBody>
                    <a:bodyPr/>
                    <a:lstStyle/>
                    <a:p>
                      <a:pPr>
                        <a:defRPr sz="950" b="1">
                          <a:solidFill>
                            <a:srgbClr val="FBBF24"/>
                          </a:solidFill>
                        </a:defRPr>
                      </a:pPr>
                      <a:r>
                        <a:t>0.610</a:t>
                      </a:r>
                    </a:p>
                  </a:txBody>
                  <a:tcPr>
                    <a:solidFill>
                      <a:srgbClr val="142D46"/>
                    </a:solidFill>
                  </a:tcPr>
                </a:tc>
                <a:tc>
                  <a:txBody>
                    <a:bodyPr/>
                    <a:lstStyle/>
                    <a:p>
                      <a:pPr>
                        <a:defRPr sz="950" b="1">
                          <a:solidFill>
                            <a:srgbClr val="FBBF24"/>
                          </a:solidFill>
                        </a:defRPr>
                      </a:pPr>
                      <a:r>
                        <a:t>removing 77% of current false positives while retaining every true positive</a:t>
                      </a:r>
                    </a:p>
                  </a:txBody>
                  <a:tcPr>
                    <a:solidFill>
                      <a:srgbClr val="142D46"/>
                    </a:solidFill>
                  </a:tcPr>
                </a:tc>
              </a:tr>
              <a:tr h="365760">
                <a:tc>
                  <a:txBody>
                    <a:bodyPr/>
                    <a:lstStyle/>
                    <a:p>
                      <a:pPr>
                        <a:defRPr sz="950" b="1">
                          <a:solidFill>
                            <a:srgbClr val="FBBF24"/>
                          </a:solidFill>
                        </a:defRPr>
                      </a:pPr>
                      <a:r>
                        <a:t>24 hours</a:t>
                      </a:r>
                    </a:p>
                  </a:txBody>
                  <a:tcPr>
                    <a:solidFill>
                      <a:srgbClr val="142D46"/>
                    </a:solidFill>
                  </a:tcPr>
                </a:tc>
                <a:tc>
                  <a:txBody>
                    <a:bodyPr/>
                    <a:lstStyle/>
                    <a:p>
                      <a:pPr>
                        <a:defRPr sz="950" b="1">
                          <a:solidFill>
                            <a:srgbClr val="FBBF24"/>
                          </a:solidFill>
                        </a:defRPr>
                      </a:pPr>
                      <a:r>
                        <a:t>0.0948</a:t>
                      </a:r>
                    </a:p>
                  </a:txBody>
                  <a:tcPr>
                    <a:solidFill>
                      <a:srgbClr val="142D46"/>
                    </a:solidFill>
                  </a:tcPr>
                </a:tc>
                <a:tc>
                  <a:txBody>
                    <a:bodyPr/>
                    <a:lstStyle/>
                    <a:p>
                      <a:pPr>
                        <a:defRPr sz="950" b="1">
                          <a:solidFill>
                            <a:srgbClr val="FBBF24"/>
                          </a:solidFill>
                        </a:defRPr>
                      </a:pPr>
                      <a:r>
                        <a:t>0.805</a:t>
                      </a:r>
                    </a:p>
                  </a:txBody>
                  <a:tcPr>
                    <a:solidFill>
                      <a:srgbClr val="142D46"/>
                    </a:solidFill>
                  </a:tcPr>
                </a:tc>
                <a:tc>
                  <a:txBody>
                    <a:bodyPr/>
                    <a:lstStyle/>
                    <a:p>
                      <a:pPr>
                        <a:defRPr sz="950" b="1">
                          <a:solidFill>
                            <a:srgbClr val="FBBF24"/>
                          </a:solidFill>
                        </a:defRPr>
                      </a:pPr>
                      <a:r>
                        <a:t>0.561</a:t>
                      </a:r>
                    </a:p>
                  </a:txBody>
                  <a:tcPr>
                    <a:solidFill>
                      <a:srgbClr val="142D46"/>
                    </a:solidFill>
                  </a:tcPr>
                </a:tc>
                <a:tc>
                  <a:txBody>
                    <a:bodyPr/>
                    <a:lstStyle/>
                    <a:p>
                      <a:pPr>
                        <a:defRPr sz="950" b="1">
                          <a:solidFill>
                            <a:srgbClr val="FBBF24"/>
                          </a:solidFill>
                        </a:defRPr>
                      </a:pPr>
                      <a:r>
                        <a:t>removing 55% of current false positives while retaining every true positive</a:t>
                      </a:r>
                    </a:p>
                  </a:txBody>
                  <a:tcPr>
                    <a:solidFill>
                      <a:srgbClr val="142D46"/>
                    </a:solidFill>
                  </a:tcPr>
                </a:tc>
              </a:tr>
            </a:tbl>
          </a:graphicData>
        </a:graphic>
      </p:graphicFrame>
      <p:sp>
        <p:nvSpPr>
          <p:cNvPr id="6" name="TextBox 5"/>
          <p:cNvSpPr txBox="1"/>
          <p:nvPr/>
        </p:nvSpPr>
        <p:spPr>
          <a:xfrm>
            <a:off x="822960" y="3977639"/>
            <a:ext cx="10607040" cy="2331720"/>
          </a:xfrm>
          <a:prstGeom prst="rect">
            <a:avLst/>
          </a:prstGeom>
          <a:noFill/>
        </p:spPr>
        <p:txBody>
          <a:bodyPr wrap="square">
            <a:spAutoFit/>
          </a:bodyPr>
          <a:lstStyle/>
          <a:p>
            <a:pPr>
              <a:defRPr sz="1300" b="1">
                <a:solidFill>
                  <a:srgbClr val="F87171"/>
                </a:solidFill>
                <a:latin typeface="Calibri"/>
              </a:defRPr>
            </a:pPr>
            <a:r>
              <a:t>Precision at high sensitivity is constrained by prevalence rather than by model quality.</a:t>
            </a:r>
          </a:p>
          <a:p>
            <a:br/>
            <a:pPr>
              <a:defRPr sz="1150" b="1">
                <a:solidFill>
                  <a:srgbClr val="38BDF8"/>
                </a:solidFill>
                <a:latin typeface="Calibri"/>
              </a:defRPr>
            </a:pPr>
            <a:r>
              <a:t>The three levers that do move it, all applied in this system:</a:t>
            </a:r>
          </a:p>
          <a:p>
            <a:pPr>
              <a:defRPr sz="1100" b="0">
                <a:solidFill>
                  <a:srgbClr val="F8FAFC"/>
                </a:solidFill>
                <a:latin typeface="Calibri"/>
              </a:defRPr>
            </a:pPr>
            <a:r>
              <a:t>1.    A longer prediction horizon.  The twenty-four-hour horizon has twice the prevalence of the twelve-hour horizon, which raises the ceiling itself rather than trading along the existing curve — and simultaneously increases the available warning time.</a:t>
            </a:r>
          </a:p>
          <a:p>
            <a:pPr>
              <a:defRPr sz="1100" b="0">
                <a:solidFill>
                  <a:srgbClr val="F8FAFC"/>
                </a:solidFill>
                <a:latin typeface="Calibri"/>
              </a:defRPr>
            </a:pPr>
            <a:r>
              <a:t>2.    The alerting rule.  The hysteresis latch consolidates brief threshold excursions, which are disproportionately false, without altering the condition for raising an alert.</a:t>
            </a:r>
          </a:p>
          <a:p>
            <a:pPr>
              <a:defRPr sz="1100" b="0">
                <a:solidFill>
                  <a:srgbClr val="F8FAFC"/>
                </a:solidFill>
                <a:latin typeface="Calibri"/>
              </a:defRPr>
            </a:pPr>
            <a:r>
              <a:t>3.    The presentation order.  Ranking the alarms already raised concentrates true events at the top of the worklist without withholding anything from the clinician.</a:t>
            </a:r>
          </a:p>
          <a:p>
            <a:br/>
            <a:pPr>
              <a:defRPr sz="1050" b="0">
                <a:solidFill>
                  <a:srgbClr val="94A3B8"/>
                </a:solidFill>
                <a:latin typeface="Calibri"/>
              </a:defRPr>
            </a:pPr>
            <a:r>
              <a:t>Six independent modelling directions — additional laboratory features, an alternative survival formulation, parameter sharing, two neural architectures, and an alternative input representation — each changed AUROC by less than 0.01. That is the evidence that the constraint is not a modelling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THE ESCALATION-OF-CARE MODEL</a:t>
            </a:r>
          </a:p>
          <a:p>
            <a:pPr>
              <a:defRPr sz="2000" b="1">
                <a:solidFill>
                  <a:srgbClr val="F8FAFC"/>
                </a:solidFill>
                <a:latin typeface="Calibri"/>
              </a:defRPr>
            </a:pPr>
            <a:r>
              <a:t>Raising Precision by Ordering the Worklist</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ecision_at_k.png"/>
          <p:cNvPicPr>
            <a:picLocks noChangeAspect="1"/>
          </p:cNvPicPr>
          <p:nvPr/>
        </p:nvPicPr>
        <p:blipFill>
          <a:blip r:embed="rId2"/>
          <a:stretch>
            <a:fillRect/>
          </a:stretch>
        </p:blipFill>
        <p:spPr>
          <a:xfrm>
            <a:off x="777240" y="1371600"/>
            <a:ext cx="5943600" cy="2864197"/>
          </a:xfrm>
          <a:prstGeom prst="rect">
            <a:avLst/>
          </a:prstGeom>
        </p:spPr>
      </p:pic>
      <p:sp>
        <p:nvSpPr>
          <p:cNvPr id="5" name="TextBox 4"/>
          <p:cNvSpPr txBox="1"/>
          <p:nvPr/>
        </p:nvSpPr>
        <p:spPr>
          <a:xfrm>
            <a:off x="6949440" y="1280160"/>
            <a:ext cx="4526280" cy="5029200"/>
          </a:xfrm>
          <a:prstGeom prst="rect">
            <a:avLst/>
          </a:prstGeom>
          <a:noFill/>
        </p:spPr>
        <p:txBody>
          <a:bodyPr wrap="square">
            <a:spAutoFit/>
          </a:bodyPr>
          <a:lstStyle/>
          <a:p>
            <a:pPr>
              <a:defRPr sz="1150" b="1">
                <a:solidFill>
                  <a:srgbClr val="38BDF8"/>
                </a:solidFill>
                <a:latin typeface="Calibri"/>
              </a:defRPr>
            </a:pPr>
            <a:r>
              <a:t>THE METHOD</a:t>
            </a:r>
          </a:p>
          <a:p>
            <a:pPr>
              <a:defRPr sz="1050" b="0">
                <a:solidFill>
                  <a:srgbClr val="F8FAFC"/>
                </a:solidFill>
                <a:latin typeface="Calibri"/>
              </a:defRPr>
            </a:pPr>
            <a:r>
              <a:t>Every alarm continues to be displayed. They are ordered by a severity score derived from the model's own hazard curve, so that the alarms most likely to precede a real escalation are presented first.</a:t>
            </a:r>
          </a:p>
          <a:p>
            <a:br/>
            <a:pPr>
              <a:defRPr sz="1150" b="1">
                <a:solidFill>
                  <a:srgbClr val="38BDF8"/>
                </a:solidFill>
                <a:latin typeface="Calibri"/>
              </a:defRPr>
            </a:pPr>
            <a:r>
              <a:t>THE SEVERITY SCORE</a:t>
            </a:r>
          </a:p>
          <a:p>
            <a:pPr>
              <a:defRPr sz="1050" b="0">
                <a:solidFill>
                  <a:srgbClr val="F8FAFC"/>
                </a:solidFill>
                <a:latin typeface="Calibri"/>
              </a:defRPr>
            </a:pPr>
            <a:r>
              <a:t>Two quantities are combined, both taken from the hazard curve the model already produces:</a:t>
            </a:r>
          </a:p>
          <a:p>
            <a:br/>
            <a:pPr>
              <a:defRPr sz="1050" b="0">
                <a:solidFill>
                  <a:srgbClr val="F8FAFC"/>
                </a:solidFill>
                <a:latin typeface="Calibri"/>
              </a:defRPr>
            </a:pPr>
            <a:r>
              <a:t>Cumulative hazard,  Λ(t) = −log S(t).  Unlike a probability this is unbounded and additive, so differences between patients remain meaningful across the whole range rather than being compressed near zero.</a:t>
            </a:r>
          </a:p>
          <a:p>
            <a:br/>
            <a:pPr>
              <a:defRPr sz="1050" b="0">
                <a:solidFill>
                  <a:srgbClr val="F8FAFC"/>
                </a:solidFill>
                <a:latin typeface="Calibri"/>
              </a:defRPr>
            </a:pPr>
            <a:r>
              <a:t>Hazard-curve shape.  The seven interval hazards are estimated independently, so the profile across them carries information that the single cumulative probability discards. A concentrated profile indicates risk focused in a specific interval; a flat profile indicates a stable patient. Measured across profile deciles, precision ranges from 0.08 to 0.36.</a:t>
            </a:r>
          </a:p>
          <a:p>
            <a:br/>
            <a:pPr>
              <a:defRPr sz="1150" b="1">
                <a:solidFill>
                  <a:srgbClr val="FBBF24"/>
                </a:solidFill>
                <a:latin typeface="Calibri"/>
              </a:defRPr>
            </a:pPr>
            <a:r>
              <a:t>RESULT</a:t>
            </a:r>
          </a:p>
          <a:p>
            <a:pPr>
              <a:defRPr sz="1100" b="1">
                <a:solidFill>
                  <a:srgbClr val="34D399"/>
                </a:solidFill>
                <a:latin typeface="Calibri"/>
              </a:defRPr>
            </a:pPr>
            <a:r>
              <a:t>Of the leading 135 alarms, 57% precede a real escalation, against 19% across all 1,359. Precision on the leading quarter is 43%.</a:t>
            </a:r>
          </a:p>
          <a:p>
            <a:br/>
            <a:pPr>
              <a:defRPr sz="1050" b="0">
                <a:solidFill>
                  <a:srgbClr val="F8FAFC"/>
                </a:solidFill>
                <a:latin typeface="Calibri"/>
              </a:defRPr>
            </a:pPr>
            <a:r>
              <a:t>This is the only method available that raises precision at no cost to detection, because it changes the order in which alarms are presented rather than which alarms exist.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THE ESCALATION-OF-CARE MODEL</a:t>
            </a:r>
          </a:p>
          <a:p>
            <a:pPr>
              <a:defRPr sz="2000" b="1">
                <a:solidFill>
                  <a:srgbClr val="F8FAFC"/>
                </a:solidFill>
                <a:latin typeface="Calibri"/>
              </a:defRPr>
            </a:pPr>
            <a:r>
              <a:t>Three-Tier Alerting With a Statistical Confidence Guarantee</a:t>
            </a:r>
          </a:p>
        </p:txBody>
      </p:sp>
      <p:sp>
        <p:nvSpPr>
          <p:cNvPr id="3" name="Rounded Rectangle 2"/>
          <p:cNvSpPr/>
          <p:nvPr/>
        </p:nvSpPr>
        <p:spPr>
          <a:xfrm>
            <a:off x="548640" y="1097280"/>
            <a:ext cx="111099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5257800" cy="5029200"/>
          </a:xfrm>
          <a:prstGeom prst="rect">
            <a:avLst/>
          </a:prstGeom>
          <a:noFill/>
        </p:spPr>
        <p:txBody>
          <a:bodyPr wrap="square">
            <a:spAutoFit/>
          </a:bodyPr>
          <a:lstStyle/>
          <a:p>
            <a:pPr>
              <a:defRPr sz="1200" b="1">
                <a:solidFill>
                  <a:srgbClr val="38BDF8"/>
                </a:solidFill>
                <a:latin typeface="Calibri"/>
              </a:defRPr>
            </a:pPr>
            <a:r>
              <a:t>THE PRINCIPLE</a:t>
            </a:r>
          </a:p>
          <a:p>
            <a:pPr>
              <a:defRPr sz="1050" b="0">
                <a:solidFill>
                  <a:srgbClr val="F8FAFC"/>
                </a:solidFill>
                <a:latin typeface="Calibri"/>
              </a:defRPr>
            </a:pPr>
            <a:r>
              <a:t>A binary alert forces a decision at every patient-hour, including those where the model has no real basis for one. A three-tier output allows the system to decline: page when the evidence supports an alert, clear when it supports no alert, and refer to a review list otherwise.</a:t>
            </a:r>
          </a:p>
          <a:p>
            <a:br/>
            <a:pPr>
              <a:defRPr sz="1200" b="1">
                <a:solidFill>
                  <a:srgbClr val="38BDF8"/>
                </a:solidFill>
                <a:latin typeface="Calibri"/>
              </a:defRPr>
            </a:pPr>
            <a:r>
              <a:t>HOW THE TIERS ARE DERIVED</a:t>
            </a:r>
          </a:p>
          <a:p>
            <a:pPr>
              <a:defRPr sz="1050" b="0">
                <a:solidFill>
                  <a:srgbClr val="F8FAFC"/>
                </a:solidFill>
                <a:latin typeface="Calibri"/>
              </a:defRPr>
            </a:pPr>
            <a:r>
              <a:t>Conformal prediction, computed on a held-out half of the calibration split. For each true event a nonconformity score of 1 − p is recorded; for each non-event, p. The (1 − α) quantile of each set becomes a threshold, and for a new patient-hour each label is admitted into the output set if its score falls below the corresponding threshold.</a:t>
            </a:r>
          </a:p>
          <a:p>
            <a:br/>
            <a:pPr>
              <a:defRPr sz="1000" b="1">
                <a:solidFill>
                  <a:srgbClr val="FBBF24"/>
                </a:solidFill>
                <a:latin typeface="Calibri"/>
              </a:defRPr>
            </a:pPr>
            <a:r>
              <a:t>{ 1 }  only            PAGE        a clinician is notified</a:t>
            </a:r>
            <a:br/>
            <a:r>
              <a:t>{ 0 }  only            CLEAR       no alert is raised</a:t>
            </a:r>
            <a:br/>
            <a:r>
              <a:t>{ 0, 1 }  both        WATCH       review list, no notification</a:t>
            </a:r>
            <a:br/>
            <a:r>
              <a:t>{ }  neither          WATCH       the observation is unlike anything</a:t>
            </a:r>
            <a:br/>
            <a:r>
              <a:t>                                              seen in calibration</a:t>
            </a:r>
          </a:p>
          <a:p>
            <a:br/>
            <a:pPr>
              <a:defRPr sz="1200" b="1">
                <a:solidFill>
                  <a:srgbClr val="38BDF8"/>
                </a:solidFill>
                <a:latin typeface="Calibri"/>
              </a:defRPr>
            </a:pPr>
            <a:r>
              <a:t>WHY THIS RATHER THAN A CONFIDENCE CUT-OFF</a:t>
            </a:r>
          </a:p>
          <a:p>
            <a:pPr>
              <a:defRPr sz="1050" b="0">
                <a:solidFill>
                  <a:srgbClr val="F8FAFC"/>
                </a:solidFill>
                <a:latin typeface="Calibri"/>
              </a:defRPr>
            </a:pPr>
            <a:r>
              <a:t>The single parameter α sets the abstention rate directly and carries a distribution-free guarantee: the true label is contained in the emitted set at least (1 − α) of the time, whatever the underlying distribution. An arbitrary confidence cut-off offers no such guarantee — on this data a fixed cut-off would have abstained on 0.5% of alerts, an effectively inert rule.</a:t>
            </a:r>
          </a:p>
          <a:p>
            <a:br/>
            <a:pPr>
              <a:defRPr sz="1000" b="0">
                <a:solidFill>
                  <a:srgbClr val="94A3B8"/>
                </a:solidFill>
                <a:latin typeface="Calibri"/>
              </a:defRPr>
            </a:pPr>
            <a:r>
              <a:t>The calibration split is halved by patient, so the quantiles are computed on data the probability calibration never saw. That separation is what makes the guarantee valid.</a:t>
            </a:r>
          </a:p>
        </p:txBody>
      </p:sp>
      <p:pic>
        <p:nvPicPr>
          <p:cNvPr id="5" name="Picture 4" descr="conformal.png"/>
          <p:cNvPicPr>
            <a:picLocks noChangeAspect="1"/>
          </p:cNvPicPr>
          <p:nvPr/>
        </p:nvPicPr>
        <p:blipFill>
          <a:blip r:embed="rId2"/>
          <a:stretch>
            <a:fillRect/>
          </a:stretch>
        </p:blipFill>
        <p:spPr>
          <a:xfrm>
            <a:off x="6263640" y="1417320"/>
            <a:ext cx="5257800" cy="1622226"/>
          </a:xfrm>
          <a:prstGeom prst="rect">
            <a:avLst/>
          </a:prstGeom>
        </p:spPr>
      </p:pic>
      <p:sp>
        <p:nvSpPr>
          <p:cNvPr id="6" name="TextBox 5"/>
          <p:cNvSpPr txBox="1"/>
          <p:nvPr/>
        </p:nvSpPr>
        <p:spPr>
          <a:xfrm>
            <a:off x="6263640" y="4251960"/>
            <a:ext cx="5257800" cy="2057400"/>
          </a:xfrm>
          <a:prstGeom prst="rect">
            <a:avLst/>
          </a:prstGeom>
          <a:noFill/>
        </p:spPr>
        <p:txBody>
          <a:bodyPr wrap="square">
            <a:spAutoFit/>
          </a:bodyPr>
          <a:lstStyle/>
          <a:p>
            <a:pPr>
              <a:defRPr sz="1150" b="1">
                <a:solidFill>
                  <a:srgbClr val="38BDF8"/>
                </a:solidFill>
                <a:latin typeface="Calibri"/>
              </a:defRPr>
            </a:pPr>
            <a:r>
              <a:t>INTERPRETING THE SETTING</a:t>
            </a:r>
          </a:p>
          <a:p>
            <a:pPr>
              <a:defRPr sz="1050" b="0">
                <a:solidFill>
                  <a:srgbClr val="F8FAFC"/>
                </a:solidFill>
                <a:latin typeface="Calibri"/>
              </a:defRPr>
            </a:pPr>
            <a:r>
              <a:t>At α = 0.20, one quarter of patient-hours are paged with precision 0.160 and lift 3.45×, against 2.88× for the unfiltered baseline. 89% of deteriorating patients are still paged, and the remaining 20% of events appear on the review list rather than being discarded — nothing is suppressed.</a:t>
            </a:r>
          </a:p>
          <a:p>
            <a:br/>
            <a:pPr>
              <a:defRPr sz="1050" b="0">
                <a:solidFill>
                  <a:srgbClr val="FBBF24"/>
                </a:solidFill>
                <a:latin typeface="Calibri"/>
              </a:defRPr>
            </a:pPr>
            <a:r>
              <a:t>Lowering α raises the precision of the paged tier and increases the proportion of events routed to review. The choice of α is a clinical judgement about how the review list will be used in practice, and the guarantee makes that trade explicit rather than leaving it implicit in a threshold.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PART 2 — RECOMMENDATION</a:t>
            </a:r>
          </a:p>
          <a:p>
            <a:pPr>
              <a:defRPr sz="2000" b="1">
                <a:solidFill>
                  <a:srgbClr val="F8FAFC"/>
                </a:solidFill>
                <a:latin typeface="Calibri"/>
              </a:defRPr>
            </a:pPr>
            <a:r>
              <a:t>Recommended Configuration</a:t>
            </a:r>
          </a:p>
        </p:txBody>
      </p:sp>
      <p:sp>
        <p:nvSpPr>
          <p:cNvPr id="3" name="Rounded Rectangle 2"/>
          <p:cNvSpPr/>
          <p:nvPr/>
        </p:nvSpPr>
        <p:spPr>
          <a:xfrm>
            <a:off x="548640" y="1097280"/>
            <a:ext cx="603504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5577840" cy="457200"/>
          </a:xfrm>
          <a:prstGeom prst="rect">
            <a:avLst/>
          </a:prstGeom>
          <a:noFill/>
        </p:spPr>
        <p:txBody>
          <a:bodyPr wrap="square">
            <a:spAutoFit/>
          </a:bodyPr>
          <a:lstStyle/>
          <a:p>
            <a:pPr>
              <a:defRPr sz="1000" b="1">
                <a:solidFill>
                  <a:srgbClr val="38BDF8"/>
                </a:solidFill>
                <a:latin typeface="Calibri"/>
              </a:defRPr>
            </a:pPr>
            <a:r>
              <a:t>ESCALATION TARGET   •   24-HOUR HORIZON   •   HYSTERESIS LATCH   •   RANKED WORKLIST</a:t>
            </a:r>
          </a:p>
        </p:txBody>
      </p:sp>
      <p:graphicFrame>
        <p:nvGraphicFramePr>
          <p:cNvPr id="5" name="Table 4"/>
          <p:cNvGraphicFramePr>
            <a:graphicFrameLocks noGrp="1"/>
          </p:cNvGraphicFramePr>
          <p:nvPr/>
        </p:nvGraphicFramePr>
        <p:xfrm>
          <a:off x="777240" y="1737360"/>
          <a:ext cx="5577840" cy="2468880"/>
        </p:xfrm>
        <a:graphic>
          <a:graphicData uri="http://schemas.openxmlformats.org/drawingml/2006/table">
            <a:tbl>
              <a:tblPr firstRow="1" bandRow="1">
                <a:tableStyleId>{5C22544A-7EE6-4342-B048-85BDC9FD1C3A}</a:tableStyleId>
              </a:tblPr>
              <a:tblGrid>
                <a:gridCol w="2377440"/>
                <a:gridCol w="1691640"/>
                <a:gridCol w="1508760"/>
              </a:tblGrid>
              <a:tr h="308610">
                <a:tc>
                  <a:txBody>
                    <a:bodyPr/>
                    <a:lstStyle/>
                    <a:p>
                      <a:pPr>
                        <a:defRPr sz="1000" b="1">
                          <a:solidFill>
                            <a:srgbClr val="FFFFFF"/>
                          </a:solidFill>
                        </a:defRPr>
                      </a:pPr>
                      <a:r>
                        <a:t>Measure</a:t>
                      </a:r>
                    </a:p>
                  </a:txBody>
                  <a:tcPr>
                    <a:solidFill>
                      <a:srgbClr val="1E3A8A"/>
                    </a:solidFill>
                  </a:tcPr>
                </a:tc>
                <a:tc>
                  <a:txBody>
                    <a:bodyPr/>
                    <a:lstStyle/>
                    <a:p>
                      <a:pPr>
                        <a:defRPr sz="1000" b="1">
                          <a:solidFill>
                            <a:srgbClr val="FFFFFF"/>
                          </a:solidFill>
                        </a:defRPr>
                      </a:pPr>
                      <a:r>
                        <a:t>NEWS2 model, 12 h</a:t>
                      </a:r>
                    </a:p>
                  </a:txBody>
                  <a:tcPr>
                    <a:solidFill>
                      <a:srgbClr val="1E3A8A"/>
                    </a:solidFill>
                  </a:tcPr>
                </a:tc>
                <a:tc>
                  <a:txBody>
                    <a:bodyPr/>
                    <a:lstStyle/>
                    <a:p>
                      <a:pPr>
                        <a:defRPr sz="1000" b="1">
                          <a:solidFill>
                            <a:srgbClr val="FFFFFF"/>
                          </a:solidFill>
                        </a:defRPr>
                      </a:pPr>
                      <a:r>
                        <a:t>Recommended</a:t>
                      </a:r>
                    </a:p>
                  </a:txBody>
                  <a:tcPr>
                    <a:solidFill>
                      <a:srgbClr val="1E3A8A"/>
                    </a:solidFill>
                  </a:tcPr>
                </a:tc>
              </a:tr>
              <a:tr h="308610">
                <a:tc>
                  <a:txBody>
                    <a:bodyPr/>
                    <a:lstStyle/>
                    <a:p>
                      <a:pPr>
                        <a:defRPr sz="1000" b="0">
                          <a:solidFill>
                            <a:srgbClr val="F8FAFC"/>
                          </a:solidFill>
                        </a:defRPr>
                      </a:pPr>
                      <a:r>
                        <a:t>Episode lift</a:t>
                      </a:r>
                    </a:p>
                  </a:txBody>
                  <a:tcPr>
                    <a:solidFill>
                      <a:srgbClr val="1E293B"/>
                    </a:solidFill>
                  </a:tcPr>
                </a:tc>
                <a:tc>
                  <a:txBody>
                    <a:bodyPr/>
                    <a:lstStyle/>
                    <a:p>
                      <a:pPr>
                        <a:defRPr sz="1000" b="0">
                          <a:solidFill>
                            <a:srgbClr val="F8FAFC"/>
                          </a:solidFill>
                        </a:defRPr>
                      </a:pPr>
                      <a:r>
                        <a:t>2.75×</a:t>
                      </a:r>
                    </a:p>
                  </a:txBody>
                  <a:tcPr>
                    <a:solidFill>
                      <a:srgbClr val="1E293B"/>
                    </a:solidFill>
                  </a:tcPr>
                </a:tc>
                <a:tc>
                  <a:txBody>
                    <a:bodyPr/>
                    <a:lstStyle/>
                    <a:p>
                      <a:pPr>
                        <a:defRPr sz="1000" b="0">
                          <a:solidFill>
                            <a:srgbClr val="F8FAFC"/>
                          </a:solidFill>
                        </a:defRPr>
                      </a:pPr>
                      <a:r>
                        <a:t>2.73×</a:t>
                      </a:r>
                    </a:p>
                  </a:txBody>
                  <a:tcPr>
                    <a:solidFill>
                      <a:srgbClr val="1E293B"/>
                    </a:solidFill>
                  </a:tcPr>
                </a:tc>
              </a:tr>
              <a:tr h="308610">
                <a:tc>
                  <a:txBody>
                    <a:bodyPr/>
                    <a:lstStyle/>
                    <a:p>
                      <a:pPr>
                        <a:defRPr sz="1000" b="0">
                          <a:solidFill>
                            <a:srgbClr val="F8FAFC"/>
                          </a:solidFill>
                        </a:defRPr>
                      </a:pPr>
                      <a:r>
                        <a:t>Patient recall</a:t>
                      </a:r>
                    </a:p>
                  </a:txBody>
                  <a:tcPr>
                    <a:solidFill>
                      <a:srgbClr val="1E293B"/>
                    </a:solidFill>
                  </a:tcPr>
                </a:tc>
                <a:tc>
                  <a:txBody>
                    <a:bodyPr/>
                    <a:lstStyle/>
                    <a:p>
                      <a:pPr>
                        <a:defRPr sz="1000" b="0">
                          <a:solidFill>
                            <a:srgbClr val="F8FAFC"/>
                          </a:solidFill>
                        </a:defRPr>
                      </a:pPr>
                      <a:r>
                        <a:t>0.967</a:t>
                      </a:r>
                    </a:p>
                  </a:txBody>
                  <a:tcPr>
                    <a:solidFill>
                      <a:srgbClr val="1E293B"/>
                    </a:solidFill>
                  </a:tcPr>
                </a:tc>
                <a:tc>
                  <a:txBody>
                    <a:bodyPr/>
                    <a:lstStyle/>
                    <a:p>
                      <a:pPr>
                        <a:defRPr sz="1000" b="0">
                          <a:solidFill>
                            <a:srgbClr val="F8FAFC"/>
                          </a:solidFill>
                        </a:defRPr>
                      </a:pPr>
                      <a:r>
                        <a:t>0.970</a:t>
                      </a:r>
                    </a:p>
                  </a:txBody>
                  <a:tcPr>
                    <a:solidFill>
                      <a:srgbClr val="1E293B"/>
                    </a:solidFill>
                  </a:tcPr>
                </a:tc>
              </a:tr>
              <a:tr h="308610">
                <a:tc>
                  <a:txBody>
                    <a:bodyPr/>
                    <a:lstStyle/>
                    <a:p>
                      <a:pPr>
                        <a:defRPr sz="1000" b="1">
                          <a:solidFill>
                            <a:srgbClr val="FBBF24"/>
                          </a:solidFill>
                        </a:defRPr>
                      </a:pPr>
                      <a:r>
                        <a:t>Alert episodes</a:t>
                      </a:r>
                    </a:p>
                  </a:txBody>
                  <a:tcPr>
                    <a:solidFill>
                      <a:srgbClr val="142D46"/>
                    </a:solidFill>
                  </a:tcPr>
                </a:tc>
                <a:tc>
                  <a:txBody>
                    <a:bodyPr/>
                    <a:lstStyle/>
                    <a:p>
                      <a:pPr>
                        <a:defRPr sz="1000" b="1">
                          <a:solidFill>
                            <a:srgbClr val="FBBF24"/>
                          </a:solidFill>
                        </a:defRPr>
                      </a:pPr>
                      <a:r>
                        <a:t>2,069</a:t>
                      </a:r>
                    </a:p>
                  </a:txBody>
                  <a:tcPr>
                    <a:solidFill>
                      <a:srgbClr val="142D46"/>
                    </a:solidFill>
                  </a:tcPr>
                </a:tc>
                <a:tc>
                  <a:txBody>
                    <a:bodyPr/>
                    <a:lstStyle/>
                    <a:p>
                      <a:pPr>
                        <a:defRPr sz="1000" b="1">
                          <a:solidFill>
                            <a:srgbClr val="FBBF24"/>
                          </a:solidFill>
                        </a:defRPr>
                      </a:pPr>
                      <a:r>
                        <a:t>912</a:t>
                      </a:r>
                    </a:p>
                  </a:txBody>
                  <a:tcPr>
                    <a:solidFill>
                      <a:srgbClr val="142D46"/>
                    </a:solidFill>
                  </a:tcPr>
                </a:tc>
              </a:tr>
              <a:tr h="308610">
                <a:tc>
                  <a:txBody>
                    <a:bodyPr/>
                    <a:lstStyle/>
                    <a:p>
                      <a:pPr>
                        <a:defRPr sz="1000" b="1">
                          <a:solidFill>
                            <a:srgbClr val="FBBF24"/>
                          </a:solidFill>
                        </a:defRPr>
                      </a:pPr>
                      <a:r>
                        <a:t>Median warning time</a:t>
                      </a:r>
                    </a:p>
                  </a:txBody>
                  <a:tcPr>
                    <a:solidFill>
                      <a:srgbClr val="142D46"/>
                    </a:solidFill>
                  </a:tcPr>
                </a:tc>
                <a:tc>
                  <a:txBody>
                    <a:bodyPr/>
                    <a:lstStyle/>
                    <a:p>
                      <a:pPr>
                        <a:defRPr sz="1000" b="1">
                          <a:solidFill>
                            <a:srgbClr val="FBBF24"/>
                          </a:solidFill>
                        </a:defRPr>
                      </a:pPr>
                      <a:r>
                        <a:t>7.0 hours</a:t>
                      </a:r>
                    </a:p>
                  </a:txBody>
                  <a:tcPr>
                    <a:solidFill>
                      <a:srgbClr val="142D46"/>
                    </a:solidFill>
                  </a:tcPr>
                </a:tc>
                <a:tc>
                  <a:txBody>
                    <a:bodyPr/>
                    <a:lstStyle/>
                    <a:p>
                      <a:pPr>
                        <a:defRPr sz="1000" b="1">
                          <a:solidFill>
                            <a:srgbClr val="FBBF24"/>
                          </a:solidFill>
                        </a:defRPr>
                      </a:pPr>
                      <a:r>
                        <a:t>11.0 hours</a:t>
                      </a:r>
                    </a:p>
                  </a:txBody>
                  <a:tcPr>
                    <a:solidFill>
                      <a:srgbClr val="142D46"/>
                    </a:solidFill>
                  </a:tcPr>
                </a:tc>
              </a:tr>
              <a:tr h="308610">
                <a:tc>
                  <a:txBody>
                    <a:bodyPr/>
                    <a:lstStyle/>
                    <a:p>
                      <a:pPr>
                        <a:defRPr sz="1000" b="0">
                          <a:solidFill>
                            <a:srgbClr val="F8FAFC"/>
                          </a:solidFill>
                        </a:defRPr>
                      </a:pPr>
                      <a:r>
                        <a:t>Episode PPV, all alarms</a:t>
                      </a:r>
                    </a:p>
                  </a:txBody>
                  <a:tcPr>
                    <a:solidFill>
                      <a:srgbClr val="1E293B"/>
                    </a:solidFill>
                  </a:tcPr>
                </a:tc>
                <a:tc>
                  <a:txBody>
                    <a:bodyPr/>
                    <a:lstStyle/>
                    <a:p>
                      <a:pPr>
                        <a:defRPr sz="1000" b="0">
                          <a:solidFill>
                            <a:srgbClr val="F8FAFC"/>
                          </a:solidFill>
                        </a:defRPr>
                      </a:pPr>
                      <a:r>
                        <a:t>0.331</a:t>
                      </a:r>
                    </a:p>
                  </a:txBody>
                  <a:tcPr>
                    <a:solidFill>
                      <a:srgbClr val="1E293B"/>
                    </a:solidFill>
                  </a:tcPr>
                </a:tc>
                <a:tc>
                  <a:txBody>
                    <a:bodyPr/>
                    <a:lstStyle/>
                    <a:p>
                      <a:pPr>
                        <a:defRPr sz="1000" b="0">
                          <a:solidFill>
                            <a:srgbClr val="F8FAFC"/>
                          </a:solidFill>
                        </a:defRPr>
                      </a:pPr>
                      <a:r>
                        <a:t>0.259</a:t>
                      </a:r>
                    </a:p>
                  </a:txBody>
                  <a:tcPr>
                    <a:solidFill>
                      <a:srgbClr val="1E293B"/>
                    </a:solidFill>
                  </a:tcPr>
                </a:tc>
              </a:tr>
              <a:tr h="308610">
                <a:tc>
                  <a:txBody>
                    <a:bodyPr/>
                    <a:lstStyle/>
                    <a:p>
                      <a:pPr>
                        <a:defRPr sz="1000" b="1">
                          <a:solidFill>
                            <a:srgbClr val="FBBF24"/>
                          </a:solidFill>
                        </a:defRPr>
                      </a:pPr>
                      <a:r>
                        <a:t>Episode PPV, leading 10%</a:t>
                      </a:r>
                    </a:p>
                  </a:txBody>
                  <a:tcPr>
                    <a:solidFill>
                      <a:srgbClr val="142D46"/>
                    </a:solidFill>
                  </a:tcPr>
                </a:tc>
                <a:tc>
                  <a:txBody>
                    <a:bodyPr/>
                    <a:lstStyle/>
                    <a:p>
                      <a:pPr>
                        <a:defRPr sz="1000" b="1">
                          <a:solidFill>
                            <a:srgbClr val="FBBF24"/>
                          </a:solidFill>
                        </a:defRPr>
                      </a:pPr>
                      <a:r>
                        <a:t>—</a:t>
                      </a:r>
                    </a:p>
                  </a:txBody>
                  <a:tcPr>
                    <a:solidFill>
                      <a:srgbClr val="142D46"/>
                    </a:solidFill>
                  </a:tcPr>
                </a:tc>
                <a:tc>
                  <a:txBody>
                    <a:bodyPr/>
                    <a:lstStyle/>
                    <a:p>
                      <a:pPr>
                        <a:defRPr sz="1000" b="1">
                          <a:solidFill>
                            <a:srgbClr val="FBBF24"/>
                          </a:solidFill>
                        </a:defRPr>
                      </a:pPr>
                      <a:r>
                        <a:t>0.570</a:t>
                      </a:r>
                    </a:p>
                  </a:txBody>
                  <a:tcPr>
                    <a:solidFill>
                      <a:srgbClr val="142D46"/>
                    </a:solidFill>
                  </a:tcPr>
                </a:tc>
              </a:tr>
              <a:tr h="308610">
                <a:tc>
                  <a:txBody>
                    <a:bodyPr/>
                    <a:lstStyle/>
                    <a:p>
                      <a:pPr>
                        <a:defRPr sz="1000" b="0">
                          <a:solidFill>
                            <a:srgbClr val="F8FAFC"/>
                          </a:solidFill>
                        </a:defRPr>
                      </a:pPr>
                      <a:r>
                        <a:t>Actionable within the unit</a:t>
                      </a:r>
                    </a:p>
                  </a:txBody>
                  <a:tcPr>
                    <a:solidFill>
                      <a:srgbClr val="1E293B"/>
                    </a:solidFill>
                  </a:tcPr>
                </a:tc>
                <a:tc>
                  <a:txBody>
                    <a:bodyPr/>
                    <a:lstStyle/>
                    <a:p>
                      <a:pPr>
                        <a:defRPr sz="1000" b="0">
                          <a:solidFill>
                            <a:srgbClr val="F8FAFC"/>
                          </a:solidFill>
                        </a:defRPr>
                      </a:pPr>
                      <a:r>
                        <a:t>no</a:t>
                      </a:r>
                    </a:p>
                  </a:txBody>
                  <a:tcPr>
                    <a:solidFill>
                      <a:srgbClr val="1E293B"/>
                    </a:solidFill>
                  </a:tcPr>
                </a:tc>
                <a:tc>
                  <a:txBody>
                    <a:bodyPr/>
                    <a:lstStyle/>
                    <a:p>
                      <a:pPr>
                        <a:defRPr sz="1000" b="0">
                          <a:solidFill>
                            <a:srgbClr val="F8FAFC"/>
                          </a:solidFill>
                        </a:defRPr>
                      </a:pPr>
                      <a:r>
                        <a:t>yes</a:t>
                      </a:r>
                    </a:p>
                  </a:txBody>
                  <a:tcPr>
                    <a:solidFill>
                      <a:srgbClr val="1E293B"/>
                    </a:solidFill>
                  </a:tcPr>
                </a:tc>
              </a:tr>
            </a:tbl>
          </a:graphicData>
        </a:graphic>
      </p:graphicFrame>
      <p:sp>
        <p:nvSpPr>
          <p:cNvPr id="6" name="TextBox 5"/>
          <p:cNvSpPr txBox="1"/>
          <p:nvPr/>
        </p:nvSpPr>
        <p:spPr>
          <a:xfrm>
            <a:off x="777240" y="4343400"/>
            <a:ext cx="5577840" cy="1965960"/>
          </a:xfrm>
          <a:prstGeom prst="rect">
            <a:avLst/>
          </a:prstGeom>
          <a:noFill/>
        </p:spPr>
        <p:txBody>
          <a:bodyPr wrap="square">
            <a:spAutoFit/>
          </a:bodyPr>
          <a:lstStyle/>
          <a:p>
            <a:pPr>
              <a:defRPr sz="1150" b="1">
                <a:solidFill>
                  <a:srgbClr val="34D399"/>
                </a:solidFill>
                <a:latin typeface="Calibri"/>
              </a:defRPr>
            </a:pPr>
            <a:r>
              <a:t>At equivalent lift and equivalent detection, the recommended configuration produces 56% fewer distinct alarms and 57% more warning time, on an outcome that identifies a decision not yet taken.</a:t>
            </a:r>
          </a:p>
          <a:p>
            <a:br/>
            <a:pPr>
              <a:defRPr sz="1050" b="0">
                <a:solidFill>
                  <a:srgbClr val="94A3B8"/>
                </a:solidFill>
                <a:latin typeface="Calibri"/>
              </a:defRPr>
            </a:pPr>
            <a:r>
              <a:t>Precision across all alarms is lower because prevalence is 2.4 times lower. Lift is the quantity that is comparable across targets, and it is equivalent.</a:t>
            </a:r>
          </a:p>
          <a:p>
            <a:br/>
            <a:pPr>
              <a:defRPr sz="1050" b="1">
                <a:solidFill>
                  <a:srgbClr val="FBBF24"/>
                </a:solidFill>
                <a:latin typeface="Calibri"/>
              </a:defRPr>
            </a:pPr>
            <a:r>
              <a:t>Precision on the leading tenth of the worklist — the alarms a clinician addresses first — is 0.570.</a:t>
            </a:r>
          </a:p>
        </p:txBody>
      </p:sp>
      <p:sp>
        <p:nvSpPr>
          <p:cNvPr id="7" name="Rounded Rectangle 6"/>
          <p:cNvSpPr/>
          <p:nvPr/>
        </p:nvSpPr>
        <p:spPr>
          <a:xfrm>
            <a:off x="6858000" y="1097280"/>
            <a:ext cx="480060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86600" y="1234440"/>
            <a:ext cx="4343400" cy="457200"/>
          </a:xfrm>
          <a:prstGeom prst="rect">
            <a:avLst/>
          </a:prstGeom>
          <a:noFill/>
        </p:spPr>
        <p:txBody>
          <a:bodyPr wrap="square">
            <a:spAutoFit/>
          </a:bodyPr>
          <a:lstStyle/>
          <a:p>
            <a:pPr>
              <a:defRPr sz="1050" b="1">
                <a:solidFill>
                  <a:srgbClr val="38BDF8"/>
                </a:solidFill>
                <a:latin typeface="Calibri"/>
              </a:defRPr>
            </a:pPr>
            <a:r>
              <a:t>ALTERNATIVE OPERATING POINTS</a:t>
            </a:r>
          </a:p>
        </p:txBody>
      </p:sp>
      <p:pic>
        <p:nvPicPr>
          <p:cNvPr id="9" name="Picture 8" descr="esc_operating.png"/>
          <p:cNvPicPr>
            <a:picLocks noChangeAspect="1"/>
          </p:cNvPicPr>
          <p:nvPr/>
        </p:nvPicPr>
        <p:blipFill>
          <a:blip r:embed="rId2"/>
          <a:stretch>
            <a:fillRect/>
          </a:stretch>
        </p:blipFill>
        <p:spPr>
          <a:xfrm>
            <a:off x="7086600" y="1719072"/>
            <a:ext cx="4343400" cy="2076661"/>
          </a:xfrm>
          <a:prstGeom prst="rect">
            <a:avLst/>
          </a:prstGeom>
        </p:spPr>
      </p:pic>
      <p:sp>
        <p:nvSpPr>
          <p:cNvPr id="10" name="TextBox 9"/>
          <p:cNvSpPr txBox="1"/>
          <p:nvPr/>
        </p:nvSpPr>
        <p:spPr>
          <a:xfrm>
            <a:off x="7086600" y="4114800"/>
            <a:ext cx="4343400" cy="2194560"/>
          </a:xfrm>
          <a:prstGeom prst="rect">
            <a:avLst/>
          </a:prstGeom>
          <a:noFill/>
        </p:spPr>
        <p:txBody>
          <a:bodyPr wrap="square">
            <a:spAutoFit/>
          </a:bodyPr>
          <a:lstStyle/>
          <a:p>
            <a:pPr>
              <a:defRPr sz="1050" b="0">
                <a:solidFill>
                  <a:srgbClr val="F8FAFC"/>
                </a:solidFill>
                <a:latin typeface="Calibri"/>
              </a:defRPr>
            </a:pPr>
            <a:r>
              <a:t>If a higher precision figure is required, reducing the sensitivity target to 60% yields episode PPV 0.321 and lift 3.39× — 23% above the NEWS2 model — with 8.7 hours of warning and patient recall 0.864.</a:t>
            </a:r>
          </a:p>
          <a:p>
            <a:br/>
            <a:pPr>
              <a:defRPr sz="1050" b="0">
                <a:solidFill>
                  <a:srgbClr val="FBBF24"/>
                </a:solidFill>
                <a:latin typeface="Calibri"/>
              </a:defRPr>
            </a:pPr>
            <a:r>
              <a:t>The operating point and the alerting rule are independent levers and they compose: the latch improves precision at every sensitivity setting without affecting detection.</a:t>
            </a:r>
          </a:p>
          <a:p>
            <a:br/>
            <a:pPr>
              <a:defRPr sz="1050" b="0">
                <a:solidFill>
                  <a:srgbClr val="94A3B8"/>
                </a:solidFill>
                <a:latin typeface="Calibri"/>
              </a:defRPr>
            </a:pPr>
            <a:r>
              <a:t>Selecting between these points is a clinical decision about the acceptable balance between missed events and alarm volume, and is presented as a curve rather than a single recommendation.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37744"/>
            <a:ext cx="11155680" cy="868680"/>
          </a:xfrm>
          <a:prstGeom prst="rect">
            <a:avLst/>
          </a:prstGeom>
          <a:noFill/>
        </p:spPr>
        <p:txBody>
          <a:bodyPr wrap="square" lIns="0" tIns="0" rIns="0" bIns="0">
            <a:spAutoFit/>
          </a:bodyPr>
          <a:lstStyle/>
          <a:p>
            <a:pPr>
              <a:defRPr sz="950" b="1">
                <a:solidFill>
                  <a:srgbClr val="38BDF8"/>
                </a:solidFill>
                <a:latin typeface="Calibri"/>
              </a:defRPr>
            </a:pPr>
            <a:r>
              <a:t>CLINICAL DETERIORATION EARLY WARNING SYSTEM</a:t>
            </a:r>
          </a:p>
          <a:p>
            <a:pPr>
              <a:defRPr sz="2000" b="1">
                <a:solidFill>
                  <a:srgbClr val="F8FAFC"/>
                </a:solidFill>
                <a:latin typeface="Calibri"/>
              </a:defRPr>
            </a:pPr>
            <a:r>
              <a:t>Limitations and Validation Status</a:t>
            </a:r>
          </a:p>
        </p:txBody>
      </p:sp>
      <p:sp>
        <p:nvSpPr>
          <p:cNvPr id="3" name="Rounded Rectangle 2"/>
          <p:cNvSpPr/>
          <p:nvPr/>
        </p:nvSpPr>
        <p:spPr>
          <a:xfrm>
            <a:off x="548640" y="1097280"/>
            <a:ext cx="562356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1280160"/>
            <a:ext cx="5120640" cy="5029200"/>
          </a:xfrm>
          <a:prstGeom prst="rect">
            <a:avLst/>
          </a:prstGeom>
          <a:noFill/>
        </p:spPr>
        <p:txBody>
          <a:bodyPr wrap="square">
            <a:spAutoFit/>
          </a:bodyPr>
          <a:lstStyle/>
          <a:p>
            <a:pPr>
              <a:defRPr sz="1200" b="1">
                <a:solidFill>
                  <a:srgbClr val="F87171"/>
                </a:solidFill>
                <a:latin typeface="Calibri"/>
              </a:defRPr>
            </a:pPr>
            <a:r>
              <a:t>VALIDATION STATUS</a:t>
            </a:r>
          </a:p>
          <a:p>
            <a:br/>
            <a:pPr>
              <a:defRPr sz="1100" b="0">
                <a:solidFill>
                  <a:srgbClr val="F8FAFC"/>
                </a:solidFill>
                <a:latin typeface="Calibri"/>
              </a:defRPr>
            </a:pPr>
            <a:r>
              <a:t>Single institution, single unit type, single era from 2008 to 2019. No external validation on an independent cohort. Under TRIPOD and PROBAST reporting standards this constitutes model development rather than validated performance.</a:t>
            </a:r>
          </a:p>
          <a:p>
            <a:br/>
            <a:pPr>
              <a:defRPr sz="1100" b="0">
                <a:solidFill>
                  <a:srgbClr val="F8FAFC"/>
                </a:solidFill>
                <a:latin typeface="Calibri"/>
              </a:defRPr>
            </a:pPr>
            <a:r>
              <a:t>No prospective or silent-mode evaluation has been performed. Every reviewed system that reported both retrospective and live performance showed degradation, in one case from 0.95 to 0.63 AUROC.</a:t>
            </a:r>
          </a:p>
          <a:p>
            <a:br/>
            <a:pPr>
              <a:defRPr sz="1100" b="0">
                <a:solidFill>
                  <a:srgbClr val="F8FAFC"/>
                </a:solidFill>
                <a:latin typeface="Calibri"/>
              </a:defRPr>
            </a:pPr>
            <a:r>
              <a:t>No human-factors evaluation, no defined clinical override protocol, and no regulatory assessment.</a:t>
            </a:r>
          </a:p>
          <a:p>
            <a:br/>
            <a:pPr>
              <a:defRPr sz="1200" b="1">
                <a:solidFill>
                  <a:srgbClr val="F87171"/>
                </a:solidFill>
                <a:latin typeface="Calibri"/>
              </a:defRPr>
            </a:pPr>
            <a:r>
              <a:t>STRUCTURAL COVERAGE LIMIT</a:t>
            </a:r>
          </a:p>
          <a:p>
            <a:pPr>
              <a:defRPr sz="1100" b="0">
                <a:solidFill>
                  <a:srgbClr val="F8FAFC"/>
                </a:solidFill>
                <a:latin typeface="Calibri"/>
              </a:defRPr>
            </a:pPr>
            <a:r>
              <a:t>1,516 patients deteriorate a median of sixteen minutes after admission. Two vital-sign readings cannot exist before their event at any look-back setting, so they lie outside the reach of an hourly model entirely. The limiting factor is observation frequency rather than model design, and addressing it requires continuous monitoring data that the source dataset does not provide.</a:t>
            </a:r>
          </a:p>
        </p:txBody>
      </p:sp>
      <p:sp>
        <p:nvSpPr>
          <p:cNvPr id="5" name="Rounded Rectangle 4"/>
          <p:cNvSpPr/>
          <p:nvPr/>
        </p:nvSpPr>
        <p:spPr>
          <a:xfrm>
            <a:off x="6446520" y="1097280"/>
            <a:ext cx="5212080" cy="52578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280160"/>
            <a:ext cx="4754880" cy="5029200"/>
          </a:xfrm>
          <a:prstGeom prst="rect">
            <a:avLst/>
          </a:prstGeom>
          <a:noFill/>
        </p:spPr>
        <p:txBody>
          <a:bodyPr wrap="square">
            <a:spAutoFit/>
          </a:bodyPr>
          <a:lstStyle/>
          <a:p>
            <a:pPr>
              <a:defRPr sz="1200" b="1">
                <a:solidFill>
                  <a:srgbClr val="F87171"/>
                </a:solidFill>
                <a:latin typeface="Calibri"/>
              </a:defRPr>
            </a:pPr>
            <a:r>
              <a:t>STATISTICAL LIMITS</a:t>
            </a:r>
          </a:p>
          <a:p>
            <a:br/>
            <a:pPr>
              <a:defRPr sz="1100" b="0">
                <a:solidFill>
                  <a:srgbClr val="F8FAFC"/>
                </a:solidFill>
                <a:latin typeface="Calibri"/>
              </a:defRPr>
            </a:pPr>
            <a:r>
              <a:t>The escalation model shows a train-to-test C-index gap of 0.056 on 1,475 event-positive admissions. Reducing the feature count from 371 to 80 closed only 18% of that gap, indicating the binding constraint is sample size rather than model complexity; it is unlikely to fall below approximately 0.05 on a cohort of this size.</a:t>
            </a:r>
          </a:p>
          <a:p>
            <a:br/>
            <a:pPr>
              <a:defRPr sz="1100" b="0">
                <a:solidFill>
                  <a:srgbClr val="F8FAFC"/>
                </a:solidFill>
                <a:latin typeface="Calibri"/>
              </a:defRPr>
            </a:pPr>
            <a:r>
              <a:t>Confidence intervals on the C-index are approximately 0.040 wide, so differences smaller than that are described as indistinguishable rather than as improvements.</a:t>
            </a:r>
          </a:p>
          <a:p>
            <a:br/>
            <a:pPr>
              <a:defRPr sz="1200" b="1">
                <a:solidFill>
                  <a:srgbClr val="F87171"/>
                </a:solidFill>
                <a:latin typeface="Calibri"/>
              </a:defRPr>
            </a:pPr>
            <a:r>
              <a:t>DEPENDENCE ON CLINICAL PRACTICE</a:t>
            </a:r>
          </a:p>
          <a:p>
            <a:pPr>
              <a:defRPr sz="1100" b="0">
                <a:solidFill>
                  <a:srgbClr val="F8FAFC"/>
                </a:solidFill>
                <a:latin typeface="Calibri"/>
              </a:defRPr>
            </a:pPr>
            <a:r>
              <a:t>The timing of an escalation partly reflects clinician judgement, so the target is not purely physiological. Death and renal replacement therapy are less discretionary than the timing of vasopressor initiation, and NEWS2 performance is reported alongside as a secondary outcome to keep the comparison balanced.</a:t>
            </a:r>
          </a:p>
          <a:p>
            <a:br/>
            <a:pPr>
              <a:defRPr sz="1100" b="0">
                <a:solidFill>
                  <a:srgbClr val="F8FAFC"/>
                </a:solidFill>
                <a:latin typeface="Calibri"/>
              </a:defRPr>
            </a:pPr>
            <a:r>
              <a:t>The safety of the review tier depends on the review list being examined in practice. That is an operational assumption which has not been evaluated, and it should be tested before the three-tier output is used clinically.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